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08" r:id="rId3"/>
    <p:sldId id="313" r:id="rId4"/>
    <p:sldId id="316" r:id="rId5"/>
    <p:sldId id="309" r:id="rId6"/>
    <p:sldId id="310" r:id="rId7"/>
    <p:sldId id="312" r:id="rId8"/>
    <p:sldId id="311" r:id="rId9"/>
    <p:sldId id="317" r:id="rId10"/>
    <p:sldId id="259" r:id="rId11"/>
    <p:sldId id="260" r:id="rId12"/>
    <p:sldId id="277" r:id="rId13"/>
    <p:sldId id="276" r:id="rId14"/>
    <p:sldId id="258" r:id="rId15"/>
    <p:sldId id="263" r:id="rId16"/>
    <p:sldId id="318" r:id="rId17"/>
    <p:sldId id="264" r:id="rId18"/>
    <p:sldId id="265" r:id="rId19"/>
    <p:sldId id="266" r:id="rId20"/>
    <p:sldId id="267" r:id="rId21"/>
    <p:sldId id="268" r:id="rId22"/>
    <p:sldId id="269" r:id="rId23"/>
    <p:sldId id="275" r:id="rId24"/>
  </p:sldIdLst>
  <p:sldSz cx="14630400" cy="8229600"/>
  <p:notesSz cx="8229600" cy="146304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Gelasio" pitchFamily="2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Lato Bold" panose="020F0802020204030203" pitchFamily="34" charset="0"/>
      <p:bold r:id="rId38"/>
    </p:embeddedFont>
    <p:embeddedFont>
      <p:font typeface="Lato Medium" panose="020F0502020204030203" pitchFamily="34" charset="0"/>
      <p:regular r:id="rId39"/>
      <p: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1032" y="5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02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9BBD-7E25-70DC-70D3-4112DCFA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C26D-EA34-F853-DD93-6A15649C9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089A3-3FFF-92E7-B942-08622F6A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A36D-D1F8-47C4-91E6-E073B531C9F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DB45-2F24-489C-A3C4-75D25A6B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ADAA-BCD5-1254-46AA-FFFE15EC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1812-0948-4250-9F62-AABD6514D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92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75510" y="1312188"/>
            <a:ext cx="7140536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>
              <a:solidFill>
                <a:srgbClr val="312F2B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Workshop-Day2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393005" y="3224517"/>
            <a:ext cx="7623041" cy="133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endParaRPr lang="en-IN" sz="2800" b="1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IN" sz="28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Jenkins CI/CD &amp; Kubernetes Orchestration</a:t>
            </a:r>
          </a:p>
          <a:p>
            <a:pPr algn="ctr">
              <a:lnSpc>
                <a:spcPts val="2850"/>
              </a:lnSpc>
            </a:pPr>
            <a:r>
              <a:rPr lang="en-IN" sz="2800" i="1" dirty="0">
                <a:solidFill>
                  <a:srgbClr val="455A64"/>
                </a:solidFill>
                <a:latin typeface="SegoeUI"/>
                <a:ea typeface="SegoeUI"/>
              </a:rPr>
              <a:t>14 NOV 2025 | </a:t>
            </a:r>
            <a:r>
              <a:rPr lang="en-IN" sz="2800" i="1" dirty="0" err="1">
                <a:solidFill>
                  <a:srgbClr val="455A64"/>
                </a:solidFill>
                <a:latin typeface="SegoeUI"/>
                <a:ea typeface="SegoeUI"/>
              </a:rPr>
              <a:t>Icfai</a:t>
            </a:r>
            <a:r>
              <a:rPr lang="en-IN" sz="2800" i="1" dirty="0">
                <a:solidFill>
                  <a:srgbClr val="455A64"/>
                </a:solidFill>
                <a:latin typeface="SegoeUI"/>
                <a:ea typeface="SegoeUI"/>
              </a:rPr>
              <a:t> Tech</a:t>
            </a:r>
            <a:endParaRPr lang="en-US" sz="2800" b="1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6201370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2481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7735" y="6334006"/>
            <a:ext cx="95012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Lato Medium" pitchFamily="34" charset="0"/>
                <a:ea typeface="Lato Medium" pitchFamily="34" charset="-122"/>
                <a:cs typeface="Lato Medium" pitchFamily="34" charset="-120"/>
              </a:rPr>
              <a:t>SJ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6184463"/>
            <a:ext cx="270343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by Santhosh Kiran Jaligama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Freeform 504"/>
          <p:cNvSpPr/>
          <p:nvPr/>
        </p:nvSpPr>
        <p:spPr>
          <a:xfrm>
            <a:off x="342576" y="1200096"/>
            <a:ext cx="13064976" cy="2492208"/>
          </a:xfrm>
          <a:custGeom>
            <a:avLst/>
            <a:gdLst/>
            <a:ahLst/>
            <a:cxnLst/>
            <a:rect l="0" t="0" r="r" b="b"/>
            <a:pathLst>
              <a:path w="30243" h="5769">
                <a:moveTo>
                  <a:pt x="0" y="0"/>
                </a:moveTo>
                <a:lnTo>
                  <a:pt x="30243" y="0"/>
                </a:lnTo>
                <a:lnTo>
                  <a:pt x="30243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Freeform 505"/>
          <p:cNvSpPr/>
          <p:nvPr/>
        </p:nvSpPr>
        <p:spPr>
          <a:xfrm>
            <a:off x="610416" y="264816"/>
            <a:ext cx="9072" cy="103248"/>
          </a:xfrm>
          <a:custGeom>
            <a:avLst/>
            <a:gdLst/>
            <a:ahLst/>
            <a:cxnLst/>
            <a:rect l="0" t="0" r="r" b="b"/>
            <a:pathLst>
              <a:path w="21" h="239">
                <a:moveTo>
                  <a:pt x="21" y="5"/>
                </a:moveTo>
                <a:cubicBezTo>
                  <a:pt x="21" y="2"/>
                  <a:pt x="19" y="0"/>
                  <a:pt x="16" y="0"/>
                </a:cubicBezTo>
                <a:lnTo>
                  <a:pt x="7" y="0"/>
                </a:lnTo>
                <a:cubicBezTo>
                  <a:pt x="4" y="0"/>
                  <a:pt x="0" y="2"/>
                  <a:pt x="0" y="5"/>
                </a:cubicBezTo>
                <a:lnTo>
                  <a:pt x="0" y="234"/>
                </a:lnTo>
                <a:cubicBezTo>
                  <a:pt x="0" y="237"/>
                  <a:pt x="4" y="239"/>
                  <a:pt x="7" y="239"/>
                </a:cubicBezTo>
                <a:lnTo>
                  <a:pt x="16" y="239"/>
                </a:lnTo>
                <a:cubicBezTo>
                  <a:pt x="19" y="239"/>
                  <a:pt x="21" y="237"/>
                  <a:pt x="21" y="234"/>
                </a:cubicBezTo>
                <a:lnTo>
                  <a:pt x="21" y="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0" name="Freeform 509"/>
          <p:cNvSpPr/>
          <p:nvPr/>
        </p:nvSpPr>
        <p:spPr>
          <a:xfrm>
            <a:off x="456192" y="256176"/>
            <a:ext cx="34992" cy="34992"/>
          </a:xfrm>
          <a:custGeom>
            <a:avLst/>
            <a:gdLst/>
            <a:ahLst/>
            <a:cxnLst/>
            <a:rect l="0" t="0" r="r" b="b"/>
            <a:pathLst>
              <a:path w="81" h="81">
                <a:moveTo>
                  <a:pt x="61" y="0"/>
                </a:moveTo>
                <a:lnTo>
                  <a:pt x="21" y="0"/>
                </a:lnTo>
                <a:cubicBezTo>
                  <a:pt x="9" y="0"/>
                  <a:pt x="0" y="9"/>
                  <a:pt x="0" y="20"/>
                </a:cubicBezTo>
                <a:lnTo>
                  <a:pt x="0" y="60"/>
                </a:lnTo>
                <a:cubicBezTo>
                  <a:pt x="0" y="71"/>
                  <a:pt x="9" y="81"/>
                  <a:pt x="21" y="81"/>
                </a:cubicBezTo>
                <a:lnTo>
                  <a:pt x="81" y="81"/>
                </a:lnTo>
                <a:lnTo>
                  <a:pt x="81" y="0"/>
                </a:lnTo>
                <a:lnTo>
                  <a:pt x="61" y="0"/>
                </a:lnTo>
                <a:close/>
              </a:path>
            </a:pathLst>
          </a:custGeom>
          <a:solidFill>
            <a:srgbClr val="4B54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343008" y="750384"/>
            <a:ext cx="387926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Example </a:t>
            </a:r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Dockerfile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for Node.js Service: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461376" y="1361664"/>
            <a:ext cx="240610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FROM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node:</a:t>
            </a:r>
            <a:r>
              <a:rPr lang="en-IN" sz="1900" dirty="0">
                <a:solidFill>
                  <a:srgbClr val="3387CC"/>
                </a:solidFill>
                <a:latin typeface="RobotoMono"/>
                <a:ea typeface="RobotoMono"/>
              </a:rPr>
              <a:t>18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-alpine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461376" y="1682640"/>
            <a:ext cx="172002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WORKDIR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/app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461376" y="2003616"/>
            <a:ext cx="232794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COPY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package.json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.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461376" y="2324592"/>
            <a:ext cx="176490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RUN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npm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install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461376" y="2645568"/>
            <a:ext cx="95417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COPY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. .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TextBox 519"/>
          <p:cNvSpPr txBox="1"/>
          <p:nvPr/>
        </p:nvSpPr>
        <p:spPr>
          <a:xfrm>
            <a:off x="461376" y="2966544"/>
            <a:ext cx="161101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EXPOSE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900" dirty="0">
                <a:solidFill>
                  <a:srgbClr val="3387CC"/>
                </a:solidFill>
                <a:latin typeface="RobotoMono"/>
                <a:ea typeface="RobotoMono"/>
              </a:rPr>
              <a:t>3000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461376" y="3287520"/>
            <a:ext cx="2682786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E28964"/>
                </a:solidFill>
                <a:latin typeface="RobotoMono"/>
                <a:ea typeface="RobotoMono"/>
              </a:rPr>
              <a:t>CMD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[</a:t>
            </a:r>
            <a:r>
              <a:rPr lang="en-IN" sz="1900" dirty="0">
                <a:solidFill>
                  <a:srgbClr val="65B042"/>
                </a:solidFill>
                <a:latin typeface="RobotoMono"/>
                <a:ea typeface="RobotoMono"/>
              </a:rPr>
              <a:t>"node"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, </a:t>
            </a:r>
            <a:r>
              <a:rPr lang="en-IN" sz="1900" dirty="0">
                <a:solidFill>
                  <a:srgbClr val="65B042"/>
                </a:solidFill>
                <a:latin typeface="RobotoMono"/>
                <a:ea typeface="RobotoMono"/>
              </a:rPr>
              <a:t>"server.js"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]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Freeform 521"/>
          <p:cNvSpPr/>
          <p:nvPr/>
        </p:nvSpPr>
        <p:spPr>
          <a:xfrm>
            <a:off x="582768" y="4491936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" name="Freeform 522"/>
          <p:cNvSpPr/>
          <p:nvPr/>
        </p:nvSpPr>
        <p:spPr>
          <a:xfrm>
            <a:off x="834192" y="4366224"/>
            <a:ext cx="2400624" cy="308880"/>
          </a:xfrm>
          <a:custGeom>
            <a:avLst/>
            <a:gdLst/>
            <a:ahLst/>
            <a:cxnLst/>
            <a:rect l="0" t="0" r="r" b="b"/>
            <a:pathLst>
              <a:path w="5557" h="715">
                <a:moveTo>
                  <a:pt x="0" y="636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478" y="0"/>
                </a:lnTo>
                <a:cubicBezTo>
                  <a:pt x="5488" y="0"/>
                  <a:pt x="5498" y="2"/>
                  <a:pt x="5508" y="6"/>
                </a:cubicBezTo>
                <a:cubicBezTo>
                  <a:pt x="5518" y="10"/>
                  <a:pt x="5527" y="15"/>
                  <a:pt x="5534" y="23"/>
                </a:cubicBezTo>
                <a:cubicBezTo>
                  <a:pt x="5541" y="30"/>
                  <a:pt x="5547" y="39"/>
                  <a:pt x="5551" y="49"/>
                </a:cubicBezTo>
                <a:cubicBezTo>
                  <a:pt x="5555" y="58"/>
                  <a:pt x="5557" y="68"/>
                  <a:pt x="5557" y="79"/>
                </a:cubicBezTo>
                <a:lnTo>
                  <a:pt x="5557" y="636"/>
                </a:lnTo>
                <a:cubicBezTo>
                  <a:pt x="5557" y="646"/>
                  <a:pt x="5555" y="656"/>
                  <a:pt x="5551" y="666"/>
                </a:cubicBezTo>
                <a:cubicBezTo>
                  <a:pt x="5547" y="676"/>
                  <a:pt x="5541" y="684"/>
                  <a:pt x="5534" y="692"/>
                </a:cubicBezTo>
                <a:cubicBezTo>
                  <a:pt x="5527" y="699"/>
                  <a:pt x="5518" y="705"/>
                  <a:pt x="5508" y="709"/>
                </a:cubicBezTo>
                <a:cubicBezTo>
                  <a:pt x="5498" y="713"/>
                  <a:pt x="5488" y="715"/>
                  <a:pt x="5478" y="715"/>
                </a:cubicBezTo>
                <a:lnTo>
                  <a:pt x="79" y="715"/>
                </a:lnTo>
                <a:cubicBezTo>
                  <a:pt x="69" y="715"/>
                  <a:pt x="59" y="713"/>
                  <a:pt x="49" y="709"/>
                </a:cubicBezTo>
                <a:cubicBezTo>
                  <a:pt x="39" y="705"/>
                  <a:pt x="31" y="699"/>
                  <a:pt x="23" y="692"/>
                </a:cubicBezTo>
                <a:cubicBezTo>
                  <a:pt x="16" y="684"/>
                  <a:pt x="10" y="676"/>
                  <a:pt x="6" y="666"/>
                </a:cubicBezTo>
                <a:cubicBezTo>
                  <a:pt x="2" y="656"/>
                  <a:pt x="0" y="646"/>
                  <a:pt x="0" y="636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343008" y="3893616"/>
            <a:ext cx="117339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Breakdown: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TextBox 524"/>
          <p:cNvSpPr txBox="1"/>
          <p:nvPr/>
        </p:nvSpPr>
        <p:spPr>
          <a:xfrm>
            <a:off x="898128" y="4429296"/>
            <a:ext cx="201657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FROM node:18-alpine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26" name="Freeform 525"/>
          <p:cNvSpPr/>
          <p:nvPr/>
        </p:nvSpPr>
        <p:spPr>
          <a:xfrm>
            <a:off x="582768" y="4834512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Freeform 526"/>
          <p:cNvSpPr/>
          <p:nvPr/>
        </p:nvSpPr>
        <p:spPr>
          <a:xfrm>
            <a:off x="834192" y="4708800"/>
            <a:ext cx="1566432" cy="320544"/>
          </a:xfrm>
          <a:custGeom>
            <a:avLst/>
            <a:gdLst/>
            <a:ahLst/>
            <a:cxnLst/>
            <a:rect l="0" t="0" r="r" b="b"/>
            <a:pathLst>
              <a:path w="3626" h="742">
                <a:moveTo>
                  <a:pt x="0" y="66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546" y="0"/>
                </a:lnTo>
                <a:cubicBezTo>
                  <a:pt x="3557" y="0"/>
                  <a:pt x="3567" y="2"/>
                  <a:pt x="3577" y="6"/>
                </a:cubicBezTo>
                <a:cubicBezTo>
                  <a:pt x="3586" y="10"/>
                  <a:pt x="3595" y="16"/>
                  <a:pt x="3603" y="24"/>
                </a:cubicBezTo>
                <a:cubicBezTo>
                  <a:pt x="3610" y="31"/>
                  <a:pt x="3616" y="40"/>
                  <a:pt x="3620" y="49"/>
                </a:cubicBezTo>
                <a:cubicBezTo>
                  <a:pt x="3624" y="59"/>
                  <a:pt x="3626" y="69"/>
                  <a:pt x="3626" y="80"/>
                </a:cubicBezTo>
                <a:lnTo>
                  <a:pt x="3626" y="663"/>
                </a:lnTo>
                <a:cubicBezTo>
                  <a:pt x="3626" y="673"/>
                  <a:pt x="3624" y="683"/>
                  <a:pt x="3620" y="693"/>
                </a:cubicBezTo>
                <a:cubicBezTo>
                  <a:pt x="3616" y="703"/>
                  <a:pt x="3610" y="711"/>
                  <a:pt x="3603" y="719"/>
                </a:cubicBezTo>
                <a:cubicBezTo>
                  <a:pt x="3595" y="726"/>
                  <a:pt x="3586" y="732"/>
                  <a:pt x="3577" y="736"/>
                </a:cubicBezTo>
                <a:cubicBezTo>
                  <a:pt x="3567" y="740"/>
                  <a:pt x="3557" y="742"/>
                  <a:pt x="3546" y="742"/>
                </a:cubicBezTo>
                <a:lnTo>
                  <a:pt x="79" y="742"/>
                </a:lnTo>
                <a:cubicBezTo>
                  <a:pt x="69" y="742"/>
                  <a:pt x="59" y="740"/>
                  <a:pt x="49" y="736"/>
                </a:cubicBezTo>
                <a:cubicBezTo>
                  <a:pt x="39" y="732"/>
                  <a:pt x="31" y="726"/>
                  <a:pt x="23" y="719"/>
                </a:cubicBezTo>
                <a:cubicBezTo>
                  <a:pt x="16" y="711"/>
                  <a:pt x="10" y="703"/>
                  <a:pt x="6" y="693"/>
                </a:cubicBezTo>
                <a:cubicBezTo>
                  <a:pt x="2" y="683"/>
                  <a:pt x="0" y="673"/>
                  <a:pt x="0" y="663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TextBox 527"/>
          <p:cNvSpPr txBox="1"/>
          <p:nvPr/>
        </p:nvSpPr>
        <p:spPr>
          <a:xfrm>
            <a:off x="3261600" y="4374000"/>
            <a:ext cx="238687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Base image (small, fast)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898128" y="4772304"/>
            <a:ext cx="144751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WORKDIR /app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30" name="Freeform 529"/>
          <p:cNvSpPr/>
          <p:nvPr/>
        </p:nvSpPr>
        <p:spPr>
          <a:xfrm>
            <a:off x="582768" y="517752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" name="Freeform 530"/>
          <p:cNvSpPr/>
          <p:nvPr/>
        </p:nvSpPr>
        <p:spPr>
          <a:xfrm>
            <a:off x="834192" y="5051808"/>
            <a:ext cx="2400624" cy="320544"/>
          </a:xfrm>
          <a:custGeom>
            <a:avLst/>
            <a:gdLst/>
            <a:ahLst/>
            <a:cxnLst/>
            <a:rect l="0" t="0" r="r" b="b"/>
            <a:pathLst>
              <a:path w="5557" h="742">
                <a:moveTo>
                  <a:pt x="0" y="663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478" y="0"/>
                </a:lnTo>
                <a:cubicBezTo>
                  <a:pt x="5488" y="0"/>
                  <a:pt x="5498" y="2"/>
                  <a:pt x="5508" y="6"/>
                </a:cubicBezTo>
                <a:cubicBezTo>
                  <a:pt x="5518" y="10"/>
                  <a:pt x="5527" y="16"/>
                  <a:pt x="5534" y="23"/>
                </a:cubicBezTo>
                <a:cubicBezTo>
                  <a:pt x="5541" y="31"/>
                  <a:pt x="5547" y="39"/>
                  <a:pt x="5551" y="49"/>
                </a:cubicBezTo>
                <a:cubicBezTo>
                  <a:pt x="5555" y="59"/>
                  <a:pt x="5557" y="69"/>
                  <a:pt x="5557" y="79"/>
                </a:cubicBezTo>
                <a:lnTo>
                  <a:pt x="5557" y="663"/>
                </a:lnTo>
                <a:cubicBezTo>
                  <a:pt x="5557" y="673"/>
                  <a:pt x="5555" y="683"/>
                  <a:pt x="5551" y="693"/>
                </a:cubicBezTo>
                <a:cubicBezTo>
                  <a:pt x="5547" y="703"/>
                  <a:pt x="5541" y="711"/>
                  <a:pt x="5534" y="719"/>
                </a:cubicBezTo>
                <a:cubicBezTo>
                  <a:pt x="5527" y="726"/>
                  <a:pt x="5518" y="732"/>
                  <a:pt x="5508" y="736"/>
                </a:cubicBezTo>
                <a:cubicBezTo>
                  <a:pt x="5498" y="740"/>
                  <a:pt x="5488" y="742"/>
                  <a:pt x="5478" y="742"/>
                </a:cubicBezTo>
                <a:lnTo>
                  <a:pt x="79" y="742"/>
                </a:lnTo>
                <a:cubicBezTo>
                  <a:pt x="69" y="742"/>
                  <a:pt x="59" y="740"/>
                  <a:pt x="49" y="736"/>
                </a:cubicBezTo>
                <a:cubicBezTo>
                  <a:pt x="39" y="732"/>
                  <a:pt x="31" y="726"/>
                  <a:pt x="23" y="719"/>
                </a:cubicBezTo>
                <a:cubicBezTo>
                  <a:pt x="16" y="711"/>
                  <a:pt x="10" y="703"/>
                  <a:pt x="6" y="693"/>
                </a:cubicBezTo>
                <a:cubicBezTo>
                  <a:pt x="2" y="683"/>
                  <a:pt x="0" y="673"/>
                  <a:pt x="0" y="663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2426976" y="4716576"/>
            <a:ext cx="209993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Set working directory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898128" y="5115312"/>
            <a:ext cx="195675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COPY </a:t>
            </a:r>
            <a:r>
              <a:rPr lang="en-IN" sz="1600" dirty="0" err="1">
                <a:solidFill>
                  <a:srgbClr val="0070C0"/>
                </a:solidFill>
                <a:latin typeface="RobotoMono"/>
                <a:ea typeface="RobotoMono"/>
              </a:rPr>
              <a:t>package.json</a:t>
            </a:r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 .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34" name="Freeform 533"/>
          <p:cNvSpPr/>
          <p:nvPr/>
        </p:nvSpPr>
        <p:spPr>
          <a:xfrm>
            <a:off x="582768" y="552052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Freeform 534"/>
          <p:cNvSpPr/>
          <p:nvPr/>
        </p:nvSpPr>
        <p:spPr>
          <a:xfrm>
            <a:off x="834192" y="5394816"/>
            <a:ext cx="1920672" cy="320544"/>
          </a:xfrm>
          <a:custGeom>
            <a:avLst/>
            <a:gdLst/>
            <a:ahLst/>
            <a:cxnLst/>
            <a:rect l="0" t="0" r="r" b="b"/>
            <a:pathLst>
              <a:path w="4446" h="742">
                <a:moveTo>
                  <a:pt x="0" y="662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367" y="0"/>
                </a:lnTo>
                <a:cubicBezTo>
                  <a:pt x="4377" y="0"/>
                  <a:pt x="4387" y="2"/>
                  <a:pt x="4397" y="6"/>
                </a:cubicBezTo>
                <a:cubicBezTo>
                  <a:pt x="4407" y="10"/>
                  <a:pt x="4415" y="16"/>
                  <a:pt x="4423" y="23"/>
                </a:cubicBezTo>
                <a:cubicBezTo>
                  <a:pt x="4430" y="31"/>
                  <a:pt x="4436" y="39"/>
                  <a:pt x="4440" y="49"/>
                </a:cubicBezTo>
                <a:cubicBezTo>
                  <a:pt x="4444" y="59"/>
                  <a:pt x="4446" y="69"/>
                  <a:pt x="4446" y="79"/>
                </a:cubicBezTo>
                <a:lnTo>
                  <a:pt x="4446" y="662"/>
                </a:lnTo>
                <a:cubicBezTo>
                  <a:pt x="4446" y="673"/>
                  <a:pt x="4444" y="683"/>
                  <a:pt x="4440" y="693"/>
                </a:cubicBezTo>
                <a:cubicBezTo>
                  <a:pt x="4436" y="702"/>
                  <a:pt x="4430" y="711"/>
                  <a:pt x="4423" y="718"/>
                </a:cubicBezTo>
                <a:cubicBezTo>
                  <a:pt x="4415" y="726"/>
                  <a:pt x="4407" y="732"/>
                  <a:pt x="4397" y="736"/>
                </a:cubicBezTo>
                <a:cubicBezTo>
                  <a:pt x="4387" y="740"/>
                  <a:pt x="4377" y="742"/>
                  <a:pt x="4367" y="742"/>
                </a:cubicBezTo>
                <a:lnTo>
                  <a:pt x="79" y="742"/>
                </a:lnTo>
                <a:cubicBezTo>
                  <a:pt x="69" y="742"/>
                  <a:pt x="59" y="740"/>
                  <a:pt x="49" y="736"/>
                </a:cubicBezTo>
                <a:cubicBezTo>
                  <a:pt x="39" y="732"/>
                  <a:pt x="31" y="726"/>
                  <a:pt x="23" y="718"/>
                </a:cubicBezTo>
                <a:cubicBezTo>
                  <a:pt x="16" y="711"/>
                  <a:pt x="10" y="702"/>
                  <a:pt x="6" y="693"/>
                </a:cubicBezTo>
                <a:cubicBezTo>
                  <a:pt x="2" y="683"/>
                  <a:pt x="0" y="673"/>
                  <a:pt x="0" y="662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3261600" y="5059584"/>
            <a:ext cx="231313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Copy dependencies file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898128" y="5457888"/>
            <a:ext cx="147957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RUN </a:t>
            </a:r>
            <a:r>
              <a:rPr lang="en-IN" sz="1600" dirty="0" err="1">
                <a:solidFill>
                  <a:srgbClr val="0070C0"/>
                </a:solidFill>
                <a:latin typeface="RobotoMono"/>
                <a:ea typeface="RobotoMono"/>
              </a:rPr>
              <a:t>npm</a:t>
            </a:r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 install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38" name="Freeform 537"/>
          <p:cNvSpPr/>
          <p:nvPr/>
        </p:nvSpPr>
        <p:spPr>
          <a:xfrm>
            <a:off x="582768" y="5863536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Freeform 538"/>
          <p:cNvSpPr/>
          <p:nvPr/>
        </p:nvSpPr>
        <p:spPr>
          <a:xfrm>
            <a:off x="834192" y="5737824"/>
            <a:ext cx="1086048" cy="320112"/>
          </a:xfrm>
          <a:custGeom>
            <a:avLst/>
            <a:gdLst/>
            <a:ahLst/>
            <a:cxnLst/>
            <a:rect l="0" t="0" r="r" b="b"/>
            <a:pathLst>
              <a:path w="2514" h="741">
                <a:moveTo>
                  <a:pt x="0" y="662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435" y="0"/>
                </a:lnTo>
                <a:cubicBezTo>
                  <a:pt x="2446" y="0"/>
                  <a:pt x="2456" y="2"/>
                  <a:pt x="2465" y="6"/>
                </a:cubicBezTo>
                <a:cubicBezTo>
                  <a:pt x="2475" y="10"/>
                  <a:pt x="2484" y="15"/>
                  <a:pt x="2491" y="23"/>
                </a:cubicBezTo>
                <a:cubicBezTo>
                  <a:pt x="2499" y="30"/>
                  <a:pt x="2504" y="39"/>
                  <a:pt x="2508" y="49"/>
                </a:cubicBezTo>
                <a:cubicBezTo>
                  <a:pt x="2512" y="58"/>
                  <a:pt x="2514" y="68"/>
                  <a:pt x="2514" y="79"/>
                </a:cubicBezTo>
                <a:lnTo>
                  <a:pt x="2514" y="662"/>
                </a:lnTo>
                <a:cubicBezTo>
                  <a:pt x="2514" y="673"/>
                  <a:pt x="2512" y="683"/>
                  <a:pt x="2508" y="692"/>
                </a:cubicBezTo>
                <a:cubicBezTo>
                  <a:pt x="2504" y="702"/>
                  <a:pt x="2499" y="711"/>
                  <a:pt x="2491" y="718"/>
                </a:cubicBezTo>
                <a:cubicBezTo>
                  <a:pt x="2484" y="726"/>
                  <a:pt x="2475" y="731"/>
                  <a:pt x="2465" y="735"/>
                </a:cubicBezTo>
                <a:cubicBezTo>
                  <a:pt x="2456" y="739"/>
                  <a:pt x="2446" y="741"/>
                  <a:pt x="2435" y="741"/>
                </a:cubicBezTo>
                <a:lnTo>
                  <a:pt x="79" y="741"/>
                </a:lnTo>
                <a:cubicBezTo>
                  <a:pt x="69" y="741"/>
                  <a:pt x="59" y="739"/>
                  <a:pt x="49" y="735"/>
                </a:cubicBezTo>
                <a:cubicBezTo>
                  <a:pt x="39" y="731"/>
                  <a:pt x="31" y="726"/>
                  <a:pt x="23" y="718"/>
                </a:cubicBezTo>
                <a:cubicBezTo>
                  <a:pt x="16" y="711"/>
                  <a:pt x="10" y="702"/>
                  <a:pt x="6" y="692"/>
                </a:cubicBezTo>
                <a:cubicBezTo>
                  <a:pt x="2" y="683"/>
                  <a:pt x="0" y="673"/>
                  <a:pt x="0" y="662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2784672" y="5402592"/>
            <a:ext cx="205184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Install dependencies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898128" y="5800896"/>
            <a:ext cx="807401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COPY . .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42" name="Freeform 541"/>
          <p:cNvSpPr/>
          <p:nvPr/>
        </p:nvSpPr>
        <p:spPr>
          <a:xfrm>
            <a:off x="582768" y="6206112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Freeform 542"/>
          <p:cNvSpPr/>
          <p:nvPr/>
        </p:nvSpPr>
        <p:spPr>
          <a:xfrm>
            <a:off x="834192" y="6080400"/>
            <a:ext cx="1440720" cy="320544"/>
          </a:xfrm>
          <a:custGeom>
            <a:avLst/>
            <a:gdLst/>
            <a:ahLst/>
            <a:cxnLst/>
            <a:rect l="0" t="0" r="r" b="b"/>
            <a:pathLst>
              <a:path w="3335" h="742">
                <a:moveTo>
                  <a:pt x="0" y="66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255" y="0"/>
                </a:lnTo>
                <a:cubicBezTo>
                  <a:pt x="3266" y="0"/>
                  <a:pt x="3276" y="2"/>
                  <a:pt x="3286" y="6"/>
                </a:cubicBezTo>
                <a:cubicBezTo>
                  <a:pt x="3295" y="10"/>
                  <a:pt x="3304" y="16"/>
                  <a:pt x="3311" y="24"/>
                </a:cubicBezTo>
                <a:cubicBezTo>
                  <a:pt x="3319" y="31"/>
                  <a:pt x="3325" y="40"/>
                  <a:pt x="3329" y="49"/>
                </a:cubicBezTo>
                <a:cubicBezTo>
                  <a:pt x="3333" y="59"/>
                  <a:pt x="3335" y="69"/>
                  <a:pt x="3335" y="80"/>
                </a:cubicBezTo>
                <a:lnTo>
                  <a:pt x="3335" y="663"/>
                </a:lnTo>
                <a:cubicBezTo>
                  <a:pt x="3335" y="673"/>
                  <a:pt x="3333" y="683"/>
                  <a:pt x="3329" y="693"/>
                </a:cubicBezTo>
                <a:cubicBezTo>
                  <a:pt x="3325" y="703"/>
                  <a:pt x="3319" y="711"/>
                  <a:pt x="3311" y="719"/>
                </a:cubicBezTo>
                <a:cubicBezTo>
                  <a:pt x="3304" y="726"/>
                  <a:pt x="3295" y="732"/>
                  <a:pt x="3286" y="736"/>
                </a:cubicBezTo>
                <a:cubicBezTo>
                  <a:pt x="3276" y="740"/>
                  <a:pt x="3266" y="742"/>
                  <a:pt x="3255" y="742"/>
                </a:cubicBezTo>
                <a:lnTo>
                  <a:pt x="79" y="742"/>
                </a:lnTo>
                <a:cubicBezTo>
                  <a:pt x="69" y="742"/>
                  <a:pt x="59" y="740"/>
                  <a:pt x="49" y="736"/>
                </a:cubicBezTo>
                <a:cubicBezTo>
                  <a:pt x="39" y="732"/>
                  <a:pt x="31" y="726"/>
                  <a:pt x="23" y="719"/>
                </a:cubicBezTo>
                <a:cubicBezTo>
                  <a:pt x="16" y="711"/>
                  <a:pt x="10" y="703"/>
                  <a:pt x="6" y="693"/>
                </a:cubicBezTo>
                <a:cubicBezTo>
                  <a:pt x="2" y="683"/>
                  <a:pt x="0" y="673"/>
                  <a:pt x="0" y="663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1950048" y="5745600"/>
            <a:ext cx="219932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Copy application code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898128" y="6143904"/>
            <a:ext cx="13545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EXPOSE 3000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46" name="Freeform 545"/>
          <p:cNvSpPr/>
          <p:nvPr/>
        </p:nvSpPr>
        <p:spPr>
          <a:xfrm>
            <a:off x="582768" y="6560784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Freeform 546"/>
          <p:cNvSpPr/>
          <p:nvPr/>
        </p:nvSpPr>
        <p:spPr>
          <a:xfrm>
            <a:off x="834192" y="6435072"/>
            <a:ext cx="3109536" cy="308880"/>
          </a:xfrm>
          <a:custGeom>
            <a:avLst/>
            <a:gdLst/>
            <a:ahLst/>
            <a:cxnLst/>
            <a:rect l="0" t="0" r="r" b="b"/>
            <a:pathLst>
              <a:path w="7198" h="715">
                <a:moveTo>
                  <a:pt x="0" y="636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118" y="0"/>
                </a:lnTo>
                <a:cubicBezTo>
                  <a:pt x="7129" y="0"/>
                  <a:pt x="7139" y="2"/>
                  <a:pt x="7149" y="6"/>
                </a:cubicBezTo>
                <a:cubicBezTo>
                  <a:pt x="7158" y="10"/>
                  <a:pt x="7167" y="15"/>
                  <a:pt x="7174" y="23"/>
                </a:cubicBezTo>
                <a:cubicBezTo>
                  <a:pt x="7182" y="30"/>
                  <a:pt x="7188" y="39"/>
                  <a:pt x="7192" y="49"/>
                </a:cubicBezTo>
                <a:cubicBezTo>
                  <a:pt x="7196" y="58"/>
                  <a:pt x="7198" y="68"/>
                  <a:pt x="7198" y="79"/>
                </a:cubicBezTo>
                <a:lnTo>
                  <a:pt x="7198" y="636"/>
                </a:lnTo>
                <a:cubicBezTo>
                  <a:pt x="7198" y="646"/>
                  <a:pt x="7196" y="656"/>
                  <a:pt x="7192" y="666"/>
                </a:cubicBezTo>
                <a:cubicBezTo>
                  <a:pt x="7188" y="676"/>
                  <a:pt x="7182" y="684"/>
                  <a:pt x="7174" y="692"/>
                </a:cubicBezTo>
                <a:cubicBezTo>
                  <a:pt x="7167" y="699"/>
                  <a:pt x="7158" y="705"/>
                  <a:pt x="7149" y="709"/>
                </a:cubicBezTo>
                <a:cubicBezTo>
                  <a:pt x="7139" y="713"/>
                  <a:pt x="7129" y="715"/>
                  <a:pt x="7118" y="715"/>
                </a:cubicBezTo>
                <a:lnTo>
                  <a:pt x="79" y="715"/>
                </a:lnTo>
                <a:cubicBezTo>
                  <a:pt x="69" y="715"/>
                  <a:pt x="59" y="713"/>
                  <a:pt x="49" y="709"/>
                </a:cubicBezTo>
                <a:cubicBezTo>
                  <a:pt x="39" y="705"/>
                  <a:pt x="31" y="699"/>
                  <a:pt x="23" y="692"/>
                </a:cubicBezTo>
                <a:cubicBezTo>
                  <a:pt x="16" y="684"/>
                  <a:pt x="10" y="676"/>
                  <a:pt x="6" y="666"/>
                </a:cubicBezTo>
                <a:cubicBezTo>
                  <a:pt x="2" y="656"/>
                  <a:pt x="0" y="646"/>
                  <a:pt x="0" y="636"/>
                </a:cubicBezTo>
                <a:close/>
              </a:path>
            </a:pathLst>
          </a:custGeom>
          <a:solidFill>
            <a:srgbClr val="ECF0F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2308176" y="6088176"/>
            <a:ext cx="236282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Document exposed port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898128" y="6498144"/>
            <a:ext cx="226331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RobotoMono"/>
                <a:ea typeface="RobotoMono"/>
              </a:rPr>
              <a:t>CMD ["node", "server.js"]</a:t>
            </a:r>
            <a:endParaRPr lang="en-IN" sz="160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3976992" y="6442848"/>
            <a:ext cx="151804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- Run command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Freeform 508">
            <a:extLst>
              <a:ext uri="{FF2B5EF4-FFF2-40B4-BE49-F238E27FC236}">
                <a16:creationId xmlns:a16="http://schemas.microsoft.com/office/drawing/2014/main" id="{368137A4-5B01-5707-DFD8-B4EE8E49E8C0}"/>
              </a:ext>
            </a:extLst>
          </p:cNvPr>
          <p:cNvSpPr/>
          <p:nvPr/>
        </p:nvSpPr>
        <p:spPr>
          <a:xfrm>
            <a:off x="141514" y="70545"/>
            <a:ext cx="554438" cy="494814"/>
          </a:xfrm>
          <a:custGeom>
            <a:avLst/>
            <a:gdLst/>
            <a:ahLst/>
            <a:cxnLst/>
            <a:rect l="0" t="0" r="r" b="b"/>
            <a:pathLst>
              <a:path w="675" h="711">
                <a:moveTo>
                  <a:pt x="655" y="159"/>
                </a:moveTo>
                <a:lnTo>
                  <a:pt x="573" y="159"/>
                </a:lnTo>
                <a:lnTo>
                  <a:pt x="193" y="1"/>
                </a:lnTo>
                <a:lnTo>
                  <a:pt x="192" y="1"/>
                </a:lnTo>
                <a:cubicBezTo>
                  <a:pt x="191" y="1"/>
                  <a:pt x="190" y="0"/>
                  <a:pt x="189" y="0"/>
                </a:cubicBezTo>
                <a:cubicBezTo>
                  <a:pt x="188" y="0"/>
                  <a:pt x="186" y="1"/>
                  <a:pt x="185" y="1"/>
                </a:cubicBezTo>
                <a:cubicBezTo>
                  <a:pt x="184" y="1"/>
                  <a:pt x="184" y="2"/>
                  <a:pt x="183" y="3"/>
                </a:cubicBezTo>
                <a:lnTo>
                  <a:pt x="182" y="3"/>
                </a:lnTo>
                <a:cubicBezTo>
                  <a:pt x="181" y="4"/>
                  <a:pt x="180" y="5"/>
                  <a:pt x="180" y="6"/>
                </a:cubicBezTo>
                <a:cubicBezTo>
                  <a:pt x="180" y="7"/>
                  <a:pt x="180" y="7"/>
                  <a:pt x="180" y="7"/>
                </a:cubicBezTo>
                <a:lnTo>
                  <a:pt x="69" y="162"/>
                </a:lnTo>
                <a:cubicBezTo>
                  <a:pt x="63" y="166"/>
                  <a:pt x="59" y="172"/>
                  <a:pt x="59" y="179"/>
                </a:cubicBezTo>
                <a:lnTo>
                  <a:pt x="59" y="219"/>
                </a:lnTo>
                <a:cubicBezTo>
                  <a:pt x="59" y="229"/>
                  <a:pt x="68" y="238"/>
                  <a:pt x="79" y="238"/>
                </a:cubicBezTo>
                <a:lnTo>
                  <a:pt x="109" y="238"/>
                </a:lnTo>
                <a:lnTo>
                  <a:pt x="35" y="671"/>
                </a:lnTo>
                <a:lnTo>
                  <a:pt x="0" y="671"/>
                </a:lnTo>
                <a:lnTo>
                  <a:pt x="0" y="711"/>
                </a:lnTo>
                <a:lnTo>
                  <a:pt x="377" y="711"/>
                </a:lnTo>
                <a:lnTo>
                  <a:pt x="377" y="671"/>
                </a:lnTo>
                <a:lnTo>
                  <a:pt x="342" y="671"/>
                </a:lnTo>
                <a:lnTo>
                  <a:pt x="269" y="238"/>
                </a:lnTo>
                <a:lnTo>
                  <a:pt x="655" y="238"/>
                </a:lnTo>
                <a:cubicBezTo>
                  <a:pt x="666" y="238"/>
                  <a:pt x="675" y="229"/>
                  <a:pt x="675" y="219"/>
                </a:cubicBezTo>
                <a:lnTo>
                  <a:pt x="675" y="179"/>
                </a:lnTo>
                <a:cubicBezTo>
                  <a:pt x="675" y="168"/>
                  <a:pt x="666" y="159"/>
                  <a:pt x="655" y="159"/>
                </a:cubicBezTo>
                <a:moveTo>
                  <a:pt x="223" y="238"/>
                </a:moveTo>
                <a:lnTo>
                  <a:pt x="189" y="266"/>
                </a:lnTo>
                <a:lnTo>
                  <a:pt x="155" y="238"/>
                </a:lnTo>
                <a:lnTo>
                  <a:pt x="223" y="238"/>
                </a:lnTo>
                <a:moveTo>
                  <a:pt x="189" y="418"/>
                </a:moveTo>
                <a:lnTo>
                  <a:pt x="262" y="466"/>
                </a:lnTo>
                <a:lnTo>
                  <a:pt x="189" y="505"/>
                </a:lnTo>
                <a:lnTo>
                  <a:pt x="115" y="466"/>
                </a:lnTo>
                <a:lnTo>
                  <a:pt x="189" y="418"/>
                </a:lnTo>
                <a:moveTo>
                  <a:pt x="116" y="432"/>
                </a:moveTo>
                <a:lnTo>
                  <a:pt x="125" y="377"/>
                </a:lnTo>
                <a:lnTo>
                  <a:pt x="163" y="401"/>
                </a:lnTo>
                <a:lnTo>
                  <a:pt x="116" y="432"/>
                </a:lnTo>
                <a:moveTo>
                  <a:pt x="215" y="401"/>
                </a:moveTo>
                <a:lnTo>
                  <a:pt x="252" y="377"/>
                </a:lnTo>
                <a:lnTo>
                  <a:pt x="261" y="432"/>
                </a:lnTo>
                <a:lnTo>
                  <a:pt x="215" y="401"/>
                </a:lnTo>
                <a:moveTo>
                  <a:pt x="189" y="384"/>
                </a:moveTo>
                <a:lnTo>
                  <a:pt x="132" y="346"/>
                </a:lnTo>
                <a:lnTo>
                  <a:pt x="189" y="300"/>
                </a:lnTo>
                <a:lnTo>
                  <a:pt x="245" y="346"/>
                </a:lnTo>
                <a:lnTo>
                  <a:pt x="189" y="384"/>
                </a:lnTo>
                <a:moveTo>
                  <a:pt x="138" y="307"/>
                </a:moveTo>
                <a:lnTo>
                  <a:pt x="145" y="265"/>
                </a:lnTo>
                <a:lnTo>
                  <a:pt x="168" y="283"/>
                </a:lnTo>
                <a:lnTo>
                  <a:pt x="138" y="307"/>
                </a:lnTo>
                <a:moveTo>
                  <a:pt x="210" y="283"/>
                </a:moveTo>
                <a:lnTo>
                  <a:pt x="233" y="265"/>
                </a:lnTo>
                <a:lnTo>
                  <a:pt x="240" y="307"/>
                </a:lnTo>
                <a:lnTo>
                  <a:pt x="210" y="283"/>
                </a:lnTo>
                <a:moveTo>
                  <a:pt x="95" y="159"/>
                </a:moveTo>
                <a:lnTo>
                  <a:pt x="179" y="42"/>
                </a:lnTo>
                <a:lnTo>
                  <a:pt x="179" y="119"/>
                </a:lnTo>
                <a:lnTo>
                  <a:pt x="139" y="119"/>
                </a:lnTo>
                <a:cubicBezTo>
                  <a:pt x="128" y="119"/>
                  <a:pt x="119" y="128"/>
                  <a:pt x="119" y="139"/>
                </a:cubicBezTo>
                <a:lnTo>
                  <a:pt x="119" y="159"/>
                </a:lnTo>
                <a:lnTo>
                  <a:pt x="95" y="159"/>
                </a:lnTo>
                <a:moveTo>
                  <a:pt x="106" y="491"/>
                </a:moveTo>
                <a:lnTo>
                  <a:pt x="161" y="521"/>
                </a:lnTo>
                <a:lnTo>
                  <a:pt x="95" y="556"/>
                </a:lnTo>
                <a:lnTo>
                  <a:pt x="106" y="491"/>
                </a:lnTo>
                <a:moveTo>
                  <a:pt x="302" y="671"/>
                </a:moveTo>
                <a:lnTo>
                  <a:pt x="75" y="671"/>
                </a:lnTo>
                <a:lnTo>
                  <a:pt x="89" y="590"/>
                </a:lnTo>
                <a:lnTo>
                  <a:pt x="189" y="536"/>
                </a:lnTo>
                <a:lnTo>
                  <a:pt x="288" y="590"/>
                </a:lnTo>
                <a:lnTo>
                  <a:pt x="302" y="671"/>
                </a:lnTo>
                <a:moveTo>
                  <a:pt x="272" y="491"/>
                </a:moveTo>
                <a:lnTo>
                  <a:pt x="283" y="556"/>
                </a:lnTo>
                <a:lnTo>
                  <a:pt x="217" y="521"/>
                </a:lnTo>
                <a:lnTo>
                  <a:pt x="272" y="491"/>
                </a:lnTo>
                <a:moveTo>
                  <a:pt x="259" y="159"/>
                </a:moveTo>
                <a:lnTo>
                  <a:pt x="259" y="139"/>
                </a:lnTo>
                <a:cubicBezTo>
                  <a:pt x="259" y="128"/>
                  <a:pt x="250" y="119"/>
                  <a:pt x="239" y="119"/>
                </a:cubicBezTo>
                <a:lnTo>
                  <a:pt x="199" y="119"/>
                </a:lnTo>
                <a:lnTo>
                  <a:pt x="199" y="25"/>
                </a:lnTo>
                <a:lnTo>
                  <a:pt x="522" y="159"/>
                </a:lnTo>
                <a:lnTo>
                  <a:pt x="259" y="159"/>
                </a:lnTo>
                <a:moveTo>
                  <a:pt x="298" y="219"/>
                </a:moveTo>
                <a:lnTo>
                  <a:pt x="275" y="219"/>
                </a:lnTo>
                <a:lnTo>
                  <a:pt x="275" y="179"/>
                </a:lnTo>
                <a:lnTo>
                  <a:pt x="298" y="179"/>
                </a:lnTo>
                <a:lnTo>
                  <a:pt x="298" y="219"/>
                </a:lnTo>
                <a:moveTo>
                  <a:pt x="358" y="219"/>
                </a:moveTo>
                <a:lnTo>
                  <a:pt x="318" y="219"/>
                </a:lnTo>
                <a:lnTo>
                  <a:pt x="318" y="179"/>
                </a:lnTo>
                <a:lnTo>
                  <a:pt x="358" y="179"/>
                </a:lnTo>
                <a:lnTo>
                  <a:pt x="358" y="219"/>
                </a:lnTo>
                <a:moveTo>
                  <a:pt x="417" y="219"/>
                </a:moveTo>
                <a:lnTo>
                  <a:pt x="378" y="219"/>
                </a:lnTo>
                <a:lnTo>
                  <a:pt x="378" y="179"/>
                </a:lnTo>
                <a:lnTo>
                  <a:pt x="417" y="179"/>
                </a:lnTo>
                <a:lnTo>
                  <a:pt x="417" y="219"/>
                </a:lnTo>
                <a:moveTo>
                  <a:pt x="477" y="219"/>
                </a:moveTo>
                <a:lnTo>
                  <a:pt x="437" y="219"/>
                </a:lnTo>
                <a:lnTo>
                  <a:pt x="437" y="179"/>
                </a:lnTo>
                <a:lnTo>
                  <a:pt x="477" y="179"/>
                </a:lnTo>
                <a:lnTo>
                  <a:pt x="477" y="219"/>
                </a:lnTo>
                <a:moveTo>
                  <a:pt x="536" y="219"/>
                </a:moveTo>
                <a:lnTo>
                  <a:pt x="497" y="219"/>
                </a:lnTo>
                <a:lnTo>
                  <a:pt x="497" y="179"/>
                </a:lnTo>
                <a:lnTo>
                  <a:pt x="536" y="179"/>
                </a:lnTo>
                <a:lnTo>
                  <a:pt x="536" y="219"/>
                </a:lnTo>
                <a:moveTo>
                  <a:pt x="596" y="219"/>
                </a:moveTo>
                <a:lnTo>
                  <a:pt x="556" y="219"/>
                </a:lnTo>
                <a:lnTo>
                  <a:pt x="556" y="179"/>
                </a:lnTo>
                <a:lnTo>
                  <a:pt x="596" y="179"/>
                </a:lnTo>
                <a:lnTo>
                  <a:pt x="596" y="219"/>
                </a:lnTo>
                <a:moveTo>
                  <a:pt x="655" y="209"/>
                </a:moveTo>
                <a:cubicBezTo>
                  <a:pt x="655" y="214"/>
                  <a:pt x="651" y="219"/>
                  <a:pt x="646" y="219"/>
                </a:cubicBezTo>
                <a:lnTo>
                  <a:pt x="616" y="219"/>
                </a:lnTo>
                <a:lnTo>
                  <a:pt x="616" y="179"/>
                </a:lnTo>
                <a:lnTo>
                  <a:pt x="646" y="179"/>
                </a:lnTo>
                <a:cubicBezTo>
                  <a:pt x="651" y="179"/>
                  <a:pt x="655" y="183"/>
                  <a:pt x="655" y="189"/>
                </a:cubicBezTo>
                <a:lnTo>
                  <a:pt x="655" y="209"/>
                </a:lnTo>
                <a:close/>
              </a:path>
            </a:pathLst>
          </a:custGeom>
          <a:solidFill>
            <a:srgbClr val="BD203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36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85D8A-55E1-BE4C-0D08-5125E9F1C930}"/>
              </a:ext>
            </a:extLst>
          </p:cNvPr>
          <p:cNvSpPr txBox="1"/>
          <p:nvPr/>
        </p:nvSpPr>
        <p:spPr>
          <a:xfrm>
            <a:off x="695952" y="63053"/>
            <a:ext cx="6206827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3600" b="1" dirty="0">
                <a:solidFill>
                  <a:srgbClr val="2C3E50"/>
                </a:solidFill>
                <a:latin typeface="SegoeUI"/>
                <a:ea typeface="SegoeUI"/>
              </a:rPr>
              <a:t> </a:t>
            </a:r>
            <a:r>
              <a:rPr lang="en-IN" sz="3600" b="1" dirty="0" err="1">
                <a:solidFill>
                  <a:srgbClr val="2C3E50"/>
                </a:solidFill>
                <a:latin typeface="SegoeUI"/>
                <a:ea typeface="SegoeUI"/>
              </a:rPr>
              <a:t>Dockerfile</a:t>
            </a:r>
            <a:r>
              <a:rPr lang="en-IN" sz="3600" b="1" dirty="0">
                <a:solidFill>
                  <a:srgbClr val="2C3E50"/>
                </a:solidFill>
                <a:latin typeface="SegoeUI"/>
                <a:ea typeface="SegoeUI"/>
              </a:rPr>
              <a:t>: Building Images</a:t>
            </a:r>
            <a:endParaRPr lang="en-IN" sz="360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Freeform 50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Freeform 502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Freeform 503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0" t="0" r="r" b="b"/>
            <a:pathLst>
              <a:path w="31830" h="16378">
                <a:moveTo>
                  <a:pt x="0" y="0"/>
                </a:moveTo>
                <a:lnTo>
                  <a:pt x="31830" y="0"/>
                </a:lnTo>
                <a:lnTo>
                  <a:pt x="31830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Freeform 505"/>
          <p:cNvSpPr/>
          <p:nvPr/>
        </p:nvSpPr>
        <p:spPr>
          <a:xfrm>
            <a:off x="610416" y="264816"/>
            <a:ext cx="9072" cy="103248"/>
          </a:xfrm>
          <a:custGeom>
            <a:avLst/>
            <a:gdLst/>
            <a:ahLst/>
            <a:cxnLst/>
            <a:rect l="0" t="0" r="r" b="b"/>
            <a:pathLst>
              <a:path w="21" h="239">
                <a:moveTo>
                  <a:pt x="21" y="5"/>
                </a:moveTo>
                <a:cubicBezTo>
                  <a:pt x="21" y="2"/>
                  <a:pt x="19" y="0"/>
                  <a:pt x="16" y="0"/>
                </a:cubicBezTo>
                <a:lnTo>
                  <a:pt x="7" y="0"/>
                </a:lnTo>
                <a:cubicBezTo>
                  <a:pt x="4" y="0"/>
                  <a:pt x="0" y="2"/>
                  <a:pt x="0" y="5"/>
                </a:cubicBezTo>
                <a:lnTo>
                  <a:pt x="0" y="234"/>
                </a:lnTo>
                <a:cubicBezTo>
                  <a:pt x="0" y="237"/>
                  <a:pt x="4" y="239"/>
                  <a:pt x="7" y="239"/>
                </a:cubicBezTo>
                <a:lnTo>
                  <a:pt x="16" y="239"/>
                </a:lnTo>
                <a:cubicBezTo>
                  <a:pt x="19" y="239"/>
                  <a:pt x="21" y="237"/>
                  <a:pt x="21" y="234"/>
                </a:cubicBezTo>
                <a:lnTo>
                  <a:pt x="21" y="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" name="Freeform 506"/>
          <p:cNvSpPr/>
          <p:nvPr/>
        </p:nvSpPr>
        <p:spPr>
          <a:xfrm>
            <a:off x="602208" y="350352"/>
            <a:ext cx="25920" cy="26352"/>
          </a:xfrm>
          <a:custGeom>
            <a:avLst/>
            <a:gdLst/>
            <a:ahLst/>
            <a:cxnLst/>
            <a:rect l="0" t="0" r="r" b="b"/>
            <a:pathLst>
              <a:path w="60" h="61">
                <a:moveTo>
                  <a:pt x="60" y="30"/>
                </a:moveTo>
                <a:cubicBezTo>
                  <a:pt x="60" y="38"/>
                  <a:pt x="57" y="46"/>
                  <a:pt x="50" y="52"/>
                </a:cubicBezTo>
                <a:cubicBezTo>
                  <a:pt x="45" y="58"/>
                  <a:pt x="38" y="61"/>
                  <a:pt x="29" y="61"/>
                </a:cubicBezTo>
                <a:cubicBezTo>
                  <a:pt x="21" y="61"/>
                  <a:pt x="14" y="58"/>
                  <a:pt x="8" y="52"/>
                </a:cubicBezTo>
                <a:cubicBezTo>
                  <a:pt x="2" y="46"/>
                  <a:pt x="0" y="38"/>
                  <a:pt x="0" y="30"/>
                </a:cubicBezTo>
                <a:cubicBezTo>
                  <a:pt x="0" y="22"/>
                  <a:pt x="2" y="15"/>
                  <a:pt x="8" y="9"/>
                </a:cubicBezTo>
                <a:cubicBezTo>
                  <a:pt x="14" y="3"/>
                  <a:pt x="21" y="0"/>
                  <a:pt x="29" y="0"/>
                </a:cubicBezTo>
                <a:cubicBezTo>
                  <a:pt x="38" y="0"/>
                  <a:pt x="45" y="3"/>
                  <a:pt x="50" y="9"/>
                </a:cubicBezTo>
                <a:cubicBezTo>
                  <a:pt x="57" y="15"/>
                  <a:pt x="60" y="22"/>
                  <a:pt x="60" y="30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Freeform 507"/>
          <p:cNvSpPr/>
          <p:nvPr/>
        </p:nvSpPr>
        <p:spPr>
          <a:xfrm>
            <a:off x="606096" y="376272"/>
            <a:ext cx="17712" cy="17712"/>
          </a:xfrm>
          <a:custGeom>
            <a:avLst/>
            <a:gdLst/>
            <a:ahLst/>
            <a:cxnLst/>
            <a:rect l="0" t="0" r="r" b="b"/>
            <a:pathLst>
              <a:path w="41" h="41">
                <a:moveTo>
                  <a:pt x="41" y="21"/>
                </a:moveTo>
                <a:cubicBezTo>
                  <a:pt x="41" y="26"/>
                  <a:pt x="39" y="31"/>
                  <a:pt x="35" y="35"/>
                </a:cubicBezTo>
                <a:cubicBezTo>
                  <a:pt x="31" y="39"/>
                  <a:pt x="27" y="41"/>
                  <a:pt x="20" y="41"/>
                </a:cubicBezTo>
                <a:cubicBezTo>
                  <a:pt x="15" y="41"/>
                  <a:pt x="10" y="39"/>
                  <a:pt x="6" y="35"/>
                </a:cubicBezTo>
                <a:cubicBezTo>
                  <a:pt x="2" y="31"/>
                  <a:pt x="0" y="26"/>
                  <a:pt x="0" y="21"/>
                </a:cubicBezTo>
                <a:cubicBezTo>
                  <a:pt x="0" y="15"/>
                  <a:pt x="2" y="11"/>
                  <a:pt x="6" y="6"/>
                </a:cubicBezTo>
                <a:cubicBezTo>
                  <a:pt x="10" y="2"/>
                  <a:pt x="15" y="0"/>
                  <a:pt x="20" y="0"/>
                </a:cubicBezTo>
                <a:cubicBezTo>
                  <a:pt x="27" y="0"/>
                  <a:pt x="31" y="2"/>
                  <a:pt x="35" y="6"/>
                </a:cubicBezTo>
                <a:cubicBezTo>
                  <a:pt x="39" y="11"/>
                  <a:pt x="41" y="15"/>
                  <a:pt x="41" y="2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Freeform 508"/>
          <p:cNvSpPr/>
          <p:nvPr/>
        </p:nvSpPr>
        <p:spPr>
          <a:xfrm>
            <a:off x="141514" y="196128"/>
            <a:ext cx="554438" cy="494814"/>
          </a:xfrm>
          <a:custGeom>
            <a:avLst/>
            <a:gdLst/>
            <a:ahLst/>
            <a:cxnLst/>
            <a:rect l="0" t="0" r="r" b="b"/>
            <a:pathLst>
              <a:path w="675" h="711">
                <a:moveTo>
                  <a:pt x="655" y="159"/>
                </a:moveTo>
                <a:lnTo>
                  <a:pt x="573" y="159"/>
                </a:lnTo>
                <a:lnTo>
                  <a:pt x="193" y="1"/>
                </a:lnTo>
                <a:lnTo>
                  <a:pt x="192" y="1"/>
                </a:lnTo>
                <a:cubicBezTo>
                  <a:pt x="191" y="1"/>
                  <a:pt x="190" y="0"/>
                  <a:pt x="189" y="0"/>
                </a:cubicBezTo>
                <a:cubicBezTo>
                  <a:pt x="188" y="0"/>
                  <a:pt x="186" y="1"/>
                  <a:pt x="185" y="1"/>
                </a:cubicBezTo>
                <a:cubicBezTo>
                  <a:pt x="184" y="1"/>
                  <a:pt x="184" y="2"/>
                  <a:pt x="183" y="3"/>
                </a:cubicBezTo>
                <a:lnTo>
                  <a:pt x="182" y="3"/>
                </a:lnTo>
                <a:cubicBezTo>
                  <a:pt x="181" y="4"/>
                  <a:pt x="180" y="5"/>
                  <a:pt x="180" y="6"/>
                </a:cubicBezTo>
                <a:cubicBezTo>
                  <a:pt x="180" y="7"/>
                  <a:pt x="180" y="7"/>
                  <a:pt x="180" y="7"/>
                </a:cubicBezTo>
                <a:lnTo>
                  <a:pt x="69" y="162"/>
                </a:lnTo>
                <a:cubicBezTo>
                  <a:pt x="63" y="166"/>
                  <a:pt x="59" y="172"/>
                  <a:pt x="59" y="179"/>
                </a:cubicBezTo>
                <a:lnTo>
                  <a:pt x="59" y="219"/>
                </a:lnTo>
                <a:cubicBezTo>
                  <a:pt x="59" y="229"/>
                  <a:pt x="68" y="238"/>
                  <a:pt x="79" y="238"/>
                </a:cubicBezTo>
                <a:lnTo>
                  <a:pt x="109" y="238"/>
                </a:lnTo>
                <a:lnTo>
                  <a:pt x="35" y="671"/>
                </a:lnTo>
                <a:lnTo>
                  <a:pt x="0" y="671"/>
                </a:lnTo>
                <a:lnTo>
                  <a:pt x="0" y="711"/>
                </a:lnTo>
                <a:lnTo>
                  <a:pt x="377" y="711"/>
                </a:lnTo>
                <a:lnTo>
                  <a:pt x="377" y="671"/>
                </a:lnTo>
                <a:lnTo>
                  <a:pt x="342" y="671"/>
                </a:lnTo>
                <a:lnTo>
                  <a:pt x="269" y="238"/>
                </a:lnTo>
                <a:lnTo>
                  <a:pt x="655" y="238"/>
                </a:lnTo>
                <a:cubicBezTo>
                  <a:pt x="666" y="238"/>
                  <a:pt x="675" y="229"/>
                  <a:pt x="675" y="219"/>
                </a:cubicBezTo>
                <a:lnTo>
                  <a:pt x="675" y="179"/>
                </a:lnTo>
                <a:cubicBezTo>
                  <a:pt x="675" y="168"/>
                  <a:pt x="666" y="159"/>
                  <a:pt x="655" y="159"/>
                </a:cubicBezTo>
                <a:moveTo>
                  <a:pt x="223" y="238"/>
                </a:moveTo>
                <a:lnTo>
                  <a:pt x="189" y="266"/>
                </a:lnTo>
                <a:lnTo>
                  <a:pt x="155" y="238"/>
                </a:lnTo>
                <a:lnTo>
                  <a:pt x="223" y="238"/>
                </a:lnTo>
                <a:moveTo>
                  <a:pt x="189" y="418"/>
                </a:moveTo>
                <a:lnTo>
                  <a:pt x="262" y="466"/>
                </a:lnTo>
                <a:lnTo>
                  <a:pt x="189" y="505"/>
                </a:lnTo>
                <a:lnTo>
                  <a:pt x="115" y="466"/>
                </a:lnTo>
                <a:lnTo>
                  <a:pt x="189" y="418"/>
                </a:lnTo>
                <a:moveTo>
                  <a:pt x="116" y="432"/>
                </a:moveTo>
                <a:lnTo>
                  <a:pt x="125" y="377"/>
                </a:lnTo>
                <a:lnTo>
                  <a:pt x="163" y="401"/>
                </a:lnTo>
                <a:lnTo>
                  <a:pt x="116" y="432"/>
                </a:lnTo>
                <a:moveTo>
                  <a:pt x="215" y="401"/>
                </a:moveTo>
                <a:lnTo>
                  <a:pt x="252" y="377"/>
                </a:lnTo>
                <a:lnTo>
                  <a:pt x="261" y="432"/>
                </a:lnTo>
                <a:lnTo>
                  <a:pt x="215" y="401"/>
                </a:lnTo>
                <a:moveTo>
                  <a:pt x="189" y="384"/>
                </a:moveTo>
                <a:lnTo>
                  <a:pt x="132" y="346"/>
                </a:lnTo>
                <a:lnTo>
                  <a:pt x="189" y="300"/>
                </a:lnTo>
                <a:lnTo>
                  <a:pt x="245" y="346"/>
                </a:lnTo>
                <a:lnTo>
                  <a:pt x="189" y="384"/>
                </a:lnTo>
                <a:moveTo>
                  <a:pt x="138" y="307"/>
                </a:moveTo>
                <a:lnTo>
                  <a:pt x="145" y="265"/>
                </a:lnTo>
                <a:lnTo>
                  <a:pt x="168" y="283"/>
                </a:lnTo>
                <a:lnTo>
                  <a:pt x="138" y="307"/>
                </a:lnTo>
                <a:moveTo>
                  <a:pt x="210" y="283"/>
                </a:moveTo>
                <a:lnTo>
                  <a:pt x="233" y="265"/>
                </a:lnTo>
                <a:lnTo>
                  <a:pt x="240" y="307"/>
                </a:lnTo>
                <a:lnTo>
                  <a:pt x="210" y="283"/>
                </a:lnTo>
                <a:moveTo>
                  <a:pt x="95" y="159"/>
                </a:moveTo>
                <a:lnTo>
                  <a:pt x="179" y="42"/>
                </a:lnTo>
                <a:lnTo>
                  <a:pt x="179" y="119"/>
                </a:lnTo>
                <a:lnTo>
                  <a:pt x="139" y="119"/>
                </a:lnTo>
                <a:cubicBezTo>
                  <a:pt x="128" y="119"/>
                  <a:pt x="119" y="128"/>
                  <a:pt x="119" y="139"/>
                </a:cubicBezTo>
                <a:lnTo>
                  <a:pt x="119" y="159"/>
                </a:lnTo>
                <a:lnTo>
                  <a:pt x="95" y="159"/>
                </a:lnTo>
                <a:moveTo>
                  <a:pt x="106" y="491"/>
                </a:moveTo>
                <a:lnTo>
                  <a:pt x="161" y="521"/>
                </a:lnTo>
                <a:lnTo>
                  <a:pt x="95" y="556"/>
                </a:lnTo>
                <a:lnTo>
                  <a:pt x="106" y="491"/>
                </a:lnTo>
                <a:moveTo>
                  <a:pt x="302" y="671"/>
                </a:moveTo>
                <a:lnTo>
                  <a:pt x="75" y="671"/>
                </a:lnTo>
                <a:lnTo>
                  <a:pt x="89" y="590"/>
                </a:lnTo>
                <a:lnTo>
                  <a:pt x="189" y="536"/>
                </a:lnTo>
                <a:lnTo>
                  <a:pt x="288" y="590"/>
                </a:lnTo>
                <a:lnTo>
                  <a:pt x="302" y="671"/>
                </a:lnTo>
                <a:moveTo>
                  <a:pt x="272" y="491"/>
                </a:moveTo>
                <a:lnTo>
                  <a:pt x="283" y="556"/>
                </a:lnTo>
                <a:lnTo>
                  <a:pt x="217" y="521"/>
                </a:lnTo>
                <a:lnTo>
                  <a:pt x="272" y="491"/>
                </a:lnTo>
                <a:moveTo>
                  <a:pt x="259" y="159"/>
                </a:moveTo>
                <a:lnTo>
                  <a:pt x="259" y="139"/>
                </a:lnTo>
                <a:cubicBezTo>
                  <a:pt x="259" y="128"/>
                  <a:pt x="250" y="119"/>
                  <a:pt x="239" y="119"/>
                </a:cubicBezTo>
                <a:lnTo>
                  <a:pt x="199" y="119"/>
                </a:lnTo>
                <a:lnTo>
                  <a:pt x="199" y="25"/>
                </a:lnTo>
                <a:lnTo>
                  <a:pt x="522" y="159"/>
                </a:lnTo>
                <a:lnTo>
                  <a:pt x="259" y="159"/>
                </a:lnTo>
                <a:moveTo>
                  <a:pt x="298" y="219"/>
                </a:moveTo>
                <a:lnTo>
                  <a:pt x="275" y="219"/>
                </a:lnTo>
                <a:lnTo>
                  <a:pt x="275" y="179"/>
                </a:lnTo>
                <a:lnTo>
                  <a:pt x="298" y="179"/>
                </a:lnTo>
                <a:lnTo>
                  <a:pt x="298" y="219"/>
                </a:lnTo>
                <a:moveTo>
                  <a:pt x="358" y="219"/>
                </a:moveTo>
                <a:lnTo>
                  <a:pt x="318" y="219"/>
                </a:lnTo>
                <a:lnTo>
                  <a:pt x="318" y="179"/>
                </a:lnTo>
                <a:lnTo>
                  <a:pt x="358" y="179"/>
                </a:lnTo>
                <a:lnTo>
                  <a:pt x="358" y="219"/>
                </a:lnTo>
                <a:moveTo>
                  <a:pt x="417" y="219"/>
                </a:moveTo>
                <a:lnTo>
                  <a:pt x="378" y="219"/>
                </a:lnTo>
                <a:lnTo>
                  <a:pt x="378" y="179"/>
                </a:lnTo>
                <a:lnTo>
                  <a:pt x="417" y="179"/>
                </a:lnTo>
                <a:lnTo>
                  <a:pt x="417" y="219"/>
                </a:lnTo>
                <a:moveTo>
                  <a:pt x="477" y="219"/>
                </a:moveTo>
                <a:lnTo>
                  <a:pt x="437" y="219"/>
                </a:lnTo>
                <a:lnTo>
                  <a:pt x="437" y="179"/>
                </a:lnTo>
                <a:lnTo>
                  <a:pt x="477" y="179"/>
                </a:lnTo>
                <a:lnTo>
                  <a:pt x="477" y="219"/>
                </a:lnTo>
                <a:moveTo>
                  <a:pt x="536" y="219"/>
                </a:moveTo>
                <a:lnTo>
                  <a:pt x="497" y="219"/>
                </a:lnTo>
                <a:lnTo>
                  <a:pt x="497" y="179"/>
                </a:lnTo>
                <a:lnTo>
                  <a:pt x="536" y="179"/>
                </a:lnTo>
                <a:lnTo>
                  <a:pt x="536" y="219"/>
                </a:lnTo>
                <a:moveTo>
                  <a:pt x="596" y="219"/>
                </a:moveTo>
                <a:lnTo>
                  <a:pt x="556" y="219"/>
                </a:lnTo>
                <a:lnTo>
                  <a:pt x="556" y="179"/>
                </a:lnTo>
                <a:lnTo>
                  <a:pt x="596" y="179"/>
                </a:lnTo>
                <a:lnTo>
                  <a:pt x="596" y="219"/>
                </a:lnTo>
                <a:moveTo>
                  <a:pt x="655" y="209"/>
                </a:moveTo>
                <a:cubicBezTo>
                  <a:pt x="655" y="214"/>
                  <a:pt x="651" y="219"/>
                  <a:pt x="646" y="219"/>
                </a:cubicBezTo>
                <a:lnTo>
                  <a:pt x="616" y="219"/>
                </a:lnTo>
                <a:lnTo>
                  <a:pt x="616" y="179"/>
                </a:lnTo>
                <a:lnTo>
                  <a:pt x="646" y="179"/>
                </a:lnTo>
                <a:cubicBezTo>
                  <a:pt x="651" y="179"/>
                  <a:pt x="655" y="183"/>
                  <a:pt x="655" y="189"/>
                </a:cubicBezTo>
                <a:lnTo>
                  <a:pt x="655" y="209"/>
                </a:lnTo>
                <a:close/>
              </a:path>
            </a:pathLst>
          </a:custGeom>
          <a:solidFill>
            <a:srgbClr val="BD203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36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0" name="Freeform 509"/>
          <p:cNvSpPr/>
          <p:nvPr/>
        </p:nvSpPr>
        <p:spPr>
          <a:xfrm>
            <a:off x="456192" y="256176"/>
            <a:ext cx="34992" cy="34992"/>
          </a:xfrm>
          <a:custGeom>
            <a:avLst/>
            <a:gdLst/>
            <a:ahLst/>
            <a:cxnLst/>
            <a:rect l="0" t="0" r="r" b="b"/>
            <a:pathLst>
              <a:path w="81" h="81">
                <a:moveTo>
                  <a:pt x="61" y="0"/>
                </a:moveTo>
                <a:lnTo>
                  <a:pt x="21" y="0"/>
                </a:lnTo>
                <a:cubicBezTo>
                  <a:pt x="9" y="0"/>
                  <a:pt x="0" y="9"/>
                  <a:pt x="0" y="20"/>
                </a:cubicBezTo>
                <a:lnTo>
                  <a:pt x="0" y="60"/>
                </a:lnTo>
                <a:cubicBezTo>
                  <a:pt x="0" y="71"/>
                  <a:pt x="9" y="81"/>
                  <a:pt x="21" y="81"/>
                </a:cubicBezTo>
                <a:lnTo>
                  <a:pt x="81" y="81"/>
                </a:lnTo>
                <a:lnTo>
                  <a:pt x="81" y="0"/>
                </a:lnTo>
                <a:lnTo>
                  <a:pt x="61" y="0"/>
                </a:lnTo>
                <a:close/>
              </a:path>
            </a:pathLst>
          </a:custGeom>
          <a:solidFill>
            <a:srgbClr val="4B54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1" name="Freeform 510"/>
          <p:cNvSpPr/>
          <p:nvPr/>
        </p:nvSpPr>
        <p:spPr>
          <a:xfrm>
            <a:off x="473472" y="256176"/>
            <a:ext cx="17712" cy="34992"/>
          </a:xfrm>
          <a:custGeom>
            <a:avLst/>
            <a:gdLst/>
            <a:ahLst/>
            <a:cxnLst/>
            <a:rect l="0" t="0" r="r" b="b"/>
            <a:pathLst>
              <a:path w="41" h="81">
                <a:moveTo>
                  <a:pt x="0" y="0"/>
                </a:moveTo>
                <a:lnTo>
                  <a:pt x="41" y="0"/>
                </a:lnTo>
                <a:lnTo>
                  <a:pt x="41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CDD7D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Freeform 511"/>
          <p:cNvSpPr/>
          <p:nvPr/>
        </p:nvSpPr>
        <p:spPr>
          <a:xfrm>
            <a:off x="554256" y="391392"/>
            <a:ext cx="121824" cy="38448"/>
          </a:xfrm>
          <a:custGeom>
            <a:avLst/>
            <a:gdLst/>
            <a:ahLst/>
            <a:cxnLst/>
            <a:rect l="0" t="0" r="r" b="b"/>
            <a:pathLst>
              <a:path w="282" h="89">
                <a:moveTo>
                  <a:pt x="282" y="21"/>
                </a:moveTo>
                <a:lnTo>
                  <a:pt x="282" y="0"/>
                </a:lnTo>
                <a:lnTo>
                  <a:pt x="0" y="0"/>
                </a:lnTo>
                <a:lnTo>
                  <a:pt x="0" y="21"/>
                </a:lnTo>
                <a:lnTo>
                  <a:pt x="16" y="21"/>
                </a:lnTo>
                <a:lnTo>
                  <a:pt x="16" y="70"/>
                </a:lnTo>
                <a:lnTo>
                  <a:pt x="0" y="70"/>
                </a:lnTo>
                <a:lnTo>
                  <a:pt x="0" y="89"/>
                </a:lnTo>
                <a:lnTo>
                  <a:pt x="282" y="89"/>
                </a:lnTo>
                <a:lnTo>
                  <a:pt x="282" y="70"/>
                </a:lnTo>
                <a:lnTo>
                  <a:pt x="265" y="70"/>
                </a:lnTo>
                <a:lnTo>
                  <a:pt x="265" y="21"/>
                </a:lnTo>
                <a:lnTo>
                  <a:pt x="282" y="21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3" name="TextBox 512"/>
          <p:cNvSpPr txBox="1"/>
          <p:nvPr/>
        </p:nvSpPr>
        <p:spPr>
          <a:xfrm>
            <a:off x="695952" y="136944"/>
            <a:ext cx="6206827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3600" b="1" dirty="0">
                <a:solidFill>
                  <a:srgbClr val="2C3E50"/>
                </a:solidFill>
                <a:latin typeface="SegoeUI"/>
                <a:ea typeface="SegoeUI"/>
              </a:rPr>
              <a:t> </a:t>
            </a:r>
            <a:r>
              <a:rPr lang="en-IN" sz="3600" b="1" dirty="0" err="1">
                <a:solidFill>
                  <a:srgbClr val="2C3E50"/>
                </a:solidFill>
                <a:latin typeface="SegoeUI"/>
                <a:ea typeface="SegoeUI"/>
              </a:rPr>
              <a:t>Dockerfile</a:t>
            </a:r>
            <a:r>
              <a:rPr lang="en-IN" sz="3600" b="1" dirty="0">
                <a:solidFill>
                  <a:srgbClr val="2C3E50"/>
                </a:solidFill>
                <a:latin typeface="SegoeUI"/>
                <a:ea typeface="SegoeUI"/>
              </a:rPr>
              <a:t>: Building Images</a:t>
            </a:r>
            <a:endParaRPr lang="en-IN" sz="3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456192" y="1099457"/>
            <a:ext cx="3430008" cy="492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IN" sz="3200" b="1" dirty="0">
                <a:solidFill>
                  <a:srgbClr val="455A64"/>
                </a:solidFill>
                <a:latin typeface="SegoeUI"/>
                <a:ea typeface="SegoeUI"/>
              </a:rPr>
              <a:t>Best Practices:</a:t>
            </a:r>
            <a:endParaRPr lang="en-IN" sz="32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5952" y="1741714"/>
            <a:ext cx="88617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Lato" pitchFamily="34" charset="0"/>
              </a:rPr>
              <a:t>Use official base images (node, python, java)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Lato" pitchFamily="34" charset="0"/>
              </a:rPr>
              <a:t> Use smaller base images (alpine, slim)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Lato" pitchFamily="34" charset="0"/>
              </a:rPr>
              <a:t> Layer dependencies and code separately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Lato" pitchFamily="34" charset="0"/>
              </a:rPr>
              <a:t> Add `.</a:t>
            </a:r>
            <a:r>
              <a:rPr lang="en-US" sz="2800" dirty="0" err="1">
                <a:latin typeface="Lato" pitchFamily="34" charset="0"/>
              </a:rPr>
              <a:t>dockerignore</a:t>
            </a:r>
            <a:r>
              <a:rPr lang="en-US" sz="2800" dirty="0">
                <a:latin typeface="Lato" pitchFamily="34" charset="0"/>
              </a:rPr>
              <a:t>` (like `.</a:t>
            </a:r>
            <a:r>
              <a:rPr lang="en-US" sz="2800" dirty="0" err="1">
                <a:latin typeface="Lato" pitchFamily="34" charset="0"/>
              </a:rPr>
              <a:t>gitignore</a:t>
            </a:r>
            <a:r>
              <a:rPr lang="en-US" sz="2800" dirty="0">
                <a:latin typeface="Lato" pitchFamily="34" charset="0"/>
              </a:rPr>
              <a:t>` for </a:t>
            </a:r>
            <a:r>
              <a:rPr lang="en-US" sz="2800" dirty="0" err="1">
                <a:latin typeface="Lato" pitchFamily="34" charset="0"/>
              </a:rPr>
              <a:t>Docker</a:t>
            </a:r>
            <a:r>
              <a:rPr lang="en-US" sz="2800" dirty="0">
                <a:latin typeface="Lato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77EB92-46A0-83AD-D44C-8E1C2E3A888F}"/>
              </a:ext>
            </a:extLst>
          </p:cNvPr>
          <p:cNvSpPr txBox="1"/>
          <p:nvPr/>
        </p:nvSpPr>
        <p:spPr>
          <a:xfrm>
            <a:off x="3442447" y="2759469"/>
            <a:ext cx="6866965" cy="1796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IN" sz="4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 2 </a:t>
            </a:r>
          </a:p>
          <a:p>
            <a:pPr algn="ctr">
              <a:lnSpc>
                <a:spcPts val="2550"/>
              </a:lnSpc>
            </a:pPr>
            <a:endParaRPr lang="en-IN" sz="440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algn="ctr">
              <a:lnSpc>
                <a:spcPts val="2550"/>
              </a:lnSpc>
            </a:pPr>
            <a:endParaRPr lang="en-IN" sz="440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algn="ctr">
              <a:lnSpc>
                <a:spcPts val="2550"/>
              </a:lnSpc>
            </a:pPr>
            <a:endParaRPr lang="en-IN" sz="4400" dirty="0">
              <a:solidFill>
                <a:srgbClr val="27252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algn="ctr">
              <a:lnSpc>
                <a:spcPts val="2550"/>
              </a:lnSpc>
            </a:pPr>
            <a:r>
              <a:rPr lang="en-IN" sz="4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Docker &amp; Containerization</a:t>
            </a:r>
          </a:p>
        </p:txBody>
      </p:sp>
    </p:spTree>
    <p:extLst>
      <p:ext uri="{BB962C8B-B14F-4D97-AF65-F5344CB8AC3E}">
        <p14:creationId xmlns:p14="http://schemas.microsoft.com/office/powerpoint/2010/main" val="246966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Freeform 552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Freeform 55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Freeform 554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0" t="0" r="r" b="b"/>
            <a:pathLst>
              <a:path w="31830" h="16378">
                <a:moveTo>
                  <a:pt x="0" y="0"/>
                </a:moveTo>
                <a:lnTo>
                  <a:pt x="31830" y="0"/>
                </a:lnTo>
                <a:lnTo>
                  <a:pt x="31830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Freeform 555"/>
          <p:cNvSpPr/>
          <p:nvPr/>
        </p:nvSpPr>
        <p:spPr>
          <a:xfrm>
            <a:off x="342576" y="1200096"/>
            <a:ext cx="13064976" cy="4080672"/>
          </a:xfrm>
          <a:custGeom>
            <a:avLst/>
            <a:gdLst/>
            <a:ahLst/>
            <a:cxnLst/>
            <a:rect l="0" t="0" r="r" b="b"/>
            <a:pathLst>
              <a:path w="30243" h="9446">
                <a:moveTo>
                  <a:pt x="0" y="0"/>
                </a:moveTo>
                <a:lnTo>
                  <a:pt x="30243" y="0"/>
                </a:lnTo>
                <a:lnTo>
                  <a:pt x="30243" y="9446"/>
                </a:lnTo>
                <a:lnTo>
                  <a:pt x="0" y="944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Freeform 557"/>
          <p:cNvSpPr/>
          <p:nvPr/>
        </p:nvSpPr>
        <p:spPr>
          <a:xfrm>
            <a:off x="377136" y="193968"/>
            <a:ext cx="308880" cy="309312"/>
          </a:xfrm>
          <a:custGeom>
            <a:avLst/>
            <a:gdLst/>
            <a:ahLst/>
            <a:cxnLst/>
            <a:rect l="0" t="0" r="r" b="b"/>
            <a:pathLst>
              <a:path w="715" h="716">
                <a:moveTo>
                  <a:pt x="715" y="357"/>
                </a:moveTo>
                <a:cubicBezTo>
                  <a:pt x="715" y="381"/>
                  <a:pt x="713" y="404"/>
                  <a:pt x="708" y="427"/>
                </a:cubicBezTo>
                <a:cubicBezTo>
                  <a:pt x="704" y="450"/>
                  <a:pt x="697" y="473"/>
                  <a:pt x="688" y="494"/>
                </a:cubicBezTo>
                <a:cubicBezTo>
                  <a:pt x="679" y="516"/>
                  <a:pt x="668" y="536"/>
                  <a:pt x="655" y="556"/>
                </a:cubicBezTo>
                <a:cubicBezTo>
                  <a:pt x="642" y="575"/>
                  <a:pt x="627" y="593"/>
                  <a:pt x="610" y="610"/>
                </a:cubicBezTo>
                <a:cubicBezTo>
                  <a:pt x="594" y="628"/>
                  <a:pt x="576" y="642"/>
                  <a:pt x="556" y="655"/>
                </a:cubicBezTo>
                <a:cubicBezTo>
                  <a:pt x="537" y="668"/>
                  <a:pt x="516" y="680"/>
                  <a:pt x="495" y="688"/>
                </a:cubicBezTo>
                <a:cubicBezTo>
                  <a:pt x="473" y="697"/>
                  <a:pt x="450" y="704"/>
                  <a:pt x="427" y="709"/>
                </a:cubicBezTo>
                <a:cubicBezTo>
                  <a:pt x="404" y="713"/>
                  <a:pt x="381" y="716"/>
                  <a:pt x="358" y="716"/>
                </a:cubicBezTo>
                <a:cubicBezTo>
                  <a:pt x="334" y="716"/>
                  <a:pt x="311" y="713"/>
                  <a:pt x="288" y="709"/>
                </a:cubicBezTo>
                <a:cubicBezTo>
                  <a:pt x="265" y="704"/>
                  <a:pt x="243" y="697"/>
                  <a:pt x="221" y="688"/>
                </a:cubicBezTo>
                <a:cubicBezTo>
                  <a:pt x="199" y="680"/>
                  <a:pt x="178" y="668"/>
                  <a:pt x="158" y="655"/>
                </a:cubicBezTo>
                <a:cubicBezTo>
                  <a:pt x="139" y="642"/>
                  <a:pt x="121" y="628"/>
                  <a:pt x="104" y="610"/>
                </a:cubicBezTo>
                <a:cubicBezTo>
                  <a:pt x="88" y="593"/>
                  <a:pt x="73" y="575"/>
                  <a:pt x="60" y="556"/>
                </a:cubicBezTo>
                <a:cubicBezTo>
                  <a:pt x="47" y="536"/>
                  <a:pt x="36" y="516"/>
                  <a:pt x="27" y="494"/>
                </a:cubicBezTo>
                <a:cubicBezTo>
                  <a:pt x="18" y="473"/>
                  <a:pt x="11" y="450"/>
                  <a:pt x="6" y="427"/>
                </a:cubicBezTo>
                <a:cubicBezTo>
                  <a:pt x="2" y="404"/>
                  <a:pt x="0" y="381"/>
                  <a:pt x="0" y="357"/>
                </a:cubicBezTo>
                <a:cubicBezTo>
                  <a:pt x="0" y="334"/>
                  <a:pt x="2" y="311"/>
                  <a:pt x="6" y="288"/>
                </a:cubicBezTo>
                <a:cubicBezTo>
                  <a:pt x="11" y="265"/>
                  <a:pt x="18" y="242"/>
                  <a:pt x="27" y="221"/>
                </a:cubicBezTo>
                <a:cubicBezTo>
                  <a:pt x="36" y="199"/>
                  <a:pt x="47" y="179"/>
                  <a:pt x="60" y="159"/>
                </a:cubicBezTo>
                <a:cubicBezTo>
                  <a:pt x="73" y="140"/>
                  <a:pt x="88" y="121"/>
                  <a:pt x="104" y="105"/>
                </a:cubicBezTo>
                <a:cubicBezTo>
                  <a:pt x="121" y="88"/>
                  <a:pt x="139" y="74"/>
                  <a:pt x="158" y="60"/>
                </a:cubicBezTo>
                <a:cubicBezTo>
                  <a:pt x="178" y="47"/>
                  <a:pt x="199" y="36"/>
                  <a:pt x="221" y="27"/>
                </a:cubicBezTo>
                <a:cubicBezTo>
                  <a:pt x="243" y="19"/>
                  <a:pt x="265" y="12"/>
                  <a:pt x="288" y="7"/>
                </a:cubicBezTo>
                <a:cubicBezTo>
                  <a:pt x="311" y="3"/>
                  <a:pt x="334" y="0"/>
                  <a:pt x="358" y="0"/>
                </a:cubicBezTo>
                <a:cubicBezTo>
                  <a:pt x="381" y="0"/>
                  <a:pt x="404" y="3"/>
                  <a:pt x="427" y="7"/>
                </a:cubicBezTo>
                <a:cubicBezTo>
                  <a:pt x="450" y="12"/>
                  <a:pt x="473" y="19"/>
                  <a:pt x="495" y="27"/>
                </a:cubicBezTo>
                <a:cubicBezTo>
                  <a:pt x="516" y="36"/>
                  <a:pt x="537" y="47"/>
                  <a:pt x="556" y="60"/>
                </a:cubicBezTo>
                <a:cubicBezTo>
                  <a:pt x="576" y="74"/>
                  <a:pt x="594" y="88"/>
                  <a:pt x="610" y="105"/>
                </a:cubicBezTo>
                <a:cubicBezTo>
                  <a:pt x="627" y="121"/>
                  <a:pt x="642" y="140"/>
                  <a:pt x="655" y="159"/>
                </a:cubicBezTo>
                <a:cubicBezTo>
                  <a:pt x="668" y="179"/>
                  <a:pt x="679" y="199"/>
                  <a:pt x="688" y="221"/>
                </a:cubicBezTo>
                <a:cubicBezTo>
                  <a:pt x="697" y="242"/>
                  <a:pt x="704" y="265"/>
                  <a:pt x="708" y="288"/>
                </a:cubicBezTo>
                <a:cubicBezTo>
                  <a:pt x="713" y="311"/>
                  <a:pt x="715" y="334"/>
                  <a:pt x="715" y="357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Freeform 558"/>
          <p:cNvSpPr/>
          <p:nvPr/>
        </p:nvSpPr>
        <p:spPr>
          <a:xfrm>
            <a:off x="415584" y="232848"/>
            <a:ext cx="231984" cy="231552"/>
          </a:xfrm>
          <a:custGeom>
            <a:avLst/>
            <a:gdLst/>
            <a:ahLst/>
            <a:cxnLst/>
            <a:rect l="0" t="0" r="r" b="b"/>
            <a:pathLst>
              <a:path w="537" h="536">
                <a:moveTo>
                  <a:pt x="537" y="268"/>
                </a:moveTo>
                <a:cubicBezTo>
                  <a:pt x="537" y="286"/>
                  <a:pt x="535" y="303"/>
                  <a:pt x="532" y="321"/>
                </a:cubicBezTo>
                <a:cubicBezTo>
                  <a:pt x="528" y="338"/>
                  <a:pt x="523" y="355"/>
                  <a:pt x="516" y="371"/>
                </a:cubicBezTo>
                <a:cubicBezTo>
                  <a:pt x="510" y="387"/>
                  <a:pt x="501" y="403"/>
                  <a:pt x="492" y="417"/>
                </a:cubicBezTo>
                <a:cubicBezTo>
                  <a:pt x="482" y="432"/>
                  <a:pt x="471" y="445"/>
                  <a:pt x="458" y="458"/>
                </a:cubicBezTo>
                <a:cubicBezTo>
                  <a:pt x="446" y="470"/>
                  <a:pt x="432" y="481"/>
                  <a:pt x="418" y="491"/>
                </a:cubicBezTo>
                <a:cubicBezTo>
                  <a:pt x="403" y="501"/>
                  <a:pt x="388" y="509"/>
                  <a:pt x="370" y="516"/>
                </a:cubicBezTo>
                <a:cubicBezTo>
                  <a:pt x="354" y="523"/>
                  <a:pt x="337" y="528"/>
                  <a:pt x="320" y="531"/>
                </a:cubicBezTo>
                <a:cubicBezTo>
                  <a:pt x="303" y="535"/>
                  <a:pt x="285" y="536"/>
                  <a:pt x="268" y="536"/>
                </a:cubicBezTo>
                <a:cubicBezTo>
                  <a:pt x="250" y="536"/>
                  <a:pt x="233" y="535"/>
                  <a:pt x="216" y="531"/>
                </a:cubicBezTo>
                <a:cubicBezTo>
                  <a:pt x="198" y="528"/>
                  <a:pt x="182" y="523"/>
                  <a:pt x="165" y="516"/>
                </a:cubicBezTo>
                <a:cubicBezTo>
                  <a:pt x="149" y="509"/>
                  <a:pt x="134" y="501"/>
                  <a:pt x="119" y="491"/>
                </a:cubicBezTo>
                <a:cubicBezTo>
                  <a:pt x="104" y="481"/>
                  <a:pt x="91" y="470"/>
                  <a:pt x="78" y="458"/>
                </a:cubicBezTo>
                <a:cubicBezTo>
                  <a:pt x="66" y="445"/>
                  <a:pt x="55" y="432"/>
                  <a:pt x="45" y="417"/>
                </a:cubicBezTo>
                <a:cubicBezTo>
                  <a:pt x="35" y="403"/>
                  <a:pt x="27" y="387"/>
                  <a:pt x="20" y="371"/>
                </a:cubicBezTo>
                <a:cubicBezTo>
                  <a:pt x="14" y="355"/>
                  <a:pt x="9" y="338"/>
                  <a:pt x="5" y="321"/>
                </a:cubicBezTo>
                <a:cubicBezTo>
                  <a:pt x="2" y="303"/>
                  <a:pt x="0" y="286"/>
                  <a:pt x="0" y="268"/>
                </a:cubicBezTo>
                <a:cubicBezTo>
                  <a:pt x="0" y="250"/>
                  <a:pt x="2" y="232"/>
                  <a:pt x="5" y="215"/>
                </a:cubicBezTo>
                <a:cubicBezTo>
                  <a:pt x="9" y="198"/>
                  <a:pt x="14" y="181"/>
                  <a:pt x="20" y="165"/>
                </a:cubicBezTo>
                <a:cubicBezTo>
                  <a:pt x="27" y="149"/>
                  <a:pt x="35" y="133"/>
                  <a:pt x="45" y="119"/>
                </a:cubicBezTo>
                <a:cubicBezTo>
                  <a:pt x="55" y="104"/>
                  <a:pt x="66" y="90"/>
                  <a:pt x="78" y="78"/>
                </a:cubicBezTo>
                <a:cubicBezTo>
                  <a:pt x="91" y="66"/>
                  <a:pt x="104" y="55"/>
                  <a:pt x="119" y="45"/>
                </a:cubicBezTo>
                <a:cubicBezTo>
                  <a:pt x="134" y="35"/>
                  <a:pt x="149" y="27"/>
                  <a:pt x="165" y="20"/>
                </a:cubicBezTo>
                <a:cubicBezTo>
                  <a:pt x="182" y="13"/>
                  <a:pt x="198" y="8"/>
                  <a:pt x="216" y="5"/>
                </a:cubicBezTo>
                <a:cubicBezTo>
                  <a:pt x="233" y="1"/>
                  <a:pt x="250" y="0"/>
                  <a:pt x="268" y="0"/>
                </a:cubicBezTo>
                <a:cubicBezTo>
                  <a:pt x="285" y="0"/>
                  <a:pt x="303" y="1"/>
                  <a:pt x="320" y="5"/>
                </a:cubicBezTo>
                <a:cubicBezTo>
                  <a:pt x="337" y="8"/>
                  <a:pt x="354" y="13"/>
                  <a:pt x="370" y="20"/>
                </a:cubicBezTo>
                <a:cubicBezTo>
                  <a:pt x="388" y="27"/>
                  <a:pt x="403" y="35"/>
                  <a:pt x="418" y="45"/>
                </a:cubicBezTo>
                <a:cubicBezTo>
                  <a:pt x="432" y="55"/>
                  <a:pt x="446" y="66"/>
                  <a:pt x="458" y="78"/>
                </a:cubicBezTo>
                <a:cubicBezTo>
                  <a:pt x="471" y="90"/>
                  <a:pt x="482" y="104"/>
                  <a:pt x="492" y="119"/>
                </a:cubicBezTo>
                <a:cubicBezTo>
                  <a:pt x="501" y="133"/>
                  <a:pt x="510" y="149"/>
                  <a:pt x="516" y="165"/>
                </a:cubicBezTo>
                <a:cubicBezTo>
                  <a:pt x="523" y="181"/>
                  <a:pt x="528" y="198"/>
                  <a:pt x="532" y="215"/>
                </a:cubicBezTo>
                <a:cubicBezTo>
                  <a:pt x="535" y="232"/>
                  <a:pt x="537" y="250"/>
                  <a:pt x="537" y="2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Freeform 559"/>
          <p:cNvSpPr/>
          <p:nvPr/>
        </p:nvSpPr>
        <p:spPr>
          <a:xfrm>
            <a:off x="445392" y="262656"/>
            <a:ext cx="171936" cy="171936"/>
          </a:xfrm>
          <a:custGeom>
            <a:avLst/>
            <a:gdLst/>
            <a:ahLst/>
            <a:cxnLst/>
            <a:rect l="0" t="0" r="r" b="b"/>
            <a:pathLst>
              <a:path w="398" h="398">
                <a:moveTo>
                  <a:pt x="398" y="198"/>
                </a:moveTo>
                <a:cubicBezTo>
                  <a:pt x="398" y="212"/>
                  <a:pt x="397" y="224"/>
                  <a:pt x="394" y="237"/>
                </a:cubicBezTo>
                <a:cubicBezTo>
                  <a:pt x="392" y="250"/>
                  <a:pt x="388" y="262"/>
                  <a:pt x="383" y="274"/>
                </a:cubicBezTo>
                <a:cubicBezTo>
                  <a:pt x="378" y="286"/>
                  <a:pt x="372" y="298"/>
                  <a:pt x="365" y="309"/>
                </a:cubicBezTo>
                <a:cubicBezTo>
                  <a:pt x="358" y="320"/>
                  <a:pt x="348" y="330"/>
                  <a:pt x="339" y="339"/>
                </a:cubicBezTo>
                <a:cubicBezTo>
                  <a:pt x="330" y="348"/>
                  <a:pt x="320" y="356"/>
                  <a:pt x="309" y="363"/>
                </a:cubicBezTo>
                <a:cubicBezTo>
                  <a:pt x="298" y="371"/>
                  <a:pt x="287" y="377"/>
                  <a:pt x="275" y="383"/>
                </a:cubicBezTo>
                <a:cubicBezTo>
                  <a:pt x="263" y="388"/>
                  <a:pt x="250" y="392"/>
                  <a:pt x="238" y="394"/>
                </a:cubicBezTo>
                <a:cubicBezTo>
                  <a:pt x="225" y="397"/>
                  <a:pt x="212" y="398"/>
                  <a:pt x="199" y="398"/>
                </a:cubicBezTo>
                <a:cubicBezTo>
                  <a:pt x="186" y="398"/>
                  <a:pt x="173" y="397"/>
                  <a:pt x="160" y="394"/>
                </a:cubicBezTo>
                <a:cubicBezTo>
                  <a:pt x="147" y="392"/>
                  <a:pt x="135" y="388"/>
                  <a:pt x="123" y="383"/>
                </a:cubicBezTo>
                <a:cubicBezTo>
                  <a:pt x="111" y="377"/>
                  <a:pt x="99" y="371"/>
                  <a:pt x="89" y="363"/>
                </a:cubicBezTo>
                <a:cubicBezTo>
                  <a:pt x="78" y="356"/>
                  <a:pt x="68" y="348"/>
                  <a:pt x="58" y="339"/>
                </a:cubicBezTo>
                <a:cubicBezTo>
                  <a:pt x="49" y="330"/>
                  <a:pt x="41" y="320"/>
                  <a:pt x="34" y="309"/>
                </a:cubicBezTo>
                <a:cubicBezTo>
                  <a:pt x="27" y="298"/>
                  <a:pt x="20" y="286"/>
                  <a:pt x="15" y="274"/>
                </a:cubicBezTo>
                <a:cubicBezTo>
                  <a:pt x="10" y="262"/>
                  <a:pt x="7" y="250"/>
                  <a:pt x="4" y="237"/>
                </a:cubicBezTo>
                <a:cubicBezTo>
                  <a:pt x="2" y="224"/>
                  <a:pt x="0" y="212"/>
                  <a:pt x="0" y="198"/>
                </a:cubicBez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7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cubicBezTo>
                  <a:pt x="212" y="0"/>
                  <a:pt x="225" y="1"/>
                  <a:pt x="238" y="4"/>
                </a:cubicBezTo>
                <a:cubicBezTo>
                  <a:pt x="250" y="6"/>
                  <a:pt x="263" y="10"/>
                  <a:pt x="275" y="15"/>
                </a:cubicBezTo>
                <a:cubicBezTo>
                  <a:pt x="287" y="20"/>
                  <a:pt x="298" y="26"/>
                  <a:pt x="309" y="33"/>
                </a:cubicBezTo>
                <a:cubicBezTo>
                  <a:pt x="320" y="41"/>
                  <a:pt x="330" y="49"/>
                  <a:pt x="339" y="58"/>
                </a:cubicBezTo>
                <a:cubicBezTo>
                  <a:pt x="348" y="67"/>
                  <a:pt x="358" y="77"/>
                  <a:pt x="365" y="88"/>
                </a:cubicBezTo>
                <a:cubicBezTo>
                  <a:pt x="372" y="99"/>
                  <a:pt x="378" y="111"/>
                  <a:pt x="383" y="123"/>
                </a:cubicBezTo>
                <a:cubicBezTo>
                  <a:pt x="388" y="135"/>
                  <a:pt x="392" y="147"/>
                  <a:pt x="394" y="160"/>
                </a:cubicBezTo>
                <a:cubicBezTo>
                  <a:pt x="397" y="173"/>
                  <a:pt x="398" y="185"/>
                  <a:pt x="398" y="19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Freeform 560"/>
          <p:cNvSpPr/>
          <p:nvPr/>
        </p:nvSpPr>
        <p:spPr>
          <a:xfrm>
            <a:off x="479952" y="296784"/>
            <a:ext cx="103248" cy="103680"/>
          </a:xfrm>
          <a:custGeom>
            <a:avLst/>
            <a:gdLst/>
            <a:ahLst/>
            <a:cxn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2" y="216"/>
                  <a:pt x="179" y="224"/>
                  <a:pt x="164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9"/>
                </a:cubicBezTo>
                <a:cubicBezTo>
                  <a:pt x="179" y="16"/>
                  <a:pt x="192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Freeform 561"/>
          <p:cNvSpPr/>
          <p:nvPr/>
        </p:nvSpPr>
        <p:spPr>
          <a:xfrm>
            <a:off x="505440" y="322704"/>
            <a:ext cx="51840" cy="51840"/>
          </a:xfrm>
          <a:custGeom>
            <a:avLst/>
            <a:gdLst/>
            <a:ahLst/>
            <a:cxnLst/>
            <a:rect l="0" t="0" r="r" b="b"/>
            <a:pathLst>
              <a:path w="120" h="120">
                <a:moveTo>
                  <a:pt x="120" y="60"/>
                </a:moveTo>
                <a:cubicBezTo>
                  <a:pt x="120" y="68"/>
                  <a:pt x="119" y="76"/>
                  <a:pt x="116" y="83"/>
                </a:cubicBezTo>
                <a:cubicBezTo>
                  <a:pt x="113" y="91"/>
                  <a:pt x="108" y="97"/>
                  <a:pt x="103" y="103"/>
                </a:cubicBezTo>
                <a:cubicBezTo>
                  <a:pt x="97" y="108"/>
                  <a:pt x="91" y="112"/>
                  <a:pt x="84" y="115"/>
                </a:cubicBezTo>
                <a:cubicBezTo>
                  <a:pt x="75" y="118"/>
                  <a:pt x="68" y="120"/>
                  <a:pt x="60" y="120"/>
                </a:cubicBezTo>
                <a:cubicBezTo>
                  <a:pt x="52" y="120"/>
                  <a:pt x="44" y="118"/>
                  <a:pt x="37" y="115"/>
                </a:cubicBezTo>
                <a:cubicBezTo>
                  <a:pt x="30" y="112"/>
                  <a:pt x="23" y="108"/>
                  <a:pt x="18" y="103"/>
                </a:cubicBezTo>
                <a:cubicBezTo>
                  <a:pt x="12" y="97"/>
                  <a:pt x="8" y="91"/>
                  <a:pt x="5" y="83"/>
                </a:cubicBezTo>
                <a:cubicBezTo>
                  <a:pt x="2" y="76"/>
                  <a:pt x="0" y="68"/>
                  <a:pt x="0" y="60"/>
                </a:cubicBezTo>
                <a:cubicBezTo>
                  <a:pt x="0" y="53"/>
                  <a:pt x="2" y="45"/>
                  <a:pt x="5" y="38"/>
                </a:cubicBezTo>
                <a:cubicBezTo>
                  <a:pt x="8" y="30"/>
                  <a:pt x="12" y="23"/>
                  <a:pt x="18" y="17"/>
                </a:cubicBezTo>
                <a:cubicBezTo>
                  <a:pt x="23" y="12"/>
                  <a:pt x="30" y="8"/>
                  <a:pt x="37" y="4"/>
                </a:cubicBezTo>
                <a:cubicBezTo>
                  <a:pt x="44" y="1"/>
                  <a:pt x="52" y="0"/>
                  <a:pt x="60" y="0"/>
                </a:cubicBezTo>
                <a:cubicBezTo>
                  <a:pt x="68" y="0"/>
                  <a:pt x="75" y="1"/>
                  <a:pt x="84" y="4"/>
                </a:cubicBezTo>
                <a:cubicBezTo>
                  <a:pt x="91" y="8"/>
                  <a:pt x="97" y="12"/>
                  <a:pt x="103" y="17"/>
                </a:cubicBezTo>
                <a:cubicBezTo>
                  <a:pt x="108" y="23"/>
                  <a:pt x="113" y="30"/>
                  <a:pt x="116" y="38"/>
                </a:cubicBezTo>
                <a:cubicBezTo>
                  <a:pt x="119" y="45"/>
                  <a:pt x="120" y="53"/>
                  <a:pt x="120" y="6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Freeform 562"/>
          <p:cNvSpPr/>
          <p:nvPr/>
        </p:nvSpPr>
        <p:spPr>
          <a:xfrm>
            <a:off x="527472" y="350784"/>
            <a:ext cx="118800" cy="145152"/>
          </a:xfrm>
          <a:custGeom>
            <a:avLst/>
            <a:gdLst/>
            <a:ahLst/>
            <a:cxnLst/>
            <a:rect l="0" t="0" r="r" b="b"/>
            <a:pathLst>
              <a:path w="275" h="336">
                <a:moveTo>
                  <a:pt x="15" y="0"/>
                </a:moveTo>
                <a:lnTo>
                  <a:pt x="275" y="234"/>
                </a:lnTo>
                <a:cubicBezTo>
                  <a:pt x="275" y="234"/>
                  <a:pt x="223" y="301"/>
                  <a:pt x="119" y="336"/>
                </a:cubicBezTo>
                <a:lnTo>
                  <a:pt x="0" y="3"/>
                </a:lnTo>
                <a:lnTo>
                  <a:pt x="15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Freeform 563"/>
          <p:cNvSpPr/>
          <p:nvPr/>
        </p:nvSpPr>
        <p:spPr>
          <a:xfrm>
            <a:off x="525312" y="335232"/>
            <a:ext cx="22032" cy="22464"/>
          </a:xfrm>
          <a:custGeom>
            <a:avLst/>
            <a:gdLst/>
            <a:ahLst/>
            <a:cxnLst/>
            <a:rect l="0" t="0" r="r" b="b"/>
            <a:pathLst>
              <a:path w="51" h="52">
                <a:moveTo>
                  <a:pt x="21" y="52"/>
                </a:moveTo>
                <a:cubicBezTo>
                  <a:pt x="16" y="52"/>
                  <a:pt x="11" y="49"/>
                  <a:pt x="6" y="46"/>
                </a:cubicBezTo>
                <a:cubicBezTo>
                  <a:pt x="-2" y="38"/>
                  <a:pt x="-2" y="25"/>
                  <a:pt x="6" y="18"/>
                </a:cubicBezTo>
                <a:lnTo>
                  <a:pt x="18" y="6"/>
                </a:lnTo>
                <a:cubicBezTo>
                  <a:pt x="26" y="-2"/>
                  <a:pt x="38" y="-2"/>
                  <a:pt x="46" y="6"/>
                </a:cubicBezTo>
                <a:cubicBezTo>
                  <a:pt x="53" y="14"/>
                  <a:pt x="53" y="27"/>
                  <a:pt x="46" y="34"/>
                </a:cubicBezTo>
                <a:lnTo>
                  <a:pt x="35" y="46"/>
                </a:lnTo>
                <a:cubicBezTo>
                  <a:pt x="31" y="49"/>
                  <a:pt x="26" y="52"/>
                  <a:pt x="21" y="52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Freeform 564"/>
          <p:cNvSpPr/>
          <p:nvPr/>
        </p:nvSpPr>
        <p:spPr>
          <a:xfrm>
            <a:off x="581472" y="193968"/>
            <a:ext cx="104544" cy="104544"/>
          </a:xfrm>
          <a:custGeom>
            <a:avLst/>
            <a:gdLst/>
            <a:ahLst/>
            <a:cxnLst/>
            <a:rect l="0" t="0" r="r" b="b"/>
            <a:pathLst>
              <a:path w="242" h="242">
                <a:moveTo>
                  <a:pt x="4" y="139"/>
                </a:moveTo>
                <a:cubicBezTo>
                  <a:pt x="-4" y="181"/>
                  <a:pt x="4" y="233"/>
                  <a:pt x="4" y="233"/>
                </a:cubicBezTo>
                <a:lnTo>
                  <a:pt x="144" y="85"/>
                </a:lnTo>
                <a:cubicBezTo>
                  <a:pt x="150" y="56"/>
                  <a:pt x="134" y="7"/>
                  <a:pt x="110" y="1"/>
                </a:cubicBezTo>
                <a:cubicBezTo>
                  <a:pt x="86" y="-5"/>
                  <a:pt x="29" y="17"/>
                  <a:pt x="4" y="139"/>
                </a:cubicBezTo>
                <a:moveTo>
                  <a:pt x="103" y="239"/>
                </a:moveTo>
                <a:cubicBezTo>
                  <a:pt x="62" y="247"/>
                  <a:pt x="10" y="239"/>
                  <a:pt x="10" y="239"/>
                </a:cubicBezTo>
                <a:lnTo>
                  <a:pt x="157" y="98"/>
                </a:lnTo>
                <a:cubicBezTo>
                  <a:pt x="186" y="92"/>
                  <a:pt x="236" y="109"/>
                  <a:pt x="242" y="132"/>
                </a:cubicBezTo>
                <a:cubicBezTo>
                  <a:pt x="248" y="157"/>
                  <a:pt x="226" y="214"/>
                  <a:pt x="103" y="239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Freeform 565"/>
          <p:cNvSpPr/>
          <p:nvPr/>
        </p:nvSpPr>
        <p:spPr>
          <a:xfrm>
            <a:off x="532656" y="221184"/>
            <a:ext cx="128736" cy="128304"/>
          </a:xfrm>
          <a:custGeom>
            <a:avLst/>
            <a:gdLst/>
            <a:ahLst/>
            <a:cxnLst/>
            <a:rect l="0" t="0" r="r" b="b"/>
            <a:pathLst>
              <a:path w="298" h="297">
                <a:moveTo>
                  <a:pt x="291" y="26"/>
                </a:moveTo>
                <a:lnTo>
                  <a:pt x="60" y="287"/>
                </a:lnTo>
                <a:cubicBezTo>
                  <a:pt x="53" y="294"/>
                  <a:pt x="27" y="305"/>
                  <a:pt x="10" y="288"/>
                </a:cubicBezTo>
                <a:cubicBezTo>
                  <a:pt x="-7" y="272"/>
                  <a:pt x="2" y="247"/>
                  <a:pt x="9" y="240"/>
                </a:cubicBezTo>
                <a:lnTo>
                  <a:pt x="272" y="7"/>
                </a:lnTo>
                <a:cubicBezTo>
                  <a:pt x="272" y="7"/>
                  <a:pt x="285" y="-6"/>
                  <a:pt x="295" y="4"/>
                </a:cubicBezTo>
                <a:cubicBezTo>
                  <a:pt x="305" y="13"/>
                  <a:pt x="291" y="26"/>
                  <a:pt x="291" y="26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695952" y="136944"/>
            <a:ext cx="5592878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2C3E50"/>
                </a:solidFill>
                <a:latin typeface="SegoeUI"/>
                <a:ea typeface="SegoeUI"/>
              </a:rPr>
              <a:t> Our Project: Calculator </a:t>
            </a:r>
            <a:r>
              <a:rPr lang="en-IN" sz="2400" b="1" dirty="0" err="1">
                <a:solidFill>
                  <a:srgbClr val="2C3E50"/>
                </a:solidFill>
                <a:latin typeface="SegoeUI"/>
                <a:ea typeface="SegoeUI"/>
              </a:rPr>
              <a:t>Microservices</a:t>
            </a:r>
            <a:endParaRPr lang="en-IN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343008" y="750384"/>
            <a:ext cx="127759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Architecture: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461376" y="1382832"/>
            <a:ext cx="525143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┌─────────────────────────────────────┐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461376" y="170380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591408" y="1682640"/>
            <a:ext cx="3517951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 API Gateway (Router)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5848848" y="170380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461376" y="2024784"/>
            <a:ext cx="525143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├─────────────────────────────────────┤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461376" y="234576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591408" y="2324592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875664" y="234576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1005696" y="2324592"/>
            <a:ext cx="20197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432080" y="234576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TextBox 578"/>
          <p:cNvSpPr txBox="1"/>
          <p:nvPr/>
        </p:nvSpPr>
        <p:spPr>
          <a:xfrm>
            <a:off x="1562112" y="2324592"/>
            <a:ext cx="26930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2130624" y="234576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TextBox 580"/>
          <p:cNvSpPr txBox="1"/>
          <p:nvPr/>
        </p:nvSpPr>
        <p:spPr>
          <a:xfrm>
            <a:off x="2260656" y="2324592"/>
            <a:ext cx="26930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TextBox 581"/>
          <p:cNvSpPr txBox="1"/>
          <p:nvPr/>
        </p:nvSpPr>
        <p:spPr>
          <a:xfrm>
            <a:off x="2829168" y="234576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TextBox 582"/>
          <p:cNvSpPr txBox="1"/>
          <p:nvPr/>
        </p:nvSpPr>
        <p:spPr>
          <a:xfrm>
            <a:off x="461376" y="26671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TextBox 583"/>
          <p:cNvSpPr txBox="1"/>
          <p:nvPr/>
        </p:nvSpPr>
        <p:spPr>
          <a:xfrm>
            <a:off x="591408" y="26455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TextBox 584"/>
          <p:cNvSpPr txBox="1"/>
          <p:nvPr/>
        </p:nvSpPr>
        <p:spPr>
          <a:xfrm>
            <a:off x="875664" y="26671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1005696" y="2645568"/>
            <a:ext cx="20197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TextBox 586"/>
          <p:cNvSpPr txBox="1"/>
          <p:nvPr/>
        </p:nvSpPr>
        <p:spPr>
          <a:xfrm>
            <a:off x="1432080" y="26671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TextBox 587"/>
          <p:cNvSpPr txBox="1"/>
          <p:nvPr/>
        </p:nvSpPr>
        <p:spPr>
          <a:xfrm>
            <a:off x="1562112" y="2645568"/>
            <a:ext cx="26930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2130624" y="26671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2260656" y="2645568"/>
            <a:ext cx="26930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2829168" y="2667168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461376" y="2988144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591408" y="2966544"/>
            <a:ext cx="263309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Add Sub Multiply Divide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461376" y="3309120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TextBox 594"/>
          <p:cNvSpPr txBox="1"/>
          <p:nvPr/>
        </p:nvSpPr>
        <p:spPr>
          <a:xfrm>
            <a:off x="591408" y="3287520"/>
            <a:ext cx="240450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MS  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MS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MS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MS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461376" y="3630096"/>
            <a:ext cx="525143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└─────────────────────────────────────┘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TextBox 596"/>
          <p:cNvSpPr txBox="1"/>
          <p:nvPr/>
        </p:nvSpPr>
        <p:spPr>
          <a:xfrm>
            <a:off x="461376" y="3929472"/>
            <a:ext cx="47128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TextBox 597"/>
          <p:cNvSpPr txBox="1"/>
          <p:nvPr/>
        </p:nvSpPr>
        <p:spPr>
          <a:xfrm>
            <a:off x="1455840" y="3951072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TextBox 598"/>
          <p:cNvSpPr txBox="1"/>
          <p:nvPr/>
        </p:nvSpPr>
        <p:spPr>
          <a:xfrm>
            <a:off x="461376" y="4250448"/>
            <a:ext cx="2455800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Hub Registry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TextBox 599"/>
          <p:cNvSpPr txBox="1"/>
          <p:nvPr/>
        </p:nvSpPr>
        <p:spPr>
          <a:xfrm>
            <a:off x="461376" y="4571424"/>
            <a:ext cx="47128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1455840" y="4593024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461376" y="4892832"/>
            <a:ext cx="359899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Kubernetes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Cluster (Tomorrow!)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TextBox 603"/>
          <p:cNvSpPr txBox="1"/>
          <p:nvPr/>
        </p:nvSpPr>
        <p:spPr>
          <a:xfrm>
            <a:off x="461376" y="6082128"/>
            <a:ext cx="268983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calculator-microservices/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461376" y="6424704"/>
            <a:ext cx="40395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├──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851904" y="6403104"/>
            <a:ext cx="104515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gateway/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461376" y="6745680"/>
            <a:ext cx="40395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├──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TextBox 607"/>
          <p:cNvSpPr txBox="1"/>
          <p:nvPr/>
        </p:nvSpPr>
        <p:spPr>
          <a:xfrm>
            <a:off x="851904" y="6724080"/>
            <a:ext cx="139942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add-service/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461376" y="7066656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Consolas"/>
                <a:ea typeface="Consolas"/>
              </a:rPr>
              <a:t>├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TextBox 609"/>
          <p:cNvSpPr txBox="1"/>
          <p:nvPr/>
        </p:nvSpPr>
        <p:spPr>
          <a:xfrm>
            <a:off x="1277856" y="7045056"/>
            <a:ext cx="136256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b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2840832" y="7045056"/>
            <a:ext cx="5450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i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TextBox 611"/>
          <p:cNvSpPr txBox="1"/>
          <p:nvPr/>
        </p:nvSpPr>
        <p:spPr>
          <a:xfrm>
            <a:off x="3267216" y="7045056"/>
            <a:ext cx="67326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/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Freeform 61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Freeform 614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Freeform 615"/>
          <p:cNvSpPr/>
          <p:nvPr/>
        </p:nvSpPr>
        <p:spPr>
          <a:xfrm>
            <a:off x="0" y="0"/>
            <a:ext cx="13750560" cy="7075296"/>
          </a:xfrm>
          <a:custGeom>
            <a:avLst/>
            <a:gdLst/>
            <a:ahLst/>
            <a:cxnLst/>
            <a:rect l="0" t="0" r="r" b="b"/>
            <a:pathLst>
              <a:path w="31830" h="16378">
                <a:moveTo>
                  <a:pt x="0" y="0"/>
                </a:moveTo>
                <a:lnTo>
                  <a:pt x="31830" y="0"/>
                </a:lnTo>
                <a:lnTo>
                  <a:pt x="31830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Freeform 616"/>
          <p:cNvSpPr/>
          <p:nvPr/>
        </p:nvSpPr>
        <p:spPr>
          <a:xfrm>
            <a:off x="342576" y="1200096"/>
            <a:ext cx="13064976" cy="1851984"/>
          </a:xfrm>
          <a:custGeom>
            <a:avLst/>
            <a:gdLst/>
            <a:ahLst/>
            <a:cxnLst/>
            <a:rect l="0" t="0" r="r" b="b"/>
            <a:pathLst>
              <a:path w="30243" h="4287">
                <a:moveTo>
                  <a:pt x="0" y="0"/>
                </a:moveTo>
                <a:lnTo>
                  <a:pt x="30243" y="0"/>
                </a:lnTo>
                <a:lnTo>
                  <a:pt x="30243" y="4287"/>
                </a:lnTo>
                <a:lnTo>
                  <a:pt x="0" y="428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8" name="Freeform 617"/>
          <p:cNvSpPr/>
          <p:nvPr/>
        </p:nvSpPr>
        <p:spPr>
          <a:xfrm>
            <a:off x="342576" y="3691872"/>
            <a:ext cx="13064976" cy="891648"/>
          </a:xfrm>
          <a:custGeom>
            <a:avLst/>
            <a:gdLst/>
            <a:ahLst/>
            <a:cxnLst/>
            <a:rect l="0" t="0" r="r" b="b"/>
            <a:pathLst>
              <a:path w="30243" h="2064">
                <a:moveTo>
                  <a:pt x="0" y="0"/>
                </a:moveTo>
                <a:lnTo>
                  <a:pt x="30243" y="0"/>
                </a:lnTo>
                <a:lnTo>
                  <a:pt x="30243" y="2064"/>
                </a:lnTo>
                <a:lnTo>
                  <a:pt x="0" y="206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Freeform 618"/>
          <p:cNvSpPr/>
          <p:nvPr/>
        </p:nvSpPr>
        <p:spPr>
          <a:xfrm>
            <a:off x="342576" y="5234544"/>
            <a:ext cx="13064976" cy="1840752"/>
          </a:xfrm>
          <a:custGeom>
            <a:avLst/>
            <a:gdLst/>
            <a:ahLst/>
            <a:cxnLst/>
            <a:rect l="0" t="0" r="r" b="b"/>
            <a:pathLst>
              <a:path w="30243" h="4261">
                <a:moveTo>
                  <a:pt x="0" y="0"/>
                </a:moveTo>
                <a:lnTo>
                  <a:pt x="30243" y="0"/>
                </a:lnTo>
                <a:lnTo>
                  <a:pt x="30243" y="4261"/>
                </a:lnTo>
                <a:lnTo>
                  <a:pt x="0" y="426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0" name="Freeform 619"/>
          <p:cNvSpPr/>
          <p:nvPr/>
        </p:nvSpPr>
        <p:spPr>
          <a:xfrm>
            <a:off x="377136" y="245376"/>
            <a:ext cx="308880" cy="257904"/>
          </a:xfrm>
          <a:custGeom>
            <a:avLst/>
            <a:gdLst/>
            <a:ahLst/>
            <a:cxnLst/>
            <a:rect l="0" t="0" r="r" b="b"/>
            <a:pathLst>
              <a:path w="715" h="597">
                <a:moveTo>
                  <a:pt x="675" y="460"/>
                </a:moveTo>
                <a:cubicBezTo>
                  <a:pt x="667" y="441"/>
                  <a:pt x="658" y="420"/>
                  <a:pt x="636" y="420"/>
                </a:cubicBezTo>
                <a:lnTo>
                  <a:pt x="616" y="420"/>
                </a:lnTo>
                <a:cubicBezTo>
                  <a:pt x="638" y="420"/>
                  <a:pt x="655" y="402"/>
                  <a:pt x="655" y="380"/>
                </a:cubicBezTo>
                <a:lnTo>
                  <a:pt x="655" y="40"/>
                </a:lnTo>
                <a:cubicBezTo>
                  <a:pt x="655" y="18"/>
                  <a:pt x="638" y="0"/>
                  <a:pt x="616" y="0"/>
                </a:cubicBezTo>
                <a:lnTo>
                  <a:pt x="99" y="0"/>
                </a:lnTo>
                <a:cubicBezTo>
                  <a:pt x="77" y="0"/>
                  <a:pt x="59" y="18"/>
                  <a:pt x="59" y="40"/>
                </a:cubicBezTo>
                <a:lnTo>
                  <a:pt x="59" y="380"/>
                </a:lnTo>
                <a:cubicBezTo>
                  <a:pt x="59" y="402"/>
                  <a:pt x="77" y="420"/>
                  <a:pt x="99" y="420"/>
                </a:cubicBezTo>
                <a:lnTo>
                  <a:pt x="79" y="420"/>
                </a:lnTo>
                <a:cubicBezTo>
                  <a:pt x="57" y="420"/>
                  <a:pt x="46" y="440"/>
                  <a:pt x="39" y="460"/>
                </a:cubicBezTo>
                <a:lnTo>
                  <a:pt x="0" y="557"/>
                </a:lnTo>
                <a:cubicBezTo>
                  <a:pt x="0" y="579"/>
                  <a:pt x="17" y="597"/>
                  <a:pt x="39" y="597"/>
                </a:cubicBezTo>
                <a:lnTo>
                  <a:pt x="675" y="597"/>
                </a:lnTo>
                <a:cubicBezTo>
                  <a:pt x="697" y="597"/>
                  <a:pt x="715" y="579"/>
                  <a:pt x="715" y="557"/>
                </a:cubicBezTo>
                <a:lnTo>
                  <a:pt x="675" y="46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Freeform 620"/>
          <p:cNvSpPr/>
          <p:nvPr/>
        </p:nvSpPr>
        <p:spPr>
          <a:xfrm>
            <a:off x="377136" y="486000"/>
            <a:ext cx="308880" cy="17280"/>
          </a:xfrm>
          <a:custGeom>
            <a:avLst/>
            <a:gdLst/>
            <a:ahLst/>
            <a:cxnLst/>
            <a:rect l="0" t="0" r="r" b="b"/>
            <a:pathLst>
              <a:path w="715" h="40">
                <a:moveTo>
                  <a:pt x="0" y="0"/>
                </a:moveTo>
                <a:lnTo>
                  <a:pt x="0" y="2"/>
                </a:lnTo>
                <a:lnTo>
                  <a:pt x="3" y="15"/>
                </a:lnTo>
                <a:cubicBezTo>
                  <a:pt x="10" y="29"/>
                  <a:pt x="23" y="40"/>
                  <a:pt x="39" y="40"/>
                </a:cubicBezTo>
                <a:lnTo>
                  <a:pt x="675" y="40"/>
                </a:lnTo>
                <a:cubicBezTo>
                  <a:pt x="697" y="40"/>
                  <a:pt x="714" y="22"/>
                  <a:pt x="71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Freeform 621"/>
          <p:cNvSpPr/>
          <p:nvPr/>
        </p:nvSpPr>
        <p:spPr>
          <a:xfrm>
            <a:off x="419904" y="262656"/>
            <a:ext cx="223344" cy="146880"/>
          </a:xfrm>
          <a:custGeom>
            <a:avLst/>
            <a:gdLst/>
            <a:ahLst/>
            <a:cxnLst/>
            <a:rect l="0" t="0" r="r" b="b"/>
            <a:pathLst>
              <a:path w="517" h="340">
                <a:moveTo>
                  <a:pt x="517" y="320"/>
                </a:moveTo>
                <a:cubicBezTo>
                  <a:pt x="517" y="331"/>
                  <a:pt x="508" y="340"/>
                  <a:pt x="497" y="340"/>
                </a:cubicBezTo>
                <a:lnTo>
                  <a:pt x="20" y="340"/>
                </a:lnTo>
                <a:cubicBezTo>
                  <a:pt x="9" y="340"/>
                  <a:pt x="0" y="331"/>
                  <a:pt x="0" y="32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lnTo>
                  <a:pt x="497" y="0"/>
                </a:lnTo>
                <a:cubicBezTo>
                  <a:pt x="508" y="0"/>
                  <a:pt x="517" y="9"/>
                  <a:pt x="517" y="20"/>
                </a:cubicBezTo>
                <a:lnTo>
                  <a:pt x="517" y="320"/>
                </a:ln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Freeform 622"/>
          <p:cNvSpPr/>
          <p:nvPr/>
        </p:nvSpPr>
        <p:spPr>
          <a:xfrm>
            <a:off x="404784" y="434592"/>
            <a:ext cx="255312" cy="34560"/>
          </a:xfrm>
          <a:custGeom>
            <a:avLst/>
            <a:gdLst/>
            <a:ahLst/>
            <a:cxnLst/>
            <a:rect l="0" t="0" r="r" b="b"/>
            <a:pathLst>
              <a:path w="591" h="80">
                <a:moveTo>
                  <a:pt x="591" y="59"/>
                </a:moveTo>
                <a:lnTo>
                  <a:pt x="576" y="16"/>
                </a:lnTo>
                <a:cubicBezTo>
                  <a:pt x="571" y="7"/>
                  <a:pt x="563" y="0"/>
                  <a:pt x="552" y="0"/>
                </a:cubicBezTo>
                <a:lnTo>
                  <a:pt x="38" y="0"/>
                </a:lnTo>
                <a:cubicBezTo>
                  <a:pt x="27" y="0"/>
                  <a:pt x="20" y="8"/>
                  <a:pt x="15" y="20"/>
                </a:cubicBezTo>
                <a:lnTo>
                  <a:pt x="1" y="59"/>
                </a:lnTo>
                <a:cubicBezTo>
                  <a:pt x="-3" y="72"/>
                  <a:pt x="10" y="80"/>
                  <a:pt x="21" y="80"/>
                </a:cubicBezTo>
                <a:lnTo>
                  <a:pt x="172" y="80"/>
                </a:lnTo>
                <a:cubicBezTo>
                  <a:pt x="172" y="80"/>
                  <a:pt x="190" y="79"/>
                  <a:pt x="194" y="68"/>
                </a:cubicBezTo>
                <a:cubicBezTo>
                  <a:pt x="197" y="54"/>
                  <a:pt x="202" y="35"/>
                  <a:pt x="203" y="32"/>
                </a:cubicBezTo>
                <a:cubicBezTo>
                  <a:pt x="204" y="26"/>
                  <a:pt x="210" y="21"/>
                  <a:pt x="220" y="21"/>
                </a:cubicBezTo>
                <a:lnTo>
                  <a:pt x="390" y="21"/>
                </a:lnTo>
                <a:cubicBezTo>
                  <a:pt x="400" y="21"/>
                  <a:pt x="405" y="26"/>
                  <a:pt x="406" y="32"/>
                </a:cubicBezTo>
                <a:cubicBezTo>
                  <a:pt x="407" y="36"/>
                  <a:pt x="412" y="55"/>
                  <a:pt x="415" y="69"/>
                </a:cubicBezTo>
                <a:cubicBezTo>
                  <a:pt x="417" y="80"/>
                  <a:pt x="439" y="80"/>
                  <a:pt x="439" y="80"/>
                </a:cubicBezTo>
                <a:lnTo>
                  <a:pt x="571" y="80"/>
                </a:lnTo>
                <a:cubicBezTo>
                  <a:pt x="582" y="80"/>
                  <a:pt x="595" y="71"/>
                  <a:pt x="591" y="59"/>
                </a:cubicBezTo>
                <a:close/>
              </a:path>
            </a:pathLst>
          </a:custGeom>
          <a:solidFill>
            <a:srgbClr val="AEBB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Freeform 623"/>
          <p:cNvSpPr/>
          <p:nvPr/>
        </p:nvSpPr>
        <p:spPr>
          <a:xfrm>
            <a:off x="497664" y="452304"/>
            <a:ext cx="75600" cy="25920"/>
          </a:xfrm>
          <a:custGeom>
            <a:avLst/>
            <a:gdLst/>
            <a:ahLst/>
            <a:cxnLst/>
            <a:rect l="0" t="0" r="r" b="b"/>
            <a:pathLst>
              <a:path w="175" h="60">
                <a:moveTo>
                  <a:pt x="9" y="60"/>
                </a:moveTo>
                <a:cubicBezTo>
                  <a:pt x="2" y="60"/>
                  <a:pt x="-1" y="54"/>
                  <a:pt x="0" y="47"/>
                </a:cubicBezTo>
                <a:cubicBezTo>
                  <a:pt x="1" y="39"/>
                  <a:pt x="7" y="10"/>
                  <a:pt x="7" y="7"/>
                </a:cubicBezTo>
                <a:cubicBezTo>
                  <a:pt x="8" y="4"/>
                  <a:pt x="13" y="0"/>
                  <a:pt x="18" y="0"/>
                </a:cubicBezTo>
                <a:lnTo>
                  <a:pt x="158" y="0"/>
                </a:lnTo>
                <a:cubicBezTo>
                  <a:pt x="164" y="0"/>
                  <a:pt x="168" y="3"/>
                  <a:pt x="169" y="9"/>
                </a:cubicBezTo>
                <a:cubicBezTo>
                  <a:pt x="170" y="16"/>
                  <a:pt x="175" y="42"/>
                  <a:pt x="175" y="49"/>
                </a:cubicBezTo>
                <a:cubicBezTo>
                  <a:pt x="175" y="55"/>
                  <a:pt x="172" y="60"/>
                  <a:pt x="165" y="60"/>
                </a:cubicBezTo>
                <a:lnTo>
                  <a:pt x="9" y="6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TextBox 624"/>
          <p:cNvSpPr txBox="1"/>
          <p:nvPr/>
        </p:nvSpPr>
        <p:spPr>
          <a:xfrm>
            <a:off x="695952" y="136944"/>
            <a:ext cx="3725379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2C3E50"/>
                </a:solidFill>
                <a:latin typeface="SegoeUI"/>
                <a:ea typeface="SegoeUI"/>
              </a:rPr>
              <a:t> Hands-On: Project Setup</a:t>
            </a:r>
            <a:endParaRPr lang="en-IN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TextBox 625"/>
          <p:cNvSpPr txBox="1"/>
          <p:nvPr/>
        </p:nvSpPr>
        <p:spPr>
          <a:xfrm>
            <a:off x="343008" y="750384"/>
            <a:ext cx="325089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Step 1: Create </a:t>
            </a:r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GitHub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Repository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TextBox 626"/>
          <p:cNvSpPr txBox="1"/>
          <p:nvPr/>
        </p:nvSpPr>
        <p:spPr>
          <a:xfrm>
            <a:off x="510624" y="1361664"/>
            <a:ext cx="2130391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Go to github.com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3160944" y="1382832"/>
            <a:ext cx="13465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i="1" dirty="0">
                <a:solidFill>
                  <a:srgbClr val="AEAEAE"/>
                </a:solidFill>
                <a:latin typeface="Consolas"/>
                <a:ea typeface="Consolas"/>
              </a:rPr>
              <a:t>→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TextBox 628"/>
          <p:cNvSpPr txBox="1"/>
          <p:nvPr/>
        </p:nvSpPr>
        <p:spPr>
          <a:xfrm>
            <a:off x="3340224" y="1361664"/>
            <a:ext cx="179215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 New Repository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TextBox 629"/>
          <p:cNvSpPr txBox="1"/>
          <p:nvPr/>
        </p:nvSpPr>
        <p:spPr>
          <a:xfrm>
            <a:off x="510624" y="1682640"/>
            <a:ext cx="361316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Name: calculator-</a:t>
            </a:r>
            <a:r>
              <a:rPr lang="en-IN" sz="1900" dirty="0" err="1">
                <a:solidFill>
                  <a:srgbClr val="AEAEAE"/>
                </a:solidFill>
                <a:latin typeface="RobotoMono"/>
                <a:ea typeface="RobotoMono"/>
              </a:rPr>
              <a:t>microservices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TextBox 630"/>
          <p:cNvSpPr txBox="1"/>
          <p:nvPr/>
        </p:nvSpPr>
        <p:spPr>
          <a:xfrm>
            <a:off x="510624" y="2003616"/>
            <a:ext cx="435856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Description: </a:t>
            </a:r>
            <a:r>
              <a:rPr lang="en-IN" sz="1900" dirty="0" err="1">
                <a:solidFill>
                  <a:srgbClr val="AEAEAE"/>
                </a:solidFill>
                <a:latin typeface="RobotoMono"/>
                <a:ea typeface="RobotoMono"/>
              </a:rPr>
              <a:t>DevOps</a:t>
            </a:r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 workshop project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TextBox 631"/>
          <p:cNvSpPr txBox="1"/>
          <p:nvPr/>
        </p:nvSpPr>
        <p:spPr>
          <a:xfrm>
            <a:off x="510624" y="2324592"/>
            <a:ext cx="3286156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Public (for </a:t>
            </a:r>
            <a:r>
              <a:rPr lang="en-IN" sz="1900" dirty="0" err="1">
                <a:solidFill>
                  <a:srgbClr val="AEAEAE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 Hub later)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TextBox 632"/>
          <p:cNvSpPr txBox="1"/>
          <p:nvPr/>
        </p:nvSpPr>
        <p:spPr>
          <a:xfrm>
            <a:off x="510624" y="2645568"/>
            <a:ext cx="269785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Initialize with README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TextBox 633"/>
          <p:cNvSpPr txBox="1"/>
          <p:nvPr/>
        </p:nvSpPr>
        <p:spPr>
          <a:xfrm>
            <a:off x="343008" y="3253824"/>
            <a:ext cx="2075889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Step 2: Clone Locally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TextBox 634"/>
          <p:cNvSpPr txBox="1"/>
          <p:nvPr/>
        </p:nvSpPr>
        <p:spPr>
          <a:xfrm>
            <a:off x="461376" y="3853440"/>
            <a:ext cx="1029288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clone –b BRANCHNAME https://github.com/YOUR-USERNAME/calculator-microservices.git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TextBox 635"/>
          <p:cNvSpPr txBox="1"/>
          <p:nvPr/>
        </p:nvSpPr>
        <p:spPr>
          <a:xfrm>
            <a:off x="461376" y="4174416"/>
            <a:ext cx="294792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cd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calculator-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microservices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TextBox 636"/>
          <p:cNvSpPr txBox="1"/>
          <p:nvPr/>
        </p:nvSpPr>
        <p:spPr>
          <a:xfrm>
            <a:off x="343008" y="4785264"/>
            <a:ext cx="440505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Step 3: Create Project Structure (</a:t>
            </a:r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PowerShell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)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453168" y="5385312"/>
            <a:ext cx="9101851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$services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= </a:t>
            </a:r>
            <a:r>
              <a:rPr lang="en-IN" sz="1700" dirty="0">
                <a:solidFill>
                  <a:srgbClr val="E28964"/>
                </a:solidFill>
                <a:latin typeface="RobotoMono"/>
                <a:ea typeface="RobotoMono"/>
              </a:rPr>
              <a:t>@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(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"gateway"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,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"add-service"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,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"subtract-service"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,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"multiply-service"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,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"divide-service"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)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453168" y="5684256"/>
            <a:ext cx="2511906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 err="1">
                <a:solidFill>
                  <a:srgbClr val="E28964"/>
                </a:solidFill>
                <a:latin typeface="RobotoMono"/>
                <a:ea typeface="RobotoMono"/>
              </a:rPr>
              <a:t>foreach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(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700" dirty="0">
                <a:solidFill>
                  <a:srgbClr val="E28964"/>
                </a:solidFill>
                <a:latin typeface="RobotoMono"/>
                <a:ea typeface="RobotoMono"/>
              </a:rPr>
              <a:t>in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$services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) {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TextBox 639"/>
          <p:cNvSpPr txBox="1"/>
          <p:nvPr/>
        </p:nvSpPr>
        <p:spPr>
          <a:xfrm>
            <a:off x="453168" y="5983200"/>
            <a:ext cx="945772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lang="en-IN" sz="1700" dirty="0" err="1">
                <a:solidFill>
                  <a:srgbClr val="FFF8E1"/>
                </a:solidFill>
                <a:latin typeface="RobotoMono"/>
                <a:ea typeface="RobotoMono"/>
              </a:rPr>
              <a:t>mkdir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453168" y="6282144"/>
            <a:ext cx="4578946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 echo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"console.log('[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] started')"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&gt; 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/server.js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TextBox 641"/>
          <p:cNvSpPr txBox="1"/>
          <p:nvPr/>
        </p:nvSpPr>
        <p:spPr>
          <a:xfrm>
            <a:off x="453168" y="6581088"/>
            <a:ext cx="4470776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 echo </a:t>
            </a:r>
            <a:r>
              <a:rPr lang="en-IN" sz="1700" dirty="0">
                <a:solidFill>
                  <a:srgbClr val="65B042"/>
                </a:solidFill>
                <a:latin typeface="RobotoMono"/>
                <a:ea typeface="RobotoMono"/>
              </a:rPr>
              <a:t>"FROM node:18-alpine"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 &gt; </a:t>
            </a:r>
            <a:r>
              <a:rPr lang="en-IN" sz="1700" dirty="0">
                <a:solidFill>
                  <a:srgbClr val="3E87E3"/>
                </a:solidFill>
                <a:latin typeface="RobotoMono"/>
                <a:ea typeface="RobotoMono"/>
              </a:rPr>
              <a:t>$s</a:t>
            </a:r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/</a:t>
            </a:r>
            <a:r>
              <a:rPr lang="en-IN" sz="1700" dirty="0" err="1">
                <a:solidFill>
                  <a:srgbClr val="FFF8E1"/>
                </a:solidFill>
                <a:latin typeface="RobotoMono"/>
                <a:ea typeface="RobotoMono"/>
              </a:rPr>
              <a:t>Dockerfile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TextBox 642"/>
          <p:cNvSpPr txBox="1"/>
          <p:nvPr/>
        </p:nvSpPr>
        <p:spPr>
          <a:xfrm>
            <a:off x="453168" y="6880032"/>
            <a:ext cx="72136" cy="261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700" dirty="0">
                <a:solidFill>
                  <a:srgbClr val="FFF8E1"/>
                </a:solidFill>
                <a:latin typeface="RobotoMono"/>
                <a:ea typeface="RobotoMono"/>
              </a:rPr>
              <a:t>}</a:t>
            </a:r>
            <a:endParaRPr lang="en-IN" sz="17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TextBox 643"/>
          <p:cNvSpPr txBox="1"/>
          <p:nvPr/>
        </p:nvSpPr>
        <p:spPr>
          <a:xfrm>
            <a:off x="13261536" y="6555600"/>
            <a:ext cx="185948" cy="200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300" dirty="0">
                <a:solidFill>
                  <a:srgbClr val="455A64"/>
                </a:solidFill>
                <a:latin typeface="SegoeUI"/>
                <a:ea typeface="SegoeUI"/>
              </a:rPr>
              <a:t>12</a:t>
            </a:r>
            <a:endParaRPr lang="en-IN" sz="130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Freeform 712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Freeform 71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Freeform 714"/>
          <p:cNvSpPr/>
          <p:nvPr/>
        </p:nvSpPr>
        <p:spPr>
          <a:xfrm>
            <a:off x="0" y="0"/>
            <a:ext cx="13750560" cy="7075296"/>
          </a:xfrm>
          <a:custGeom>
            <a:avLst/>
            <a:gdLst/>
            <a:ahLst/>
            <a:cxnLst/>
            <a:rect l="0" t="0" r="r" b="b"/>
            <a:pathLst>
              <a:path w="31830" h="16378">
                <a:moveTo>
                  <a:pt x="0" y="0"/>
                </a:moveTo>
                <a:lnTo>
                  <a:pt x="31830" y="0"/>
                </a:lnTo>
                <a:lnTo>
                  <a:pt x="31830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Freeform 715"/>
          <p:cNvSpPr/>
          <p:nvPr/>
        </p:nvSpPr>
        <p:spPr>
          <a:xfrm>
            <a:off x="342576" y="1200096"/>
            <a:ext cx="13064976" cy="2492208"/>
          </a:xfrm>
          <a:custGeom>
            <a:avLst/>
            <a:gdLst/>
            <a:ahLst/>
            <a:cxnLst/>
            <a:rect l="0" t="0" r="r" b="b"/>
            <a:pathLst>
              <a:path w="30243" h="5769">
                <a:moveTo>
                  <a:pt x="0" y="0"/>
                </a:moveTo>
                <a:lnTo>
                  <a:pt x="30243" y="0"/>
                </a:lnTo>
                <a:lnTo>
                  <a:pt x="30243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Freeform 716"/>
          <p:cNvSpPr/>
          <p:nvPr/>
        </p:nvSpPr>
        <p:spPr>
          <a:xfrm>
            <a:off x="342576" y="4343328"/>
            <a:ext cx="13064976" cy="2172096"/>
          </a:xfrm>
          <a:custGeom>
            <a:avLst/>
            <a:gdLst/>
            <a:ahLst/>
            <a:cxnLst/>
            <a:rect l="0" t="0" r="r" b="b"/>
            <a:pathLst>
              <a:path w="30243" h="5028">
                <a:moveTo>
                  <a:pt x="0" y="0"/>
                </a:moveTo>
                <a:lnTo>
                  <a:pt x="30243" y="0"/>
                </a:lnTo>
                <a:lnTo>
                  <a:pt x="30243" y="5028"/>
                </a:lnTo>
                <a:lnTo>
                  <a:pt x="0" y="50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Freeform 717"/>
          <p:cNvSpPr/>
          <p:nvPr/>
        </p:nvSpPr>
        <p:spPr>
          <a:xfrm>
            <a:off x="393984" y="374112"/>
            <a:ext cx="112320" cy="120528"/>
          </a:xfrm>
          <a:custGeom>
            <a:avLst/>
            <a:gdLst/>
            <a:ahLst/>
            <a:cxnLst/>
            <a:rect l="0" t="0" r="r" b="b"/>
            <a:pathLst>
              <a:path w="260" h="279">
                <a:moveTo>
                  <a:pt x="260" y="199"/>
                </a:moveTo>
                <a:cubicBezTo>
                  <a:pt x="260" y="243"/>
                  <a:pt x="244" y="279"/>
                  <a:pt x="200" y="279"/>
                </a:cubicBezTo>
                <a:lnTo>
                  <a:pt x="61" y="279"/>
                </a:lnTo>
                <a:cubicBezTo>
                  <a:pt x="-20" y="279"/>
                  <a:pt x="-20" y="0"/>
                  <a:pt x="61" y="0"/>
                </a:cubicBezTo>
                <a:lnTo>
                  <a:pt x="200" y="0"/>
                </a:lnTo>
                <a:cubicBezTo>
                  <a:pt x="244" y="0"/>
                  <a:pt x="260" y="36"/>
                  <a:pt x="260" y="79"/>
                </a:cubicBezTo>
                <a:lnTo>
                  <a:pt x="260" y="199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Freeform 718"/>
          <p:cNvSpPr/>
          <p:nvPr/>
        </p:nvSpPr>
        <p:spPr>
          <a:xfrm>
            <a:off x="437184" y="374112"/>
            <a:ext cx="240192" cy="120528"/>
          </a:xfrm>
          <a:custGeom>
            <a:avLst/>
            <a:gdLst/>
            <a:ahLst/>
            <a:cxnLst/>
            <a:rect l="0" t="0" r="r" b="b"/>
            <a:pathLst>
              <a:path w="556" h="279">
                <a:moveTo>
                  <a:pt x="536" y="239"/>
                </a:moveTo>
                <a:lnTo>
                  <a:pt x="516" y="239"/>
                </a:lnTo>
                <a:lnTo>
                  <a:pt x="516" y="40"/>
                </a:lnTo>
                <a:lnTo>
                  <a:pt x="536" y="40"/>
                </a:lnTo>
                <a:cubicBezTo>
                  <a:pt x="547" y="40"/>
                  <a:pt x="556" y="31"/>
                  <a:pt x="556" y="20"/>
                </a:cubicBezTo>
                <a:cubicBezTo>
                  <a:pt x="556" y="9"/>
                  <a:pt x="547" y="0"/>
                  <a:pt x="536" y="0"/>
                </a:cubicBezTo>
                <a:lnTo>
                  <a:pt x="59" y="0"/>
                </a:lnTo>
                <a:cubicBezTo>
                  <a:pt x="-20" y="0"/>
                  <a:pt x="-20" y="279"/>
                  <a:pt x="59" y="279"/>
                </a:cubicBezTo>
                <a:lnTo>
                  <a:pt x="536" y="279"/>
                </a:lnTo>
                <a:cubicBezTo>
                  <a:pt x="547" y="279"/>
                  <a:pt x="556" y="270"/>
                  <a:pt x="556" y="259"/>
                </a:cubicBezTo>
                <a:cubicBezTo>
                  <a:pt x="556" y="248"/>
                  <a:pt x="547" y="239"/>
                  <a:pt x="536" y="239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Freeform 719"/>
          <p:cNvSpPr/>
          <p:nvPr/>
        </p:nvSpPr>
        <p:spPr>
          <a:xfrm>
            <a:off x="458352" y="391392"/>
            <a:ext cx="219456" cy="85968"/>
          </a:xfrm>
          <a:custGeom>
            <a:avLst/>
            <a:gdLst/>
            <a:ahLst/>
            <a:cxnLst/>
            <a:rect l="0" t="0" r="r" b="b"/>
            <a:pathLst>
              <a:path w="508" h="199">
                <a:moveTo>
                  <a:pt x="491" y="199"/>
                </a:moveTo>
                <a:lnTo>
                  <a:pt x="30" y="199"/>
                </a:lnTo>
                <a:cubicBezTo>
                  <a:pt x="-10" y="199"/>
                  <a:pt x="-10" y="0"/>
                  <a:pt x="30" y="0"/>
                </a:cubicBezTo>
                <a:lnTo>
                  <a:pt x="491" y="0"/>
                </a:lnTo>
                <a:cubicBezTo>
                  <a:pt x="513" y="0"/>
                  <a:pt x="513" y="199"/>
                  <a:pt x="491" y="19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Freeform 720"/>
          <p:cNvSpPr/>
          <p:nvPr/>
        </p:nvSpPr>
        <p:spPr>
          <a:xfrm>
            <a:off x="458352" y="391392"/>
            <a:ext cx="217728" cy="79056"/>
          </a:xfrm>
          <a:custGeom>
            <a:avLst/>
            <a:gdLst/>
            <a:ahLst/>
            <a:cxnLst/>
            <a:rect l="0" t="0" r="r" b="b"/>
            <a:pathLst>
              <a:path w="504" h="183">
                <a:moveTo>
                  <a:pt x="40" y="39"/>
                </a:moveTo>
                <a:lnTo>
                  <a:pt x="504" y="39"/>
                </a:lnTo>
                <a:cubicBezTo>
                  <a:pt x="502" y="16"/>
                  <a:pt x="497" y="0"/>
                  <a:pt x="491" y="0"/>
                </a:cubicBezTo>
                <a:lnTo>
                  <a:pt x="30" y="0"/>
                </a:lnTo>
                <a:cubicBezTo>
                  <a:pt x="-3" y="0"/>
                  <a:pt x="-9" y="136"/>
                  <a:pt x="13" y="183"/>
                </a:cubicBezTo>
                <a:cubicBezTo>
                  <a:pt x="5" y="124"/>
                  <a:pt x="14" y="39"/>
                  <a:pt x="40" y="39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Freeform 721"/>
          <p:cNvSpPr/>
          <p:nvPr/>
        </p:nvSpPr>
        <p:spPr>
          <a:xfrm>
            <a:off x="385344" y="202608"/>
            <a:ext cx="94608" cy="94608"/>
          </a:xfrm>
          <a:custGeom>
            <a:avLst/>
            <a:gdLst/>
            <a:ahLst/>
            <a:cxnLst/>
            <a:rect l="0" t="0" r="r" b="b"/>
            <a:pathLst>
              <a:path w="219" h="219">
                <a:moveTo>
                  <a:pt x="219" y="140"/>
                </a:moveTo>
                <a:cubicBezTo>
                  <a:pt x="219" y="184"/>
                  <a:pt x="183" y="219"/>
                  <a:pt x="139" y="219"/>
                </a:cubicBezTo>
                <a:lnTo>
                  <a:pt x="59" y="219"/>
                </a:lnTo>
                <a:cubicBezTo>
                  <a:pt x="-20" y="219"/>
                  <a:pt x="-20" y="0"/>
                  <a:pt x="59" y="0"/>
                </a:cubicBezTo>
                <a:lnTo>
                  <a:pt x="139" y="0"/>
                </a:lnTo>
                <a:cubicBezTo>
                  <a:pt x="183" y="0"/>
                  <a:pt x="219" y="36"/>
                  <a:pt x="219" y="81"/>
                </a:cubicBezTo>
                <a:lnTo>
                  <a:pt x="219" y="140"/>
                </a:ln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Freeform 722"/>
          <p:cNvSpPr/>
          <p:nvPr/>
        </p:nvSpPr>
        <p:spPr>
          <a:xfrm>
            <a:off x="411264" y="202608"/>
            <a:ext cx="240624" cy="94608"/>
          </a:xfrm>
          <a:custGeom>
            <a:avLst/>
            <a:gdLst/>
            <a:ahLst/>
            <a:cxnLst/>
            <a:rect l="0" t="0" r="r" b="b"/>
            <a:pathLst>
              <a:path w="557" h="219">
                <a:moveTo>
                  <a:pt x="537" y="180"/>
                </a:moveTo>
                <a:lnTo>
                  <a:pt x="517" y="180"/>
                </a:lnTo>
                <a:lnTo>
                  <a:pt x="517" y="40"/>
                </a:lnTo>
                <a:lnTo>
                  <a:pt x="537" y="40"/>
                </a:lnTo>
                <a:cubicBezTo>
                  <a:pt x="548" y="40"/>
                  <a:pt x="557" y="31"/>
                  <a:pt x="557" y="20"/>
                </a:cubicBezTo>
                <a:cubicBezTo>
                  <a:pt x="557" y="9"/>
                  <a:pt x="548" y="0"/>
                  <a:pt x="537" y="0"/>
                </a:cubicBezTo>
                <a:lnTo>
                  <a:pt x="60" y="0"/>
                </a:lnTo>
                <a:cubicBezTo>
                  <a:pt x="-20" y="0"/>
                  <a:pt x="-20" y="219"/>
                  <a:pt x="60" y="219"/>
                </a:cubicBezTo>
                <a:lnTo>
                  <a:pt x="537" y="219"/>
                </a:lnTo>
                <a:cubicBezTo>
                  <a:pt x="548" y="219"/>
                  <a:pt x="557" y="211"/>
                  <a:pt x="557" y="200"/>
                </a:cubicBezTo>
                <a:cubicBezTo>
                  <a:pt x="557" y="189"/>
                  <a:pt x="548" y="180"/>
                  <a:pt x="537" y="18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Freeform 723"/>
          <p:cNvSpPr/>
          <p:nvPr/>
        </p:nvSpPr>
        <p:spPr>
          <a:xfrm>
            <a:off x="432864" y="219888"/>
            <a:ext cx="219024" cy="60480"/>
          </a:xfrm>
          <a:custGeom>
            <a:avLst/>
            <a:gdLst/>
            <a:ahLst/>
            <a:cxnLst/>
            <a:rect l="0" t="0" r="r" b="b"/>
            <a:pathLst>
              <a:path w="507" h="140">
                <a:moveTo>
                  <a:pt x="490" y="140"/>
                </a:moveTo>
                <a:lnTo>
                  <a:pt x="29" y="140"/>
                </a:lnTo>
                <a:cubicBezTo>
                  <a:pt x="-10" y="140"/>
                  <a:pt x="-10" y="0"/>
                  <a:pt x="29" y="0"/>
                </a:cubicBezTo>
                <a:lnTo>
                  <a:pt x="490" y="0"/>
                </a:lnTo>
                <a:cubicBezTo>
                  <a:pt x="512" y="0"/>
                  <a:pt x="512" y="140"/>
                  <a:pt x="490" y="14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Freeform 724"/>
          <p:cNvSpPr/>
          <p:nvPr/>
        </p:nvSpPr>
        <p:spPr>
          <a:xfrm>
            <a:off x="432864" y="219888"/>
            <a:ext cx="218160" cy="38880"/>
          </a:xfrm>
          <a:custGeom>
            <a:avLst/>
            <a:gdLst/>
            <a:ahLst/>
            <a:cxnLst/>
            <a:rect l="0" t="0" r="r" b="b"/>
            <a:pathLst>
              <a:path w="505" h="90">
                <a:moveTo>
                  <a:pt x="29" y="40"/>
                </a:moveTo>
                <a:lnTo>
                  <a:pt x="505" y="40"/>
                </a:lnTo>
                <a:cubicBezTo>
                  <a:pt x="503" y="17"/>
                  <a:pt x="498" y="0"/>
                  <a:pt x="490" y="0"/>
                </a:cubicBezTo>
                <a:lnTo>
                  <a:pt x="29" y="0"/>
                </a:lnTo>
                <a:cubicBezTo>
                  <a:pt x="6" y="0"/>
                  <a:pt x="-4" y="49"/>
                  <a:pt x="1" y="90"/>
                </a:cubicBezTo>
                <a:cubicBezTo>
                  <a:pt x="4" y="62"/>
                  <a:pt x="13" y="40"/>
                  <a:pt x="29" y="4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Freeform 725"/>
          <p:cNvSpPr/>
          <p:nvPr/>
        </p:nvSpPr>
        <p:spPr>
          <a:xfrm>
            <a:off x="402624" y="296784"/>
            <a:ext cx="146016" cy="77760"/>
          </a:xfrm>
          <a:custGeom>
            <a:avLst/>
            <a:gdLst/>
            <a:ahLst/>
            <a:cxnLst/>
            <a:rect l="0" t="0" r="r" b="b"/>
            <a:pathLst>
              <a:path w="338" h="180">
                <a:moveTo>
                  <a:pt x="338" y="100"/>
                </a:moveTo>
                <a:cubicBezTo>
                  <a:pt x="338" y="144"/>
                  <a:pt x="303" y="180"/>
                  <a:pt x="259" y="180"/>
                </a:cubicBezTo>
                <a:lnTo>
                  <a:pt x="60" y="180"/>
                </a:lnTo>
                <a:cubicBezTo>
                  <a:pt x="-20" y="180"/>
                  <a:pt x="-20" y="0"/>
                  <a:pt x="60" y="0"/>
                </a:cubicBezTo>
                <a:lnTo>
                  <a:pt x="259" y="0"/>
                </a:lnTo>
                <a:cubicBezTo>
                  <a:pt x="303" y="0"/>
                  <a:pt x="338" y="36"/>
                  <a:pt x="338" y="80"/>
                </a:cubicBezTo>
                <a:lnTo>
                  <a:pt x="338" y="100"/>
                </a:ln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Freeform 726"/>
          <p:cNvSpPr/>
          <p:nvPr/>
        </p:nvSpPr>
        <p:spPr>
          <a:xfrm>
            <a:off x="479952" y="296784"/>
            <a:ext cx="206064" cy="77760"/>
          </a:xfrm>
          <a:custGeom>
            <a:avLst/>
            <a:gdLst/>
            <a:ahLst/>
            <a:cxnLst/>
            <a:rect l="0" t="0" r="r" b="b"/>
            <a:pathLst>
              <a:path w="477" h="180">
                <a:moveTo>
                  <a:pt x="457" y="140"/>
                </a:moveTo>
                <a:lnTo>
                  <a:pt x="437" y="140"/>
                </a:lnTo>
                <a:lnTo>
                  <a:pt x="437" y="40"/>
                </a:lnTo>
                <a:lnTo>
                  <a:pt x="457" y="40"/>
                </a:lnTo>
                <a:cubicBezTo>
                  <a:pt x="468" y="40"/>
                  <a:pt x="477" y="31"/>
                  <a:pt x="477" y="20"/>
                </a:cubicBezTo>
                <a:cubicBezTo>
                  <a:pt x="477" y="9"/>
                  <a:pt x="468" y="0"/>
                  <a:pt x="457" y="0"/>
                </a:cubicBezTo>
                <a:lnTo>
                  <a:pt x="59" y="0"/>
                </a:lnTo>
                <a:cubicBezTo>
                  <a:pt x="-20" y="0"/>
                  <a:pt x="-20" y="180"/>
                  <a:pt x="59" y="180"/>
                </a:cubicBezTo>
                <a:lnTo>
                  <a:pt x="457" y="180"/>
                </a:lnTo>
                <a:cubicBezTo>
                  <a:pt x="468" y="180"/>
                  <a:pt x="477" y="171"/>
                  <a:pt x="477" y="160"/>
                </a:cubicBezTo>
                <a:cubicBezTo>
                  <a:pt x="477" y="149"/>
                  <a:pt x="468" y="140"/>
                  <a:pt x="457" y="14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Freeform 727"/>
          <p:cNvSpPr/>
          <p:nvPr/>
        </p:nvSpPr>
        <p:spPr>
          <a:xfrm>
            <a:off x="501120" y="314064"/>
            <a:ext cx="177984" cy="43200"/>
          </a:xfrm>
          <a:custGeom>
            <a:avLst/>
            <a:gdLst/>
            <a:ahLst/>
            <a:cxnLst/>
            <a:rect l="0" t="0" r="r" b="b"/>
            <a:pathLst>
              <a:path w="412" h="100">
                <a:moveTo>
                  <a:pt x="412" y="100"/>
                </a:moveTo>
                <a:lnTo>
                  <a:pt x="30" y="100"/>
                </a:lnTo>
                <a:cubicBezTo>
                  <a:pt x="-10" y="100"/>
                  <a:pt x="-10" y="0"/>
                  <a:pt x="30" y="0"/>
                </a:cubicBezTo>
                <a:lnTo>
                  <a:pt x="412" y="0"/>
                </a:lnTo>
                <a:lnTo>
                  <a:pt x="412" y="1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Freeform 728"/>
          <p:cNvSpPr/>
          <p:nvPr/>
        </p:nvSpPr>
        <p:spPr>
          <a:xfrm>
            <a:off x="501120" y="314064"/>
            <a:ext cx="184464" cy="30672"/>
          </a:xfrm>
          <a:custGeom>
            <a:avLst/>
            <a:gdLst/>
            <a:ahLst/>
            <a:cxnLst/>
            <a:rect l="0" t="0" r="r" b="b"/>
            <a:pathLst>
              <a:path w="427" h="71">
                <a:moveTo>
                  <a:pt x="29" y="40"/>
                </a:moveTo>
                <a:lnTo>
                  <a:pt x="427" y="40"/>
                </a:lnTo>
                <a:cubicBezTo>
                  <a:pt x="425" y="19"/>
                  <a:pt x="420" y="0"/>
                  <a:pt x="411" y="0"/>
                </a:cubicBezTo>
                <a:lnTo>
                  <a:pt x="29" y="0"/>
                </a:lnTo>
                <a:cubicBezTo>
                  <a:pt x="4" y="0"/>
                  <a:pt x="-5" y="40"/>
                  <a:pt x="2" y="71"/>
                </a:cubicBezTo>
                <a:cubicBezTo>
                  <a:pt x="6" y="53"/>
                  <a:pt x="15" y="40"/>
                  <a:pt x="29" y="4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TextBox 729"/>
          <p:cNvSpPr txBox="1"/>
          <p:nvPr/>
        </p:nvSpPr>
        <p:spPr>
          <a:xfrm>
            <a:off x="695952" y="136944"/>
            <a:ext cx="3165931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2C3E50"/>
                </a:solidFill>
                <a:latin typeface="SegoeUI"/>
                <a:ea typeface="SegoeUI"/>
              </a:rPr>
              <a:t> Command Reference</a:t>
            </a:r>
            <a:endParaRPr lang="en-IN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TextBox 730"/>
          <p:cNvSpPr txBox="1"/>
          <p:nvPr/>
        </p:nvSpPr>
        <p:spPr>
          <a:xfrm>
            <a:off x="343008" y="750384"/>
            <a:ext cx="1529265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Git Commands: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461376" y="1361664"/>
            <a:ext cx="296555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clone &lt;repo&gt; 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TextBox 732"/>
          <p:cNvSpPr txBox="1"/>
          <p:nvPr/>
        </p:nvSpPr>
        <p:spPr>
          <a:xfrm>
            <a:off x="5342112" y="1361664"/>
            <a:ext cx="198451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Clone repository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TextBox 733"/>
          <p:cNvSpPr txBox="1"/>
          <p:nvPr/>
        </p:nvSpPr>
        <p:spPr>
          <a:xfrm>
            <a:off x="461376" y="1682640"/>
            <a:ext cx="350095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checkout -b feature/name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TextBox 734"/>
          <p:cNvSpPr txBox="1"/>
          <p:nvPr/>
        </p:nvSpPr>
        <p:spPr>
          <a:xfrm>
            <a:off x="5341680" y="1682640"/>
            <a:ext cx="2582438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Create feature branch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TextBox 735"/>
          <p:cNvSpPr txBox="1"/>
          <p:nvPr/>
        </p:nvSpPr>
        <p:spPr>
          <a:xfrm>
            <a:off x="461376" y="2003616"/>
            <a:ext cx="2551981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add .        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TextBox 736"/>
          <p:cNvSpPr txBox="1"/>
          <p:nvPr/>
        </p:nvSpPr>
        <p:spPr>
          <a:xfrm>
            <a:off x="5341680" y="2003616"/>
            <a:ext cx="183383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Stage changes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TextBox 737"/>
          <p:cNvSpPr txBox="1"/>
          <p:nvPr/>
        </p:nvSpPr>
        <p:spPr>
          <a:xfrm>
            <a:off x="461376" y="2324592"/>
            <a:ext cx="343844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commit -m </a:t>
            </a:r>
            <a:r>
              <a:rPr lang="en-IN" sz="1900" dirty="0">
                <a:solidFill>
                  <a:srgbClr val="65B042"/>
                </a:solidFill>
                <a:latin typeface="RobotoMono"/>
                <a:ea typeface="RobotoMono"/>
              </a:rPr>
              <a:t>"message"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TextBox 738"/>
          <p:cNvSpPr txBox="1"/>
          <p:nvPr/>
        </p:nvSpPr>
        <p:spPr>
          <a:xfrm>
            <a:off x="5342112" y="2324592"/>
            <a:ext cx="260648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Commit with message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TextBox 739"/>
          <p:cNvSpPr txBox="1"/>
          <p:nvPr/>
        </p:nvSpPr>
        <p:spPr>
          <a:xfrm>
            <a:off x="461376" y="2645568"/>
            <a:ext cx="314669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push origin branch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TextBox 740"/>
          <p:cNvSpPr txBox="1"/>
          <p:nvPr/>
        </p:nvSpPr>
        <p:spPr>
          <a:xfrm>
            <a:off x="5341680" y="2645568"/>
            <a:ext cx="185948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Push to remote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TextBox 741"/>
          <p:cNvSpPr txBox="1"/>
          <p:nvPr/>
        </p:nvSpPr>
        <p:spPr>
          <a:xfrm>
            <a:off x="461376" y="2966544"/>
            <a:ext cx="291425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pull origin main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TextBox 742"/>
          <p:cNvSpPr txBox="1"/>
          <p:nvPr/>
        </p:nvSpPr>
        <p:spPr>
          <a:xfrm>
            <a:off x="5341680" y="2966544"/>
            <a:ext cx="184505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Get latest main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TextBox 743"/>
          <p:cNvSpPr txBox="1"/>
          <p:nvPr/>
        </p:nvSpPr>
        <p:spPr>
          <a:xfrm>
            <a:off x="461376" y="3287520"/>
            <a:ext cx="281807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git log --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oneline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TextBox 744"/>
          <p:cNvSpPr txBox="1"/>
          <p:nvPr/>
        </p:nvSpPr>
        <p:spPr>
          <a:xfrm>
            <a:off x="5342112" y="3287520"/>
            <a:ext cx="151522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View history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TextBox 745"/>
          <p:cNvSpPr txBox="1"/>
          <p:nvPr/>
        </p:nvSpPr>
        <p:spPr>
          <a:xfrm>
            <a:off x="343008" y="3893616"/>
            <a:ext cx="193642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Docker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Commands: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TextBox 746"/>
          <p:cNvSpPr txBox="1"/>
          <p:nvPr/>
        </p:nvSpPr>
        <p:spPr>
          <a:xfrm>
            <a:off x="461376" y="4504896"/>
            <a:ext cx="3295774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build -t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name:tag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.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TextBox 747"/>
          <p:cNvSpPr txBox="1"/>
          <p:nvPr/>
        </p:nvSpPr>
        <p:spPr>
          <a:xfrm>
            <a:off x="5341248" y="4504896"/>
            <a:ext cx="148117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Build image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TextBox 748"/>
          <p:cNvSpPr txBox="1"/>
          <p:nvPr/>
        </p:nvSpPr>
        <p:spPr>
          <a:xfrm>
            <a:off x="461376" y="4825872"/>
            <a:ext cx="3640420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run -p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host:container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img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TextBox 749"/>
          <p:cNvSpPr txBox="1"/>
          <p:nvPr/>
        </p:nvSpPr>
        <p:spPr>
          <a:xfrm>
            <a:off x="5341248" y="4825872"/>
            <a:ext cx="172643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Run container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TextBox 750"/>
          <p:cNvSpPr txBox="1"/>
          <p:nvPr/>
        </p:nvSpPr>
        <p:spPr>
          <a:xfrm>
            <a:off x="461376" y="5146848"/>
            <a:ext cx="274273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ps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 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TextBox 751"/>
          <p:cNvSpPr txBox="1"/>
          <p:nvPr/>
        </p:nvSpPr>
        <p:spPr>
          <a:xfrm>
            <a:off x="5341248" y="5146848"/>
            <a:ext cx="177933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List containers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TextBox 752"/>
          <p:cNvSpPr txBox="1"/>
          <p:nvPr/>
        </p:nvSpPr>
        <p:spPr>
          <a:xfrm>
            <a:off x="461376" y="5467824"/>
            <a:ext cx="3018455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stop &lt;id&gt; 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TextBox 753"/>
          <p:cNvSpPr txBox="1"/>
          <p:nvPr/>
        </p:nvSpPr>
        <p:spPr>
          <a:xfrm>
            <a:off x="5341680" y="5467824"/>
            <a:ext cx="1779333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Stop container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TextBox 754"/>
          <p:cNvSpPr txBox="1"/>
          <p:nvPr/>
        </p:nvSpPr>
        <p:spPr>
          <a:xfrm>
            <a:off x="461376" y="5788800"/>
            <a:ext cx="2800447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login            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TextBox 755"/>
          <p:cNvSpPr txBox="1"/>
          <p:nvPr/>
        </p:nvSpPr>
        <p:spPr>
          <a:xfrm>
            <a:off x="5341248" y="5788800"/>
            <a:ext cx="2431756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Login to </a:t>
            </a:r>
            <a:r>
              <a:rPr lang="en-IN" sz="1900" dirty="0" err="1">
                <a:solidFill>
                  <a:srgbClr val="AEAEAE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 Hub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TextBox 756"/>
          <p:cNvSpPr txBox="1"/>
          <p:nvPr/>
        </p:nvSpPr>
        <p:spPr>
          <a:xfrm>
            <a:off x="461376" y="6109776"/>
            <a:ext cx="3417602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docker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push user/</a:t>
            </a:r>
            <a:r>
              <a:rPr lang="en-IN" sz="1900" dirty="0" err="1">
                <a:solidFill>
                  <a:srgbClr val="FFF8E1"/>
                </a:solidFill>
                <a:latin typeface="RobotoMono"/>
                <a:ea typeface="RobotoMono"/>
              </a:rPr>
              <a:t>img:tag</a:t>
            </a:r>
            <a:r>
              <a:rPr lang="en-IN" sz="1900" dirty="0">
                <a:solidFill>
                  <a:srgbClr val="FFF8E1"/>
                </a:solidFill>
                <a:latin typeface="RobotoMono"/>
                <a:ea typeface="RobotoMono"/>
              </a:rPr>
              <a:t>          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TextBox 757"/>
          <p:cNvSpPr txBox="1"/>
          <p:nvPr/>
        </p:nvSpPr>
        <p:spPr>
          <a:xfrm>
            <a:off x="5341248" y="6109776"/>
            <a:ext cx="1899559" cy="29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900" dirty="0">
                <a:solidFill>
                  <a:srgbClr val="AEAEAE"/>
                </a:solidFill>
                <a:latin typeface="RobotoMono"/>
                <a:ea typeface="RobotoMono"/>
              </a:rPr>
              <a:t># Push to registry</a:t>
            </a:r>
            <a:endParaRPr lang="en-IN" sz="1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13261536" y="6555600"/>
            <a:ext cx="185948" cy="2000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300" dirty="0">
                <a:solidFill>
                  <a:srgbClr val="455A64"/>
                </a:solidFill>
                <a:latin typeface="SegoeUI"/>
                <a:ea typeface="SegoeUI"/>
              </a:rPr>
              <a:t>14</a:t>
            </a:r>
            <a:endParaRPr lang="en-IN" sz="130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Freeform 644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Freeform 645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Freeform 64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0" t="0" r="r" b="b"/>
            <a:pathLst>
              <a:path w="31830" h="16378">
                <a:moveTo>
                  <a:pt x="0" y="0"/>
                </a:moveTo>
                <a:lnTo>
                  <a:pt x="31830" y="0"/>
                </a:lnTo>
                <a:lnTo>
                  <a:pt x="31830" y="16378"/>
                </a:lnTo>
                <a:lnTo>
                  <a:pt x="0" y="1637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Freeform 647"/>
          <p:cNvSpPr/>
          <p:nvPr/>
        </p:nvSpPr>
        <p:spPr>
          <a:xfrm>
            <a:off x="402624" y="202608"/>
            <a:ext cx="34992" cy="300672"/>
          </a:xfrm>
          <a:custGeom>
            <a:avLst/>
            <a:gdLst/>
            <a:ahLst/>
            <a:cxnLst/>
            <a:rect l="0" t="0" r="r" b="b"/>
            <a:pathLst>
              <a:path w="81" h="696">
                <a:moveTo>
                  <a:pt x="40" y="696"/>
                </a:moveTo>
                <a:cubicBezTo>
                  <a:pt x="18" y="696"/>
                  <a:pt x="0" y="678"/>
                  <a:pt x="0" y="656"/>
                </a:cubicBezTo>
                <a:lnTo>
                  <a:pt x="0" y="40"/>
                </a:ln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1" y="18"/>
                  <a:pt x="81" y="40"/>
                </a:cubicBezTo>
                <a:lnTo>
                  <a:pt x="81" y="656"/>
                </a:lnTo>
                <a:cubicBezTo>
                  <a:pt x="81" y="678"/>
                  <a:pt x="63" y="696"/>
                  <a:pt x="40" y="696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Freeform 648"/>
          <p:cNvSpPr/>
          <p:nvPr/>
        </p:nvSpPr>
        <p:spPr>
          <a:xfrm>
            <a:off x="402624" y="202608"/>
            <a:ext cx="34992" cy="287712"/>
          </a:xfrm>
          <a:custGeom>
            <a:avLst/>
            <a:gdLst/>
            <a:ahLst/>
            <a:cxnLst/>
            <a:rect l="0" t="0" r="r" b="b"/>
            <a:pathLst>
              <a:path w="81" h="666">
                <a:moveTo>
                  <a:pt x="40" y="0"/>
                </a:moveTo>
                <a:cubicBezTo>
                  <a:pt x="18" y="0"/>
                  <a:pt x="0" y="18"/>
                  <a:pt x="0" y="40"/>
                </a:cubicBezTo>
                <a:lnTo>
                  <a:pt x="0" y="656"/>
                </a:lnTo>
                <a:cubicBezTo>
                  <a:pt x="0" y="661"/>
                  <a:pt x="5" y="666"/>
                  <a:pt x="10" y="666"/>
                </a:cubicBezTo>
                <a:cubicBezTo>
                  <a:pt x="16" y="666"/>
                  <a:pt x="20" y="661"/>
                  <a:pt x="20" y="656"/>
                </a:cubicBezTo>
                <a:lnTo>
                  <a:pt x="20" y="68"/>
                </a:lnTo>
                <a:cubicBezTo>
                  <a:pt x="20" y="52"/>
                  <a:pt x="33" y="40"/>
                  <a:pt x="48" y="40"/>
                </a:cubicBezTo>
                <a:lnTo>
                  <a:pt x="81" y="40"/>
                </a:lnTo>
                <a:cubicBezTo>
                  <a:pt x="81" y="18"/>
                  <a:pt x="63" y="0"/>
                  <a:pt x="40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Freeform 649"/>
          <p:cNvSpPr/>
          <p:nvPr/>
        </p:nvSpPr>
        <p:spPr>
          <a:xfrm>
            <a:off x="402624" y="202608"/>
            <a:ext cx="34992" cy="300672"/>
          </a:xfrm>
          <a:custGeom>
            <a:avLst/>
            <a:gdLst/>
            <a:ahLst/>
            <a:cxnLst/>
            <a:rect l="0" t="0" r="r" b="b"/>
            <a:pathLst>
              <a:path w="81" h="696">
                <a:moveTo>
                  <a:pt x="40" y="696"/>
                </a:moveTo>
                <a:cubicBezTo>
                  <a:pt x="18" y="696"/>
                  <a:pt x="0" y="678"/>
                  <a:pt x="0" y="656"/>
                </a:cubicBezTo>
                <a:lnTo>
                  <a:pt x="0" y="40"/>
                </a:lnTo>
                <a:cubicBezTo>
                  <a:pt x="0" y="18"/>
                  <a:pt x="18" y="0"/>
                  <a:pt x="40" y="0"/>
                </a:cubicBezTo>
                <a:cubicBezTo>
                  <a:pt x="63" y="0"/>
                  <a:pt x="81" y="18"/>
                  <a:pt x="81" y="40"/>
                </a:cubicBezTo>
                <a:lnTo>
                  <a:pt x="81" y="656"/>
                </a:lnTo>
                <a:cubicBezTo>
                  <a:pt x="81" y="678"/>
                  <a:pt x="63" y="696"/>
                  <a:pt x="40" y="696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Freeform 650"/>
          <p:cNvSpPr/>
          <p:nvPr/>
        </p:nvSpPr>
        <p:spPr>
          <a:xfrm>
            <a:off x="402624" y="202608"/>
            <a:ext cx="34992" cy="287712"/>
          </a:xfrm>
          <a:custGeom>
            <a:avLst/>
            <a:gdLst/>
            <a:ahLst/>
            <a:cxnLst/>
            <a:rect l="0" t="0" r="r" b="b"/>
            <a:pathLst>
              <a:path w="81" h="666">
                <a:moveTo>
                  <a:pt x="40" y="0"/>
                </a:moveTo>
                <a:cubicBezTo>
                  <a:pt x="18" y="0"/>
                  <a:pt x="0" y="18"/>
                  <a:pt x="0" y="40"/>
                </a:cubicBezTo>
                <a:lnTo>
                  <a:pt x="0" y="656"/>
                </a:lnTo>
                <a:cubicBezTo>
                  <a:pt x="0" y="661"/>
                  <a:pt x="5" y="666"/>
                  <a:pt x="10" y="666"/>
                </a:cubicBezTo>
                <a:cubicBezTo>
                  <a:pt x="16" y="666"/>
                  <a:pt x="20" y="661"/>
                  <a:pt x="20" y="656"/>
                </a:cubicBezTo>
                <a:lnTo>
                  <a:pt x="20" y="68"/>
                </a:lnTo>
                <a:cubicBezTo>
                  <a:pt x="20" y="52"/>
                  <a:pt x="33" y="40"/>
                  <a:pt x="48" y="40"/>
                </a:cubicBezTo>
                <a:lnTo>
                  <a:pt x="81" y="40"/>
                </a:lnTo>
                <a:cubicBezTo>
                  <a:pt x="81" y="18"/>
                  <a:pt x="63" y="0"/>
                  <a:pt x="40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Freeform 651"/>
          <p:cNvSpPr/>
          <p:nvPr/>
        </p:nvSpPr>
        <p:spPr>
          <a:xfrm>
            <a:off x="428544" y="210816"/>
            <a:ext cx="231552" cy="197856"/>
          </a:xfrm>
          <a:custGeom>
            <a:avLst/>
            <a:gdLst/>
            <a:ahLst/>
            <a:cxnLst/>
            <a:rect l="0" t="0" r="r" b="b"/>
            <a:pathLst>
              <a:path w="536" h="458">
                <a:moveTo>
                  <a:pt x="524" y="22"/>
                </a:moveTo>
                <a:cubicBezTo>
                  <a:pt x="491" y="8"/>
                  <a:pt x="456" y="1"/>
                  <a:pt x="417" y="0"/>
                </a:cubicBezTo>
                <a:lnTo>
                  <a:pt x="390" y="8"/>
                </a:lnTo>
                <a:lnTo>
                  <a:pt x="297" y="21"/>
                </a:lnTo>
                <a:lnTo>
                  <a:pt x="277" y="18"/>
                </a:lnTo>
                <a:cubicBezTo>
                  <a:pt x="273" y="19"/>
                  <a:pt x="268" y="20"/>
                  <a:pt x="263" y="21"/>
                </a:cubicBezTo>
                <a:cubicBezTo>
                  <a:pt x="220" y="31"/>
                  <a:pt x="179" y="39"/>
                  <a:pt x="139" y="41"/>
                </a:cubicBezTo>
                <a:lnTo>
                  <a:pt x="119" y="61"/>
                </a:lnTo>
                <a:lnTo>
                  <a:pt x="0" y="41"/>
                </a:lnTo>
                <a:lnTo>
                  <a:pt x="0" y="419"/>
                </a:lnTo>
                <a:lnTo>
                  <a:pt x="119" y="419"/>
                </a:lnTo>
                <a:lnTo>
                  <a:pt x="139" y="458"/>
                </a:lnTo>
                <a:lnTo>
                  <a:pt x="140" y="458"/>
                </a:lnTo>
                <a:cubicBezTo>
                  <a:pt x="185" y="456"/>
                  <a:pt x="229" y="447"/>
                  <a:pt x="272" y="438"/>
                </a:cubicBezTo>
                <a:lnTo>
                  <a:pt x="277" y="437"/>
                </a:lnTo>
                <a:lnTo>
                  <a:pt x="290" y="424"/>
                </a:lnTo>
                <a:lnTo>
                  <a:pt x="399" y="410"/>
                </a:lnTo>
                <a:lnTo>
                  <a:pt x="417" y="418"/>
                </a:lnTo>
                <a:cubicBezTo>
                  <a:pt x="451" y="419"/>
                  <a:pt x="481" y="425"/>
                  <a:pt x="509" y="437"/>
                </a:cubicBezTo>
                <a:cubicBezTo>
                  <a:pt x="515" y="440"/>
                  <a:pt x="522" y="439"/>
                  <a:pt x="528" y="435"/>
                </a:cubicBezTo>
                <a:cubicBezTo>
                  <a:pt x="533" y="432"/>
                  <a:pt x="536" y="425"/>
                  <a:pt x="536" y="419"/>
                </a:cubicBezTo>
                <a:lnTo>
                  <a:pt x="536" y="41"/>
                </a:lnTo>
                <a:cubicBezTo>
                  <a:pt x="536" y="33"/>
                  <a:pt x="532" y="26"/>
                  <a:pt x="524" y="22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Freeform 652"/>
          <p:cNvSpPr/>
          <p:nvPr/>
        </p:nvSpPr>
        <p:spPr>
          <a:xfrm>
            <a:off x="428544" y="210816"/>
            <a:ext cx="231552" cy="197856"/>
          </a:xfrm>
          <a:custGeom>
            <a:avLst/>
            <a:gdLst/>
            <a:ahLst/>
            <a:cxnLst/>
            <a:rect l="0" t="0" r="r" b="b"/>
            <a:pathLst>
              <a:path w="536" h="458">
                <a:moveTo>
                  <a:pt x="139" y="41"/>
                </a:moveTo>
                <a:cubicBezTo>
                  <a:pt x="134" y="41"/>
                  <a:pt x="129" y="41"/>
                  <a:pt x="124" y="41"/>
                </a:cubicBezTo>
                <a:cubicBezTo>
                  <a:pt x="89" y="41"/>
                  <a:pt x="57" y="35"/>
                  <a:pt x="27" y="22"/>
                </a:cubicBezTo>
                <a:cubicBezTo>
                  <a:pt x="21" y="20"/>
                  <a:pt x="14" y="20"/>
                  <a:pt x="9" y="24"/>
                </a:cubicBezTo>
                <a:cubicBezTo>
                  <a:pt x="3" y="28"/>
                  <a:pt x="0" y="34"/>
                  <a:pt x="0" y="41"/>
                </a:cubicBezTo>
                <a:lnTo>
                  <a:pt x="0" y="160"/>
                </a:lnTo>
                <a:cubicBezTo>
                  <a:pt x="0" y="160"/>
                  <a:pt x="65" y="180"/>
                  <a:pt x="139" y="180"/>
                </a:cubicBezTo>
                <a:lnTo>
                  <a:pt x="139" y="41"/>
                </a:lnTo>
                <a:moveTo>
                  <a:pt x="277" y="160"/>
                </a:moveTo>
                <a:cubicBezTo>
                  <a:pt x="277" y="160"/>
                  <a:pt x="203" y="180"/>
                  <a:pt x="139" y="180"/>
                </a:cubicBezTo>
                <a:lnTo>
                  <a:pt x="139" y="319"/>
                </a:lnTo>
                <a:cubicBezTo>
                  <a:pt x="198" y="319"/>
                  <a:pt x="277" y="300"/>
                  <a:pt x="277" y="300"/>
                </a:cubicBezTo>
                <a:lnTo>
                  <a:pt x="277" y="160"/>
                </a:lnTo>
                <a:moveTo>
                  <a:pt x="417" y="140"/>
                </a:moveTo>
                <a:lnTo>
                  <a:pt x="417" y="0"/>
                </a:lnTo>
                <a:cubicBezTo>
                  <a:pt x="416" y="0"/>
                  <a:pt x="414" y="0"/>
                  <a:pt x="412" y="0"/>
                </a:cubicBezTo>
                <a:cubicBezTo>
                  <a:pt x="367" y="0"/>
                  <a:pt x="321" y="9"/>
                  <a:pt x="277" y="18"/>
                </a:cubicBezTo>
                <a:lnTo>
                  <a:pt x="277" y="160"/>
                </a:lnTo>
                <a:cubicBezTo>
                  <a:pt x="277" y="160"/>
                  <a:pt x="321" y="140"/>
                  <a:pt x="417" y="140"/>
                </a:cubicBezTo>
                <a:moveTo>
                  <a:pt x="12" y="437"/>
                </a:moveTo>
                <a:cubicBezTo>
                  <a:pt x="41" y="450"/>
                  <a:pt x="73" y="457"/>
                  <a:pt x="107" y="458"/>
                </a:cubicBezTo>
                <a:lnTo>
                  <a:pt x="139" y="458"/>
                </a:lnTo>
                <a:lnTo>
                  <a:pt x="139" y="319"/>
                </a:lnTo>
                <a:cubicBezTo>
                  <a:pt x="56" y="319"/>
                  <a:pt x="0" y="300"/>
                  <a:pt x="0" y="300"/>
                </a:cubicBezTo>
                <a:lnTo>
                  <a:pt x="0" y="419"/>
                </a:lnTo>
                <a:cubicBezTo>
                  <a:pt x="0" y="427"/>
                  <a:pt x="4" y="434"/>
                  <a:pt x="12" y="437"/>
                </a:cubicBezTo>
                <a:moveTo>
                  <a:pt x="277" y="300"/>
                </a:moveTo>
                <a:lnTo>
                  <a:pt x="277" y="437"/>
                </a:lnTo>
                <a:cubicBezTo>
                  <a:pt x="323" y="427"/>
                  <a:pt x="368" y="418"/>
                  <a:pt x="412" y="418"/>
                </a:cubicBezTo>
                <a:cubicBezTo>
                  <a:pt x="414" y="418"/>
                  <a:pt x="416" y="418"/>
                  <a:pt x="417" y="418"/>
                </a:cubicBezTo>
                <a:lnTo>
                  <a:pt x="417" y="280"/>
                </a:lnTo>
                <a:cubicBezTo>
                  <a:pt x="327" y="280"/>
                  <a:pt x="277" y="300"/>
                  <a:pt x="277" y="300"/>
                </a:cubicBezTo>
                <a:moveTo>
                  <a:pt x="417" y="280"/>
                </a:moveTo>
                <a:cubicBezTo>
                  <a:pt x="471" y="280"/>
                  <a:pt x="513" y="291"/>
                  <a:pt x="536" y="299"/>
                </a:cubicBezTo>
                <a:lnTo>
                  <a:pt x="536" y="158"/>
                </a:lnTo>
                <a:cubicBezTo>
                  <a:pt x="514" y="150"/>
                  <a:pt x="472" y="140"/>
                  <a:pt x="417" y="140"/>
                </a:cubicBezTo>
                <a:lnTo>
                  <a:pt x="417" y="280"/>
                </a:ln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TextBox 653"/>
          <p:cNvSpPr txBox="1"/>
          <p:nvPr/>
        </p:nvSpPr>
        <p:spPr>
          <a:xfrm>
            <a:off x="695952" y="136944"/>
            <a:ext cx="2396490" cy="3693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400" b="1" dirty="0">
                <a:solidFill>
                  <a:srgbClr val="2C3E50"/>
                </a:solidFill>
                <a:latin typeface="SegoeUI"/>
                <a:ea typeface="SegoeUI"/>
              </a:rPr>
              <a:t> Day 1 Summary</a:t>
            </a:r>
            <a:endParaRPr lang="en-IN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TextBox 654"/>
          <p:cNvSpPr txBox="1"/>
          <p:nvPr/>
        </p:nvSpPr>
        <p:spPr>
          <a:xfrm>
            <a:off x="343008" y="750384"/>
            <a:ext cx="2446824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What You Accomplished: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Freeform 655"/>
          <p:cNvSpPr/>
          <p:nvPr/>
        </p:nvSpPr>
        <p:spPr>
          <a:xfrm>
            <a:off x="822528" y="1268352"/>
            <a:ext cx="206496" cy="206496"/>
          </a:xfrm>
          <a:custGeom>
            <a:avLst/>
            <a:gdLst/>
            <a:ahLst/>
            <a:cxnLst/>
            <a:rect l="0" t="0" r="r" b="b"/>
            <a:pathLst>
              <a:path w="478" h="478">
                <a:moveTo>
                  <a:pt x="478" y="425"/>
                </a:moveTo>
                <a:cubicBezTo>
                  <a:pt x="478" y="454"/>
                  <a:pt x="454" y="478"/>
                  <a:pt x="425" y="478"/>
                </a:cubicBezTo>
                <a:lnTo>
                  <a:pt x="53" y="478"/>
                </a:lnTo>
                <a:cubicBezTo>
                  <a:pt x="24" y="478"/>
                  <a:pt x="0" y="454"/>
                  <a:pt x="0" y="425"/>
                </a:cubicBezTo>
                <a:lnTo>
                  <a:pt x="0" y="53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4"/>
                  <a:pt x="478" y="53"/>
                </a:cubicBezTo>
                <a:lnTo>
                  <a:pt x="478" y="42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Freeform 656"/>
          <p:cNvSpPr/>
          <p:nvPr/>
        </p:nvSpPr>
        <p:spPr>
          <a:xfrm>
            <a:off x="855360" y="1302480"/>
            <a:ext cx="141696" cy="139104"/>
          </a:xfrm>
          <a:custGeom>
            <a:avLst/>
            <a:gdLst/>
            <a:ahLst/>
            <a:cxnLst/>
            <a:rect l="0" t="0" r="r" b="b"/>
            <a:pathLst>
              <a:path w="328" h="322">
                <a:moveTo>
                  <a:pt x="313" y="6"/>
                </a:moveTo>
                <a:cubicBezTo>
                  <a:pt x="298" y="-4"/>
                  <a:pt x="277" y="0"/>
                  <a:pt x="267" y="15"/>
                </a:cubicBezTo>
                <a:lnTo>
                  <a:pt x="122" y="238"/>
                </a:lnTo>
                <a:lnTo>
                  <a:pt x="56" y="177"/>
                </a:lnTo>
                <a:cubicBezTo>
                  <a:pt x="42" y="164"/>
                  <a:pt x="21" y="165"/>
                  <a:pt x="9" y="179"/>
                </a:cubicBezTo>
                <a:cubicBezTo>
                  <a:pt x="-4" y="192"/>
                  <a:pt x="-3" y="213"/>
                  <a:pt x="11" y="225"/>
                </a:cubicBezTo>
                <a:lnTo>
                  <a:pt x="106" y="313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50" y="319"/>
                  <a:pt x="157" y="307"/>
                </a:cubicBezTo>
                <a:cubicBezTo>
                  <a:pt x="162" y="301"/>
                  <a:pt x="323" y="52"/>
                  <a:pt x="323" y="52"/>
                </a:cubicBezTo>
                <a:cubicBezTo>
                  <a:pt x="333" y="37"/>
                  <a:pt x="328" y="15"/>
                  <a:pt x="313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TextBox 657"/>
          <p:cNvSpPr txBox="1"/>
          <p:nvPr/>
        </p:nvSpPr>
        <p:spPr>
          <a:xfrm>
            <a:off x="546048" y="1230768"/>
            <a:ext cx="2292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1.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TextBox 658"/>
          <p:cNvSpPr txBox="1"/>
          <p:nvPr/>
        </p:nvSpPr>
        <p:spPr>
          <a:xfrm>
            <a:off x="1035504" y="1230768"/>
            <a:ext cx="361477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Mastered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GitHub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Flow for collaboration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Freeform 659"/>
          <p:cNvSpPr/>
          <p:nvPr/>
        </p:nvSpPr>
        <p:spPr>
          <a:xfrm>
            <a:off x="822528" y="1611360"/>
            <a:ext cx="206496" cy="206064"/>
          </a:xfrm>
          <a:custGeom>
            <a:avLst/>
            <a:gdLst/>
            <a:ahLst/>
            <a:cxnLst/>
            <a:rect l="0" t="0" r="r" b="b"/>
            <a:pathLst>
              <a:path w="478" h="477">
                <a:moveTo>
                  <a:pt x="478" y="424"/>
                </a:moveTo>
                <a:cubicBezTo>
                  <a:pt x="478" y="454"/>
                  <a:pt x="454" y="477"/>
                  <a:pt x="425" y="477"/>
                </a:cubicBezTo>
                <a:lnTo>
                  <a:pt x="53" y="477"/>
                </a:lnTo>
                <a:cubicBezTo>
                  <a:pt x="24" y="477"/>
                  <a:pt x="0" y="454"/>
                  <a:pt x="0" y="424"/>
                </a:cubicBezTo>
                <a:lnTo>
                  <a:pt x="0" y="53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4"/>
                  <a:pt x="478" y="53"/>
                </a:cubicBezTo>
                <a:lnTo>
                  <a:pt x="478" y="42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Freeform 660"/>
          <p:cNvSpPr/>
          <p:nvPr/>
        </p:nvSpPr>
        <p:spPr>
          <a:xfrm>
            <a:off x="855360" y="1645488"/>
            <a:ext cx="141696" cy="139104"/>
          </a:xfrm>
          <a:custGeom>
            <a:avLst/>
            <a:gdLst/>
            <a:ahLst/>
            <a:cxnLst/>
            <a:rect l="0" t="0" r="r" b="b"/>
            <a:pathLst>
              <a:path w="328" h="322">
                <a:moveTo>
                  <a:pt x="313" y="5"/>
                </a:moveTo>
                <a:cubicBezTo>
                  <a:pt x="298" y="-5"/>
                  <a:pt x="277" y="0"/>
                  <a:pt x="267" y="15"/>
                </a:cubicBezTo>
                <a:lnTo>
                  <a:pt x="122" y="238"/>
                </a:lnTo>
                <a:lnTo>
                  <a:pt x="56" y="175"/>
                </a:lnTo>
                <a:cubicBezTo>
                  <a:pt x="42" y="163"/>
                  <a:pt x="21" y="164"/>
                  <a:pt x="9" y="177"/>
                </a:cubicBezTo>
                <a:cubicBezTo>
                  <a:pt x="-4" y="191"/>
                  <a:pt x="-3" y="213"/>
                  <a:pt x="11" y="225"/>
                </a:cubicBezTo>
                <a:lnTo>
                  <a:pt x="106" y="313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50" y="318"/>
                  <a:pt x="157" y="307"/>
                </a:cubicBezTo>
                <a:cubicBezTo>
                  <a:pt x="162" y="300"/>
                  <a:pt x="323" y="51"/>
                  <a:pt x="323" y="51"/>
                </a:cubicBezTo>
                <a:cubicBezTo>
                  <a:pt x="333" y="36"/>
                  <a:pt x="328" y="15"/>
                  <a:pt x="313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TextBox 661"/>
          <p:cNvSpPr txBox="1"/>
          <p:nvPr/>
        </p:nvSpPr>
        <p:spPr>
          <a:xfrm>
            <a:off x="546048" y="1573344"/>
            <a:ext cx="2292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2.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TextBox 662"/>
          <p:cNvSpPr txBox="1"/>
          <p:nvPr/>
        </p:nvSpPr>
        <p:spPr>
          <a:xfrm>
            <a:off x="1035504" y="1573344"/>
            <a:ext cx="3558667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Understood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microservices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architecture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Freeform 663"/>
          <p:cNvSpPr/>
          <p:nvPr/>
        </p:nvSpPr>
        <p:spPr>
          <a:xfrm>
            <a:off x="822528" y="1942704"/>
            <a:ext cx="206496" cy="206496"/>
          </a:xfrm>
          <a:custGeom>
            <a:avLst/>
            <a:gdLst/>
            <a:ahLst/>
            <a:cxnLst/>
            <a:rect l="0" t="0" r="r" b="b"/>
            <a:pathLst>
              <a:path w="478" h="478">
                <a:moveTo>
                  <a:pt x="478" y="425"/>
                </a:moveTo>
                <a:cubicBezTo>
                  <a:pt x="478" y="454"/>
                  <a:pt x="454" y="478"/>
                  <a:pt x="425" y="478"/>
                </a:cubicBezTo>
                <a:lnTo>
                  <a:pt x="53" y="478"/>
                </a:lnTo>
                <a:cubicBezTo>
                  <a:pt x="24" y="478"/>
                  <a:pt x="0" y="454"/>
                  <a:pt x="0" y="425"/>
                </a:cubicBezTo>
                <a:lnTo>
                  <a:pt x="0" y="54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4"/>
                  <a:pt x="478" y="54"/>
                </a:cubicBezTo>
                <a:lnTo>
                  <a:pt x="478" y="42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Freeform 664"/>
          <p:cNvSpPr/>
          <p:nvPr/>
        </p:nvSpPr>
        <p:spPr>
          <a:xfrm>
            <a:off x="855360" y="1976832"/>
            <a:ext cx="141696" cy="139104"/>
          </a:xfrm>
          <a:custGeom>
            <a:avLst/>
            <a:gdLst/>
            <a:ahLst/>
            <a:cxnLst/>
            <a:rect l="0" t="0" r="r" b="b"/>
            <a:pathLst>
              <a:path w="328" h="322">
                <a:moveTo>
                  <a:pt x="313" y="6"/>
                </a:moveTo>
                <a:cubicBezTo>
                  <a:pt x="298" y="-4"/>
                  <a:pt x="277" y="0"/>
                  <a:pt x="267" y="15"/>
                </a:cubicBezTo>
                <a:lnTo>
                  <a:pt x="122" y="238"/>
                </a:lnTo>
                <a:lnTo>
                  <a:pt x="56" y="177"/>
                </a:lnTo>
                <a:cubicBezTo>
                  <a:pt x="42" y="164"/>
                  <a:pt x="21" y="165"/>
                  <a:pt x="9" y="179"/>
                </a:cubicBezTo>
                <a:cubicBezTo>
                  <a:pt x="-4" y="192"/>
                  <a:pt x="-3" y="213"/>
                  <a:pt x="11" y="225"/>
                </a:cubicBezTo>
                <a:lnTo>
                  <a:pt x="106" y="314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50" y="319"/>
                  <a:pt x="157" y="307"/>
                </a:cubicBezTo>
                <a:cubicBezTo>
                  <a:pt x="162" y="301"/>
                  <a:pt x="323" y="51"/>
                  <a:pt x="323" y="51"/>
                </a:cubicBezTo>
                <a:cubicBezTo>
                  <a:pt x="333" y="36"/>
                  <a:pt x="328" y="16"/>
                  <a:pt x="313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TextBox 665"/>
          <p:cNvSpPr txBox="1"/>
          <p:nvPr/>
        </p:nvSpPr>
        <p:spPr>
          <a:xfrm>
            <a:off x="546048" y="1905120"/>
            <a:ext cx="2292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3.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TextBox 666"/>
          <p:cNvSpPr txBox="1"/>
          <p:nvPr/>
        </p:nvSpPr>
        <p:spPr>
          <a:xfrm>
            <a:off x="1035504" y="1905120"/>
            <a:ext cx="388728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Learned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Docker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containerization concepts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Freeform 667"/>
          <p:cNvSpPr/>
          <p:nvPr/>
        </p:nvSpPr>
        <p:spPr>
          <a:xfrm>
            <a:off x="822528" y="2285712"/>
            <a:ext cx="206496" cy="206064"/>
          </a:xfrm>
          <a:custGeom>
            <a:avLst/>
            <a:gdLst/>
            <a:ahLst/>
            <a:cxnLst/>
            <a:rect l="0" t="0" r="r" b="b"/>
            <a:pathLst>
              <a:path w="478" h="477">
                <a:moveTo>
                  <a:pt x="478" y="424"/>
                </a:moveTo>
                <a:cubicBezTo>
                  <a:pt x="478" y="454"/>
                  <a:pt x="454" y="477"/>
                  <a:pt x="425" y="477"/>
                </a:cubicBezTo>
                <a:lnTo>
                  <a:pt x="53" y="477"/>
                </a:lnTo>
                <a:cubicBezTo>
                  <a:pt x="24" y="477"/>
                  <a:pt x="0" y="454"/>
                  <a:pt x="0" y="424"/>
                </a:cubicBezTo>
                <a:lnTo>
                  <a:pt x="0" y="53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4"/>
                  <a:pt x="478" y="53"/>
                </a:cubicBezTo>
                <a:lnTo>
                  <a:pt x="478" y="42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Freeform 668"/>
          <p:cNvSpPr/>
          <p:nvPr/>
        </p:nvSpPr>
        <p:spPr>
          <a:xfrm>
            <a:off x="855360" y="2319840"/>
            <a:ext cx="141696" cy="139104"/>
          </a:xfrm>
          <a:custGeom>
            <a:avLst/>
            <a:gdLst/>
            <a:ahLst/>
            <a:cxnLst/>
            <a:rect l="0" t="0" r="r" b="b"/>
            <a:pathLst>
              <a:path w="328" h="322">
                <a:moveTo>
                  <a:pt x="313" y="5"/>
                </a:moveTo>
                <a:cubicBezTo>
                  <a:pt x="298" y="-5"/>
                  <a:pt x="277" y="0"/>
                  <a:pt x="267" y="15"/>
                </a:cubicBezTo>
                <a:lnTo>
                  <a:pt x="122" y="237"/>
                </a:lnTo>
                <a:lnTo>
                  <a:pt x="56" y="176"/>
                </a:lnTo>
                <a:cubicBezTo>
                  <a:pt x="42" y="163"/>
                  <a:pt x="21" y="164"/>
                  <a:pt x="9" y="177"/>
                </a:cubicBezTo>
                <a:cubicBezTo>
                  <a:pt x="-4" y="191"/>
                  <a:pt x="-3" y="212"/>
                  <a:pt x="11" y="224"/>
                </a:cubicBezTo>
                <a:lnTo>
                  <a:pt x="106" y="313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50" y="318"/>
                  <a:pt x="157" y="307"/>
                </a:cubicBezTo>
                <a:cubicBezTo>
                  <a:pt x="162" y="300"/>
                  <a:pt x="323" y="51"/>
                  <a:pt x="323" y="51"/>
                </a:cubicBezTo>
                <a:cubicBezTo>
                  <a:pt x="333" y="36"/>
                  <a:pt x="328" y="15"/>
                  <a:pt x="313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TextBox 669"/>
          <p:cNvSpPr txBox="1"/>
          <p:nvPr/>
        </p:nvSpPr>
        <p:spPr>
          <a:xfrm>
            <a:off x="546048" y="2247696"/>
            <a:ext cx="2292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4.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TextBox 670"/>
          <p:cNvSpPr txBox="1"/>
          <p:nvPr/>
        </p:nvSpPr>
        <p:spPr>
          <a:xfrm>
            <a:off x="1035504" y="2247696"/>
            <a:ext cx="329898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Created project structure on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GitHub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Freeform 671"/>
          <p:cNvSpPr/>
          <p:nvPr/>
        </p:nvSpPr>
        <p:spPr>
          <a:xfrm>
            <a:off x="822528" y="2617056"/>
            <a:ext cx="206496" cy="206496"/>
          </a:xfrm>
          <a:custGeom>
            <a:avLst/>
            <a:gdLst/>
            <a:ahLst/>
            <a:cxnLst/>
            <a:rect l="0" t="0" r="r" b="b"/>
            <a:pathLst>
              <a:path w="478" h="478">
                <a:moveTo>
                  <a:pt x="478" y="425"/>
                </a:moveTo>
                <a:cubicBezTo>
                  <a:pt x="478" y="454"/>
                  <a:pt x="454" y="478"/>
                  <a:pt x="425" y="478"/>
                </a:cubicBezTo>
                <a:lnTo>
                  <a:pt x="53" y="478"/>
                </a:lnTo>
                <a:cubicBezTo>
                  <a:pt x="24" y="478"/>
                  <a:pt x="0" y="454"/>
                  <a:pt x="0" y="425"/>
                </a:cubicBezTo>
                <a:lnTo>
                  <a:pt x="0" y="53"/>
                </a:lnTo>
                <a:cubicBezTo>
                  <a:pt x="0" y="24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4"/>
                  <a:pt x="478" y="53"/>
                </a:cubicBezTo>
                <a:lnTo>
                  <a:pt x="478" y="42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Freeform 672"/>
          <p:cNvSpPr/>
          <p:nvPr/>
        </p:nvSpPr>
        <p:spPr>
          <a:xfrm>
            <a:off x="855360" y="2651184"/>
            <a:ext cx="141696" cy="139104"/>
          </a:xfrm>
          <a:custGeom>
            <a:avLst/>
            <a:gdLst/>
            <a:ahLst/>
            <a:cxnLst/>
            <a:rect l="0" t="0" r="r" b="b"/>
            <a:pathLst>
              <a:path w="328" h="322">
                <a:moveTo>
                  <a:pt x="313" y="6"/>
                </a:moveTo>
                <a:cubicBezTo>
                  <a:pt x="298" y="-4"/>
                  <a:pt x="277" y="0"/>
                  <a:pt x="267" y="15"/>
                </a:cubicBezTo>
                <a:lnTo>
                  <a:pt x="122" y="238"/>
                </a:lnTo>
                <a:lnTo>
                  <a:pt x="56" y="177"/>
                </a:lnTo>
                <a:cubicBezTo>
                  <a:pt x="42" y="164"/>
                  <a:pt x="21" y="165"/>
                  <a:pt x="9" y="179"/>
                </a:cubicBezTo>
                <a:cubicBezTo>
                  <a:pt x="-4" y="192"/>
                  <a:pt x="-3" y="213"/>
                  <a:pt x="11" y="225"/>
                </a:cubicBezTo>
                <a:lnTo>
                  <a:pt x="106" y="314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50" y="319"/>
                  <a:pt x="157" y="307"/>
                </a:cubicBezTo>
                <a:cubicBezTo>
                  <a:pt x="162" y="301"/>
                  <a:pt x="323" y="51"/>
                  <a:pt x="323" y="51"/>
                </a:cubicBezTo>
                <a:cubicBezTo>
                  <a:pt x="333" y="36"/>
                  <a:pt x="328" y="16"/>
                  <a:pt x="313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TextBox 673"/>
          <p:cNvSpPr txBox="1"/>
          <p:nvPr/>
        </p:nvSpPr>
        <p:spPr>
          <a:xfrm>
            <a:off x="546048" y="2590704"/>
            <a:ext cx="22923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5.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TextBox 674"/>
          <p:cNvSpPr txBox="1"/>
          <p:nvPr/>
        </p:nvSpPr>
        <p:spPr>
          <a:xfrm>
            <a:off x="1035504" y="2590704"/>
            <a:ext cx="238366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Built foundation for CI/CD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Freeform 675"/>
          <p:cNvSpPr/>
          <p:nvPr/>
        </p:nvSpPr>
        <p:spPr>
          <a:xfrm>
            <a:off x="582768" y="3668976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343008" y="3070656"/>
            <a:ext cx="156850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Key Takeaways: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Freeform 677"/>
          <p:cNvSpPr/>
          <p:nvPr/>
        </p:nvSpPr>
        <p:spPr>
          <a:xfrm>
            <a:off x="582768" y="400032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19"/>
                  <a:pt x="143" y="128"/>
                  <a:pt x="135" y="135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" name="TextBox 678"/>
          <p:cNvSpPr txBox="1"/>
          <p:nvPr/>
        </p:nvSpPr>
        <p:spPr>
          <a:xfrm>
            <a:off x="800064" y="3551040"/>
            <a:ext cx="366754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GitHub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= Version control &amp;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DevOps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hub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Freeform 679"/>
          <p:cNvSpPr/>
          <p:nvPr/>
        </p:nvSpPr>
        <p:spPr>
          <a:xfrm>
            <a:off x="582768" y="4343328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49" y="119"/>
                  <a:pt x="143" y="128"/>
                  <a:pt x="135" y="135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800064" y="3882384"/>
            <a:ext cx="4419480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Microservices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= Independent, scalable services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Freeform 681"/>
          <p:cNvSpPr/>
          <p:nvPr/>
        </p:nvSpPr>
        <p:spPr>
          <a:xfrm>
            <a:off x="582768" y="4674672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19" y="11"/>
                  <a:pt x="128" y="17"/>
                  <a:pt x="135" y="24"/>
                </a:cubicBezTo>
                <a:cubicBezTo>
                  <a:pt x="143" y="32"/>
                  <a:pt x="149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3" name="TextBox 682"/>
          <p:cNvSpPr txBox="1"/>
          <p:nvPr/>
        </p:nvSpPr>
        <p:spPr>
          <a:xfrm>
            <a:off x="800064" y="4225392"/>
            <a:ext cx="404277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 err="1">
                <a:solidFill>
                  <a:srgbClr val="455A64"/>
                </a:solidFill>
                <a:latin typeface="SegoeUI"/>
                <a:ea typeface="SegoeUI"/>
              </a:rPr>
              <a:t>Docker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= Consistent, portable environments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TextBox 683"/>
          <p:cNvSpPr txBox="1"/>
          <p:nvPr/>
        </p:nvSpPr>
        <p:spPr>
          <a:xfrm>
            <a:off x="800064" y="4556736"/>
            <a:ext cx="51683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Workflow 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= Branch → Code → Test → Merge → Deploy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Freeform 684"/>
          <p:cNvSpPr/>
          <p:nvPr/>
        </p:nvSpPr>
        <p:spPr>
          <a:xfrm>
            <a:off x="582768" y="564624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19"/>
                  <a:pt x="143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Freeform 685"/>
          <p:cNvSpPr/>
          <p:nvPr/>
        </p:nvSpPr>
        <p:spPr>
          <a:xfrm>
            <a:off x="822528" y="5554656"/>
            <a:ext cx="206496" cy="206064"/>
          </a:xfrm>
          <a:custGeom>
            <a:avLst/>
            <a:gdLst/>
            <a:ahLst/>
            <a:cxnLst/>
            <a:rect l="0" t="0" r="r" b="b"/>
            <a:pathLst>
              <a:path w="478" h="477">
                <a:moveTo>
                  <a:pt x="372" y="266"/>
                </a:moveTo>
                <a:cubicBezTo>
                  <a:pt x="364" y="266"/>
                  <a:pt x="356" y="267"/>
                  <a:pt x="348" y="268"/>
                </a:cubicBezTo>
                <a:lnTo>
                  <a:pt x="210" y="130"/>
                </a:lnTo>
                <a:cubicBezTo>
                  <a:pt x="211" y="122"/>
                  <a:pt x="212" y="114"/>
                  <a:pt x="212" y="106"/>
                </a:cubicBezTo>
                <a:cubicBezTo>
                  <a:pt x="212" y="48"/>
                  <a:pt x="165" y="0"/>
                  <a:pt x="106" y="0"/>
                </a:cubicBezTo>
                <a:cubicBezTo>
                  <a:pt x="95" y="0"/>
                  <a:pt x="79" y="12"/>
                  <a:pt x="92" y="26"/>
                </a:cubicBezTo>
                <a:lnTo>
                  <a:pt x="132" y="65"/>
                </a:lnTo>
                <a:cubicBezTo>
                  <a:pt x="132" y="65"/>
                  <a:pt x="145" y="92"/>
                  <a:pt x="118" y="118"/>
                </a:cubicBezTo>
                <a:cubicBezTo>
                  <a:pt x="92" y="145"/>
                  <a:pt x="65" y="131"/>
                  <a:pt x="65" y="131"/>
                </a:cubicBezTo>
                <a:lnTo>
                  <a:pt x="26" y="92"/>
                </a:lnTo>
                <a:cubicBezTo>
                  <a:pt x="13" y="78"/>
                  <a:pt x="0" y="94"/>
                  <a:pt x="0" y="106"/>
                </a:cubicBezTo>
                <a:cubicBezTo>
                  <a:pt x="0" y="165"/>
                  <a:pt x="48" y="212"/>
                  <a:pt x="106" y="212"/>
                </a:cubicBezTo>
                <a:cubicBezTo>
                  <a:pt x="115" y="212"/>
                  <a:pt x="123" y="211"/>
                  <a:pt x="130" y="209"/>
                </a:cubicBezTo>
                <a:lnTo>
                  <a:pt x="269" y="348"/>
                </a:lnTo>
                <a:cubicBezTo>
                  <a:pt x="267" y="355"/>
                  <a:pt x="266" y="363"/>
                  <a:pt x="266" y="372"/>
                </a:cubicBezTo>
                <a:cubicBezTo>
                  <a:pt x="266" y="430"/>
                  <a:pt x="313" y="477"/>
                  <a:pt x="372" y="477"/>
                </a:cubicBezTo>
                <a:cubicBezTo>
                  <a:pt x="384" y="477"/>
                  <a:pt x="400" y="465"/>
                  <a:pt x="386" y="452"/>
                </a:cubicBezTo>
                <a:lnTo>
                  <a:pt x="347" y="413"/>
                </a:lnTo>
                <a:cubicBezTo>
                  <a:pt x="347" y="413"/>
                  <a:pt x="333" y="386"/>
                  <a:pt x="360" y="360"/>
                </a:cubicBezTo>
                <a:cubicBezTo>
                  <a:pt x="386" y="333"/>
                  <a:pt x="413" y="346"/>
                  <a:pt x="413" y="346"/>
                </a:cubicBezTo>
                <a:lnTo>
                  <a:pt x="452" y="386"/>
                </a:lnTo>
                <a:cubicBezTo>
                  <a:pt x="466" y="399"/>
                  <a:pt x="478" y="384"/>
                  <a:pt x="478" y="372"/>
                </a:cubicBezTo>
                <a:cubicBezTo>
                  <a:pt x="478" y="313"/>
                  <a:pt x="430" y="266"/>
                  <a:pt x="372" y="266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TextBox 686"/>
          <p:cNvSpPr txBox="1"/>
          <p:nvPr/>
        </p:nvSpPr>
        <p:spPr>
          <a:xfrm>
            <a:off x="343008" y="5048352"/>
            <a:ext cx="2052613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Tomorrow's Preview: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Freeform 687"/>
          <p:cNvSpPr/>
          <p:nvPr/>
        </p:nvSpPr>
        <p:spPr>
          <a:xfrm>
            <a:off x="582768" y="5977584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20"/>
                  <a:pt x="143" y="128"/>
                  <a:pt x="135" y="136"/>
                </a:cubicBezTo>
                <a:cubicBezTo>
                  <a:pt x="128" y="143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" name="Freeform 688"/>
          <p:cNvSpPr/>
          <p:nvPr/>
        </p:nvSpPr>
        <p:spPr>
          <a:xfrm>
            <a:off x="822528" y="5897664"/>
            <a:ext cx="206496" cy="206064"/>
          </a:xfrm>
          <a:custGeom>
            <a:avLst/>
            <a:gdLst/>
            <a:ahLst/>
            <a:cxnLst/>
            <a:rect l="0" t="0" r="r" b="b"/>
            <a:pathLst>
              <a:path w="478" h="477">
                <a:moveTo>
                  <a:pt x="478" y="238"/>
                </a:moveTo>
                <a:cubicBezTo>
                  <a:pt x="478" y="254"/>
                  <a:pt x="476" y="269"/>
                  <a:pt x="473" y="285"/>
                </a:cubicBezTo>
                <a:cubicBezTo>
                  <a:pt x="470" y="300"/>
                  <a:pt x="466" y="315"/>
                  <a:pt x="460" y="329"/>
                </a:cubicBezTo>
                <a:cubicBezTo>
                  <a:pt x="454" y="344"/>
                  <a:pt x="446" y="357"/>
                  <a:pt x="438" y="370"/>
                </a:cubicBezTo>
                <a:cubicBezTo>
                  <a:pt x="429" y="383"/>
                  <a:pt x="419" y="396"/>
                  <a:pt x="408" y="408"/>
                </a:cubicBezTo>
                <a:cubicBezTo>
                  <a:pt x="397" y="419"/>
                  <a:pt x="385" y="428"/>
                  <a:pt x="372" y="437"/>
                </a:cubicBezTo>
                <a:cubicBezTo>
                  <a:pt x="359" y="446"/>
                  <a:pt x="345" y="453"/>
                  <a:pt x="331" y="459"/>
                </a:cubicBezTo>
                <a:cubicBezTo>
                  <a:pt x="316" y="465"/>
                  <a:pt x="301" y="470"/>
                  <a:pt x="286" y="473"/>
                </a:cubicBezTo>
                <a:cubicBezTo>
                  <a:pt x="271" y="476"/>
                  <a:pt x="255" y="477"/>
                  <a:pt x="240" y="477"/>
                </a:cubicBezTo>
                <a:cubicBezTo>
                  <a:pt x="223" y="477"/>
                  <a:pt x="208" y="476"/>
                  <a:pt x="192" y="473"/>
                </a:cubicBezTo>
                <a:cubicBezTo>
                  <a:pt x="177" y="470"/>
                  <a:pt x="162" y="465"/>
                  <a:pt x="147" y="459"/>
                </a:cubicBezTo>
                <a:cubicBezTo>
                  <a:pt x="133" y="453"/>
                  <a:pt x="119" y="446"/>
                  <a:pt x="106" y="437"/>
                </a:cubicBezTo>
                <a:cubicBezTo>
                  <a:pt x="93" y="428"/>
                  <a:pt x="81" y="419"/>
                  <a:pt x="70" y="408"/>
                </a:cubicBezTo>
                <a:cubicBezTo>
                  <a:pt x="59" y="396"/>
                  <a:pt x="49" y="383"/>
                  <a:pt x="41" y="370"/>
                </a:cubicBezTo>
                <a:cubicBezTo>
                  <a:pt x="32" y="357"/>
                  <a:pt x="25" y="344"/>
                  <a:pt x="19" y="329"/>
                </a:cubicBezTo>
                <a:cubicBezTo>
                  <a:pt x="13" y="315"/>
                  <a:pt x="8" y="300"/>
                  <a:pt x="5" y="285"/>
                </a:cubicBezTo>
                <a:cubicBezTo>
                  <a:pt x="2" y="269"/>
                  <a:pt x="0" y="254"/>
                  <a:pt x="0" y="238"/>
                </a:cubicBez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5" y="133"/>
                  <a:pt x="32" y="119"/>
                  <a:pt x="41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8" y="2"/>
                  <a:pt x="223" y="0"/>
                  <a:pt x="240" y="0"/>
                </a:cubicBezTo>
                <a:cubicBezTo>
                  <a:pt x="255" y="0"/>
                  <a:pt x="271" y="2"/>
                  <a:pt x="286" y="5"/>
                </a:cubicBezTo>
                <a:cubicBezTo>
                  <a:pt x="301" y="8"/>
                  <a:pt x="316" y="12"/>
                  <a:pt x="331" y="18"/>
                </a:cubicBezTo>
                <a:cubicBezTo>
                  <a:pt x="345" y="24"/>
                  <a:pt x="359" y="31"/>
                  <a:pt x="372" y="40"/>
                </a:cubicBezTo>
                <a:cubicBezTo>
                  <a:pt x="385" y="49"/>
                  <a:pt x="397" y="59"/>
                  <a:pt x="408" y="70"/>
                </a:cubicBezTo>
                <a:cubicBezTo>
                  <a:pt x="419" y="81"/>
                  <a:pt x="429" y="93"/>
                  <a:pt x="438" y="106"/>
                </a:cubicBezTo>
                <a:cubicBezTo>
                  <a:pt x="446" y="119"/>
                  <a:pt x="454" y="133"/>
                  <a:pt x="460" y="147"/>
                </a:cubicBezTo>
                <a:cubicBezTo>
                  <a:pt x="466" y="161"/>
                  <a:pt x="470" y="176"/>
                  <a:pt x="473" y="192"/>
                </a:cubicBezTo>
                <a:cubicBezTo>
                  <a:pt x="476" y="207"/>
                  <a:pt x="478" y="222"/>
                  <a:pt x="478" y="23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Freeform 689"/>
          <p:cNvSpPr/>
          <p:nvPr/>
        </p:nvSpPr>
        <p:spPr>
          <a:xfrm>
            <a:off x="848448" y="5923584"/>
            <a:ext cx="154656" cy="154656"/>
          </a:xfrm>
          <a:custGeom>
            <a:avLst/>
            <a:gdLst/>
            <a:ahLst/>
            <a:cxnLst/>
            <a:rect l="0" t="0" r="r" b="b"/>
            <a:pathLst>
              <a:path w="358" h="358">
                <a:moveTo>
                  <a:pt x="358" y="179"/>
                </a:moveTo>
                <a:cubicBezTo>
                  <a:pt x="358" y="191"/>
                  <a:pt x="356" y="202"/>
                  <a:pt x="354" y="214"/>
                </a:cubicBezTo>
                <a:cubicBezTo>
                  <a:pt x="351" y="225"/>
                  <a:pt x="348" y="237"/>
                  <a:pt x="344" y="247"/>
                </a:cubicBezTo>
                <a:cubicBezTo>
                  <a:pt x="339" y="258"/>
                  <a:pt x="334" y="269"/>
                  <a:pt x="327" y="278"/>
                </a:cubicBezTo>
                <a:cubicBezTo>
                  <a:pt x="321" y="288"/>
                  <a:pt x="313" y="297"/>
                  <a:pt x="305" y="305"/>
                </a:cubicBezTo>
                <a:cubicBezTo>
                  <a:pt x="297" y="314"/>
                  <a:pt x="288" y="321"/>
                  <a:pt x="278" y="328"/>
                </a:cubicBezTo>
                <a:cubicBezTo>
                  <a:pt x="268" y="334"/>
                  <a:pt x="258" y="340"/>
                  <a:pt x="247" y="344"/>
                </a:cubicBezTo>
                <a:cubicBezTo>
                  <a:pt x="236" y="349"/>
                  <a:pt x="225" y="352"/>
                  <a:pt x="213" y="354"/>
                </a:cubicBezTo>
                <a:cubicBezTo>
                  <a:pt x="202" y="357"/>
                  <a:pt x="190" y="358"/>
                  <a:pt x="179" y="358"/>
                </a:cubicBezTo>
                <a:cubicBezTo>
                  <a:pt x="167" y="358"/>
                  <a:pt x="155" y="357"/>
                  <a:pt x="144" y="354"/>
                </a:cubicBezTo>
                <a:cubicBezTo>
                  <a:pt x="132" y="352"/>
                  <a:pt x="121" y="349"/>
                  <a:pt x="110" y="344"/>
                </a:cubicBezTo>
                <a:cubicBezTo>
                  <a:pt x="99" y="340"/>
                  <a:pt x="89" y="334"/>
                  <a:pt x="79" y="328"/>
                </a:cubicBezTo>
                <a:cubicBezTo>
                  <a:pt x="70" y="321"/>
                  <a:pt x="61" y="314"/>
                  <a:pt x="52" y="305"/>
                </a:cubicBezTo>
                <a:cubicBezTo>
                  <a:pt x="44" y="297"/>
                  <a:pt x="37" y="288"/>
                  <a:pt x="30" y="278"/>
                </a:cubicBezTo>
                <a:cubicBezTo>
                  <a:pt x="24" y="269"/>
                  <a:pt x="18" y="258"/>
                  <a:pt x="14" y="247"/>
                </a:cubicBezTo>
                <a:cubicBezTo>
                  <a:pt x="9" y="237"/>
                  <a:pt x="6" y="225"/>
                  <a:pt x="3" y="214"/>
                </a:cubicBezTo>
                <a:cubicBezTo>
                  <a:pt x="1" y="202"/>
                  <a:pt x="0" y="191"/>
                  <a:pt x="0" y="179"/>
                </a:cubicBezTo>
                <a:cubicBezTo>
                  <a:pt x="0" y="167"/>
                  <a:pt x="1" y="156"/>
                  <a:pt x="3" y="144"/>
                </a:cubicBezTo>
                <a:cubicBezTo>
                  <a:pt x="6" y="133"/>
                  <a:pt x="9" y="122"/>
                  <a:pt x="14" y="111"/>
                </a:cubicBezTo>
                <a:cubicBezTo>
                  <a:pt x="18" y="100"/>
                  <a:pt x="24" y="90"/>
                  <a:pt x="30" y="80"/>
                </a:cubicBezTo>
                <a:cubicBezTo>
                  <a:pt x="37" y="70"/>
                  <a:pt x="44" y="61"/>
                  <a:pt x="52" y="53"/>
                </a:cubicBezTo>
                <a:cubicBezTo>
                  <a:pt x="61" y="45"/>
                  <a:pt x="70" y="37"/>
                  <a:pt x="79" y="30"/>
                </a:cubicBezTo>
                <a:cubicBezTo>
                  <a:pt x="89" y="23"/>
                  <a:pt x="99" y="18"/>
                  <a:pt x="110" y="13"/>
                </a:cubicBezTo>
                <a:cubicBezTo>
                  <a:pt x="121" y="9"/>
                  <a:pt x="132" y="5"/>
                  <a:pt x="144" y="3"/>
                </a:cubicBezTo>
                <a:cubicBezTo>
                  <a:pt x="155" y="1"/>
                  <a:pt x="167" y="0"/>
                  <a:pt x="179" y="0"/>
                </a:cubicBezTo>
                <a:cubicBezTo>
                  <a:pt x="190" y="0"/>
                  <a:pt x="202" y="1"/>
                  <a:pt x="213" y="3"/>
                </a:cubicBezTo>
                <a:cubicBezTo>
                  <a:pt x="225" y="5"/>
                  <a:pt x="236" y="9"/>
                  <a:pt x="247" y="13"/>
                </a:cubicBezTo>
                <a:cubicBezTo>
                  <a:pt x="258" y="18"/>
                  <a:pt x="268" y="23"/>
                  <a:pt x="278" y="30"/>
                </a:cubicBezTo>
                <a:cubicBezTo>
                  <a:pt x="288" y="37"/>
                  <a:pt x="297" y="45"/>
                  <a:pt x="305" y="53"/>
                </a:cubicBezTo>
                <a:cubicBezTo>
                  <a:pt x="313" y="61"/>
                  <a:pt x="321" y="70"/>
                  <a:pt x="327" y="80"/>
                </a:cubicBezTo>
                <a:cubicBezTo>
                  <a:pt x="334" y="90"/>
                  <a:pt x="339" y="100"/>
                  <a:pt x="344" y="111"/>
                </a:cubicBezTo>
                <a:cubicBezTo>
                  <a:pt x="348" y="122"/>
                  <a:pt x="351" y="133"/>
                  <a:pt x="354" y="144"/>
                </a:cubicBezTo>
                <a:cubicBezTo>
                  <a:pt x="356" y="156"/>
                  <a:pt x="358" y="167"/>
                  <a:pt x="358" y="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Freeform 690"/>
          <p:cNvSpPr/>
          <p:nvPr/>
        </p:nvSpPr>
        <p:spPr>
          <a:xfrm>
            <a:off x="868320" y="5943456"/>
            <a:ext cx="114912" cy="114480"/>
          </a:xfrm>
          <a:custGeom>
            <a:avLst/>
            <a:gdLst/>
            <a:ahLst/>
            <a:cxn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0"/>
                  <a:pt x="240" y="214"/>
                  <a:pt x="226" y="227"/>
                </a:cubicBezTo>
                <a:cubicBezTo>
                  <a:pt x="214" y="239"/>
                  <a:pt x="199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1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1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40" y="51"/>
                  <a:pt x="249" y="65"/>
                  <a:pt x="256" y="81"/>
                </a:cubicBezTo>
                <a:cubicBezTo>
                  <a:pt x="263" y="98"/>
                  <a:pt x="266" y="116"/>
                  <a:pt x="266" y="133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2" name="Freeform 691"/>
          <p:cNvSpPr/>
          <p:nvPr/>
        </p:nvSpPr>
        <p:spPr>
          <a:xfrm>
            <a:off x="891216" y="5966352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Freeform 692"/>
          <p:cNvSpPr/>
          <p:nvPr/>
        </p:nvSpPr>
        <p:spPr>
          <a:xfrm>
            <a:off x="908496" y="5983200"/>
            <a:ext cx="34560" cy="34992"/>
          </a:xfrm>
          <a:custGeom>
            <a:avLst/>
            <a:gdLst/>
            <a:ahLst/>
            <a:cxnLst/>
            <a:rect l="0" t="0" r="r" b="b"/>
            <a:pathLst>
              <a:path w="80" h="81">
                <a:moveTo>
                  <a:pt x="80" y="41"/>
                </a:moveTo>
                <a:cubicBezTo>
                  <a:pt x="80" y="46"/>
                  <a:pt x="79" y="51"/>
                  <a:pt x="77" y="56"/>
                </a:cubicBezTo>
                <a:cubicBezTo>
                  <a:pt x="75" y="61"/>
                  <a:pt x="72" y="65"/>
                  <a:pt x="68" y="69"/>
                </a:cubicBezTo>
                <a:cubicBezTo>
                  <a:pt x="64" y="73"/>
                  <a:pt x="60" y="76"/>
                  <a:pt x="55" y="78"/>
                </a:cubicBezTo>
                <a:cubicBezTo>
                  <a:pt x="50" y="80"/>
                  <a:pt x="45" y="81"/>
                  <a:pt x="40" y="81"/>
                </a:cubicBezTo>
                <a:cubicBezTo>
                  <a:pt x="34" y="81"/>
                  <a:pt x="29" y="80"/>
                  <a:pt x="24" y="78"/>
                </a:cubicBezTo>
                <a:cubicBezTo>
                  <a:pt x="20" y="76"/>
                  <a:pt x="15" y="73"/>
                  <a:pt x="12" y="69"/>
                </a:cubicBezTo>
                <a:cubicBezTo>
                  <a:pt x="8" y="65"/>
                  <a:pt x="5" y="61"/>
                  <a:pt x="3" y="56"/>
                </a:cubicBezTo>
                <a:cubicBezTo>
                  <a:pt x="1" y="51"/>
                  <a:pt x="0" y="46"/>
                  <a:pt x="0" y="41"/>
                </a:cubicBezTo>
                <a:cubicBezTo>
                  <a:pt x="0" y="36"/>
                  <a:pt x="1" y="31"/>
                  <a:pt x="3" y="26"/>
                </a:cubicBezTo>
                <a:cubicBezTo>
                  <a:pt x="5" y="21"/>
                  <a:pt x="8" y="17"/>
                  <a:pt x="12" y="12"/>
                </a:cubicBezTo>
                <a:cubicBezTo>
                  <a:pt x="15" y="8"/>
                  <a:pt x="20" y="5"/>
                  <a:pt x="24" y="3"/>
                </a:cubicBezTo>
                <a:cubicBezTo>
                  <a:pt x="29" y="1"/>
                  <a:pt x="34" y="0"/>
                  <a:pt x="40" y="0"/>
                </a:cubicBezTo>
                <a:cubicBezTo>
                  <a:pt x="45" y="0"/>
                  <a:pt x="50" y="1"/>
                  <a:pt x="55" y="3"/>
                </a:cubicBezTo>
                <a:cubicBezTo>
                  <a:pt x="60" y="5"/>
                  <a:pt x="64" y="8"/>
                  <a:pt x="68" y="12"/>
                </a:cubicBezTo>
                <a:cubicBezTo>
                  <a:pt x="72" y="17"/>
                  <a:pt x="75" y="21"/>
                  <a:pt x="77" y="26"/>
                </a:cubicBezTo>
                <a:cubicBezTo>
                  <a:pt x="79" y="31"/>
                  <a:pt x="80" y="36"/>
                  <a:pt x="80" y="4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4" name="Freeform 693"/>
          <p:cNvSpPr/>
          <p:nvPr/>
        </p:nvSpPr>
        <p:spPr>
          <a:xfrm>
            <a:off x="923184" y="6002208"/>
            <a:ext cx="79488" cy="96768"/>
          </a:xfrm>
          <a:custGeom>
            <a:avLst/>
            <a:gdLst/>
            <a:ahLst/>
            <a:cxnLst/>
            <a:rect l="0" t="0" r="r" b="b"/>
            <a:pathLst>
              <a:path w="184" h="224">
                <a:moveTo>
                  <a:pt x="9" y="0"/>
                </a:moveTo>
                <a:lnTo>
                  <a:pt x="184" y="156"/>
                </a:lnTo>
                <a:cubicBezTo>
                  <a:pt x="184" y="156"/>
                  <a:pt x="149" y="201"/>
                  <a:pt x="78" y="224"/>
                </a:cubicBezTo>
                <a:lnTo>
                  <a:pt x="0" y="2"/>
                </a:lnTo>
                <a:lnTo>
                  <a:pt x="9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Freeform 694"/>
          <p:cNvSpPr/>
          <p:nvPr/>
        </p:nvSpPr>
        <p:spPr>
          <a:xfrm>
            <a:off x="921456" y="5991840"/>
            <a:ext cx="15120" cy="15120"/>
          </a:xfrm>
          <a:custGeom>
            <a:avLst/>
            <a:gdLst/>
            <a:ahLst/>
            <a:cxnLst/>
            <a:rect l="0" t="0" r="r" b="b"/>
            <a:pathLst>
              <a:path w="35" h="35">
                <a:moveTo>
                  <a:pt x="14" y="35"/>
                </a:moveTo>
                <a:cubicBezTo>
                  <a:pt x="10" y="35"/>
                  <a:pt x="7" y="34"/>
                  <a:pt x="4" y="31"/>
                </a:cubicBezTo>
                <a:cubicBezTo>
                  <a:pt x="-1" y="26"/>
                  <a:pt x="-1" y="18"/>
                  <a:pt x="4" y="13"/>
                </a:cubicBezTo>
                <a:lnTo>
                  <a:pt x="12" y="4"/>
                </a:lnTo>
                <a:cubicBezTo>
                  <a:pt x="17" y="-1"/>
                  <a:pt x="25" y="-1"/>
                  <a:pt x="31" y="4"/>
                </a:cubicBezTo>
                <a:cubicBezTo>
                  <a:pt x="36" y="11"/>
                  <a:pt x="36" y="19"/>
                  <a:pt x="31" y="24"/>
                </a:cubicBezTo>
                <a:lnTo>
                  <a:pt x="23" y="31"/>
                </a:lnTo>
                <a:cubicBezTo>
                  <a:pt x="20" y="34"/>
                  <a:pt x="17" y="35"/>
                  <a:pt x="14" y="3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Freeform 695"/>
          <p:cNvSpPr/>
          <p:nvPr/>
        </p:nvSpPr>
        <p:spPr>
          <a:xfrm>
            <a:off x="959040" y="5897664"/>
            <a:ext cx="69984" cy="69984"/>
          </a:xfrm>
          <a:custGeom>
            <a:avLst/>
            <a:gdLst/>
            <a:ahLst/>
            <a:cxnLst/>
            <a:rect l="0" t="0" r="r" b="b"/>
            <a:pathLst>
              <a:path w="162" h="162">
                <a:moveTo>
                  <a:pt x="2" y="93"/>
                </a:moveTo>
                <a:cubicBezTo>
                  <a:pt x="-3" y="121"/>
                  <a:pt x="2" y="155"/>
                  <a:pt x="2" y="155"/>
                </a:cubicBezTo>
                <a:lnTo>
                  <a:pt x="96" y="58"/>
                </a:lnTo>
                <a:cubicBezTo>
                  <a:pt x="99" y="38"/>
                  <a:pt x="89" y="5"/>
                  <a:pt x="73" y="1"/>
                </a:cubicBezTo>
                <a:cubicBezTo>
                  <a:pt x="57" y="-3"/>
                  <a:pt x="19" y="11"/>
                  <a:pt x="2" y="93"/>
                </a:cubicBezTo>
                <a:moveTo>
                  <a:pt x="68" y="160"/>
                </a:moveTo>
                <a:cubicBezTo>
                  <a:pt x="41" y="165"/>
                  <a:pt x="6" y="160"/>
                  <a:pt x="6" y="160"/>
                </a:cubicBezTo>
                <a:lnTo>
                  <a:pt x="105" y="66"/>
                </a:lnTo>
                <a:cubicBezTo>
                  <a:pt x="124" y="62"/>
                  <a:pt x="157" y="73"/>
                  <a:pt x="161" y="89"/>
                </a:cubicBezTo>
                <a:cubicBezTo>
                  <a:pt x="165" y="105"/>
                  <a:pt x="151" y="143"/>
                  <a:pt x="68" y="16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Freeform 696"/>
          <p:cNvSpPr/>
          <p:nvPr/>
        </p:nvSpPr>
        <p:spPr>
          <a:xfrm>
            <a:off x="926640" y="5915808"/>
            <a:ext cx="85968" cy="85536"/>
          </a:xfrm>
          <a:custGeom>
            <a:avLst/>
            <a:gdLst/>
            <a:ahLst/>
            <a:cxnLst/>
            <a:rect l="0" t="0" r="r" b="b"/>
            <a:pathLst>
              <a:path w="199" h="198">
                <a:moveTo>
                  <a:pt x="194" y="18"/>
                </a:moveTo>
                <a:lnTo>
                  <a:pt x="40" y="192"/>
                </a:lnTo>
                <a:cubicBezTo>
                  <a:pt x="35" y="197"/>
                  <a:pt x="18" y="204"/>
                  <a:pt x="6" y="192"/>
                </a:cubicBezTo>
                <a:cubicBezTo>
                  <a:pt x="-5" y="181"/>
                  <a:pt x="1" y="165"/>
                  <a:pt x="6" y="160"/>
                </a:cubicBezTo>
                <a:lnTo>
                  <a:pt x="181" y="5"/>
                </a:lnTo>
                <a:cubicBezTo>
                  <a:pt x="181" y="5"/>
                  <a:pt x="190" y="-4"/>
                  <a:pt x="197" y="3"/>
                </a:cubicBezTo>
                <a:cubicBezTo>
                  <a:pt x="203" y="10"/>
                  <a:pt x="194" y="18"/>
                  <a:pt x="194" y="18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8" name="TextBox 697"/>
          <p:cNvSpPr txBox="1"/>
          <p:nvPr/>
        </p:nvSpPr>
        <p:spPr>
          <a:xfrm>
            <a:off x="1035504" y="5528304"/>
            <a:ext cx="3189976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Morning: 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Jenkins CI/CD Pipelines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TextBox 698"/>
          <p:cNvSpPr txBox="1"/>
          <p:nvPr/>
        </p:nvSpPr>
        <p:spPr>
          <a:xfrm>
            <a:off x="1035504" y="5859648"/>
            <a:ext cx="587487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Afternoon: </a:t>
            </a:r>
            <a:r>
              <a:rPr lang="en-IN" sz="1600" dirty="0" err="1">
                <a:solidFill>
                  <a:srgbClr val="455A64"/>
                </a:solidFill>
                <a:latin typeface="SegoeUI"/>
                <a:ea typeface="SegoeUI"/>
              </a:rPr>
              <a:t>Kubernetes</a:t>
            </a:r>
            <a:r>
              <a:rPr lang="en-IN" sz="1600" dirty="0">
                <a:solidFill>
                  <a:srgbClr val="455A64"/>
                </a:solidFill>
                <a:latin typeface="SegoeUI"/>
                <a:ea typeface="SegoeUI"/>
              </a:rPr>
              <a:t> Orchestration &amp; End-to-End Automation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Freeform 699"/>
          <p:cNvSpPr/>
          <p:nvPr/>
        </p:nvSpPr>
        <p:spPr>
          <a:xfrm>
            <a:off x="1674432" y="6411744"/>
            <a:ext cx="103248" cy="114912"/>
          </a:xfrm>
          <a:custGeom>
            <a:avLst/>
            <a:gdLst/>
            <a:ahLst/>
            <a:cxnLst/>
            <a:rect l="0" t="0" r="r" b="b"/>
            <a:pathLst>
              <a:path w="239" h="266">
                <a:moveTo>
                  <a:pt x="0" y="0"/>
                </a:moveTo>
                <a:lnTo>
                  <a:pt x="0" y="147"/>
                </a:lnTo>
                <a:cubicBezTo>
                  <a:pt x="0" y="213"/>
                  <a:pt x="54" y="266"/>
                  <a:pt x="120" y="266"/>
                </a:cubicBezTo>
                <a:cubicBezTo>
                  <a:pt x="185" y="266"/>
                  <a:pt x="239" y="213"/>
                  <a:pt x="239" y="147"/>
                </a:cubicBezTo>
                <a:lnTo>
                  <a:pt x="239" y="4"/>
                </a:lnTo>
                <a:lnTo>
                  <a:pt x="0" y="0"/>
                </a:ln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Freeform 700"/>
          <p:cNvSpPr/>
          <p:nvPr/>
        </p:nvSpPr>
        <p:spPr>
          <a:xfrm>
            <a:off x="1702944" y="6503328"/>
            <a:ext cx="46224" cy="12096"/>
          </a:xfrm>
          <a:custGeom>
            <a:avLst/>
            <a:gdLst/>
            <a:ahLst/>
            <a:cxnLst/>
            <a:rect l="0" t="0" r="r" b="b"/>
            <a:pathLst>
              <a:path w="107" h="28">
                <a:moveTo>
                  <a:pt x="0" y="0"/>
                </a:moveTo>
                <a:lnTo>
                  <a:pt x="107" y="0"/>
                </a:lnTo>
                <a:cubicBezTo>
                  <a:pt x="107" y="0"/>
                  <a:pt x="92" y="28"/>
                  <a:pt x="53" y="28"/>
                </a:cubicBezTo>
                <a:cubicBezTo>
                  <a:pt x="13" y="28"/>
                  <a:pt x="0" y="0"/>
                  <a:pt x="0" y="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" name="Freeform 701"/>
          <p:cNvSpPr/>
          <p:nvPr/>
        </p:nvSpPr>
        <p:spPr>
          <a:xfrm>
            <a:off x="1697328" y="6451920"/>
            <a:ext cx="57456" cy="17712"/>
          </a:xfrm>
          <a:custGeom>
            <a:avLst/>
            <a:gdLst/>
            <a:ahLst/>
            <a:cxnLst/>
            <a:rect l="0" t="0" r="r" b="b"/>
            <a:pathLst>
              <a:path w="133" h="41">
                <a:moveTo>
                  <a:pt x="13" y="41"/>
                </a:moveTo>
                <a:cubicBezTo>
                  <a:pt x="5" y="41"/>
                  <a:pt x="0" y="35"/>
                  <a:pt x="0" y="28"/>
                </a:cubicBezTo>
                <a:lnTo>
                  <a:pt x="0" y="13"/>
                </a:lnTo>
                <a:cubicBezTo>
                  <a:pt x="0" y="6"/>
                  <a:pt x="5" y="0"/>
                  <a:pt x="13" y="0"/>
                </a:cubicBezTo>
                <a:cubicBezTo>
                  <a:pt x="20" y="0"/>
                  <a:pt x="26" y="6"/>
                  <a:pt x="26" y="13"/>
                </a:cubicBezTo>
                <a:lnTo>
                  <a:pt x="26" y="28"/>
                </a:lnTo>
                <a:cubicBezTo>
                  <a:pt x="26" y="35"/>
                  <a:pt x="20" y="41"/>
                  <a:pt x="13" y="41"/>
                </a:cubicBezTo>
                <a:moveTo>
                  <a:pt x="120" y="41"/>
                </a:moveTo>
                <a:cubicBezTo>
                  <a:pt x="112" y="41"/>
                  <a:pt x="106" y="35"/>
                  <a:pt x="106" y="28"/>
                </a:cubicBezTo>
                <a:lnTo>
                  <a:pt x="106" y="13"/>
                </a:lnTo>
                <a:cubicBezTo>
                  <a:pt x="106" y="6"/>
                  <a:pt x="112" y="0"/>
                  <a:pt x="120" y="0"/>
                </a:cubicBezTo>
                <a:cubicBezTo>
                  <a:pt x="127" y="0"/>
                  <a:pt x="133" y="6"/>
                  <a:pt x="133" y="13"/>
                </a:cubicBezTo>
                <a:lnTo>
                  <a:pt x="133" y="28"/>
                </a:lnTo>
                <a:cubicBezTo>
                  <a:pt x="133" y="35"/>
                  <a:pt x="127" y="41"/>
                  <a:pt x="120" y="41"/>
                </a:cubicBez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Freeform 702"/>
          <p:cNvSpPr/>
          <p:nvPr/>
        </p:nvSpPr>
        <p:spPr>
          <a:xfrm>
            <a:off x="1717200" y="6483456"/>
            <a:ext cx="17712" cy="6048"/>
          </a:xfrm>
          <a:custGeom>
            <a:avLst/>
            <a:gdLst/>
            <a:ahLst/>
            <a:cxnLst/>
            <a:rect l="0" t="0" r="r" b="b"/>
            <a:pathLst>
              <a:path w="41" h="14">
                <a:moveTo>
                  <a:pt x="34" y="14"/>
                </a:moveTo>
                <a:lnTo>
                  <a:pt x="6" y="14"/>
                </a:lnTo>
                <a:cubicBezTo>
                  <a:pt x="3" y="14"/>
                  <a:pt x="0" y="11"/>
                  <a:pt x="0" y="8"/>
                </a:cubicBezTo>
                <a:cubicBezTo>
                  <a:pt x="0" y="4"/>
                  <a:pt x="3" y="0"/>
                  <a:pt x="6" y="0"/>
                </a:cubicBezTo>
                <a:lnTo>
                  <a:pt x="34" y="0"/>
                </a:lnTo>
                <a:cubicBezTo>
                  <a:pt x="38" y="0"/>
                  <a:pt x="41" y="4"/>
                  <a:pt x="41" y="8"/>
                </a:cubicBezTo>
                <a:cubicBezTo>
                  <a:pt x="41" y="11"/>
                  <a:pt x="38" y="14"/>
                  <a:pt x="34" y="14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4" name="Freeform 703"/>
          <p:cNvSpPr/>
          <p:nvPr/>
        </p:nvSpPr>
        <p:spPr>
          <a:xfrm>
            <a:off x="1664496" y="6439824"/>
            <a:ext cx="123120" cy="33264"/>
          </a:xfrm>
          <a:custGeom>
            <a:avLst/>
            <a:gdLst/>
            <a:ahLst/>
            <a:cxnLst/>
            <a:rect l="0" t="0" r="r" b="b"/>
            <a:pathLst>
              <a:path w="285" h="77">
                <a:moveTo>
                  <a:pt x="47" y="38"/>
                </a:moveTo>
                <a:cubicBezTo>
                  <a:pt x="47" y="60"/>
                  <a:pt x="36" y="77"/>
                  <a:pt x="23" y="77"/>
                </a:cubicBezTo>
                <a:cubicBezTo>
                  <a:pt x="10" y="77"/>
                  <a:pt x="0" y="60"/>
                  <a:pt x="0" y="38"/>
                </a:cubicBezTo>
                <a:cubicBezTo>
                  <a:pt x="0" y="17"/>
                  <a:pt x="10" y="0"/>
                  <a:pt x="23" y="0"/>
                </a:cubicBezTo>
                <a:cubicBezTo>
                  <a:pt x="36" y="0"/>
                  <a:pt x="47" y="17"/>
                  <a:pt x="47" y="38"/>
                </a:cubicBezTo>
                <a:moveTo>
                  <a:pt x="285" y="38"/>
                </a:moveTo>
                <a:cubicBezTo>
                  <a:pt x="285" y="60"/>
                  <a:pt x="274" y="77"/>
                  <a:pt x="261" y="77"/>
                </a:cubicBezTo>
                <a:cubicBezTo>
                  <a:pt x="247" y="77"/>
                  <a:pt x="236" y="60"/>
                  <a:pt x="236" y="38"/>
                </a:cubicBezTo>
                <a:cubicBezTo>
                  <a:pt x="236" y="17"/>
                  <a:pt x="247" y="0"/>
                  <a:pt x="261" y="0"/>
                </a:cubicBezTo>
                <a:cubicBezTo>
                  <a:pt x="274" y="0"/>
                  <a:pt x="285" y="17"/>
                  <a:pt x="285" y="38"/>
                </a:cubicBez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Freeform 704"/>
          <p:cNvSpPr/>
          <p:nvPr/>
        </p:nvSpPr>
        <p:spPr>
          <a:xfrm>
            <a:off x="1667952" y="6382368"/>
            <a:ext cx="116208" cy="75168"/>
          </a:xfrm>
          <a:custGeom>
            <a:avLst/>
            <a:gdLst/>
            <a:ahLst/>
            <a:cxnLst/>
            <a:rect l="0" t="0" r="r" b="b"/>
            <a:pathLst>
              <a:path w="269" h="174">
                <a:moveTo>
                  <a:pt x="135" y="0"/>
                </a:moveTo>
                <a:cubicBezTo>
                  <a:pt x="42" y="0"/>
                  <a:pt x="0" y="63"/>
                  <a:pt x="0" y="115"/>
                </a:cubicBezTo>
                <a:cubicBezTo>
                  <a:pt x="0" y="166"/>
                  <a:pt x="17" y="181"/>
                  <a:pt x="20" y="166"/>
                </a:cubicBezTo>
                <a:cubicBezTo>
                  <a:pt x="32" y="115"/>
                  <a:pt x="62" y="99"/>
                  <a:pt x="62" y="99"/>
                </a:cubicBezTo>
                <a:cubicBezTo>
                  <a:pt x="124" y="151"/>
                  <a:pt x="114" y="109"/>
                  <a:pt x="114" y="109"/>
                </a:cubicBezTo>
                <a:cubicBezTo>
                  <a:pt x="176" y="171"/>
                  <a:pt x="145" y="109"/>
                  <a:pt x="145" y="109"/>
                </a:cubicBezTo>
                <a:cubicBezTo>
                  <a:pt x="166" y="130"/>
                  <a:pt x="228" y="130"/>
                  <a:pt x="228" y="130"/>
                </a:cubicBezTo>
                <a:cubicBezTo>
                  <a:pt x="228" y="130"/>
                  <a:pt x="238" y="146"/>
                  <a:pt x="248" y="166"/>
                </a:cubicBezTo>
                <a:cubicBezTo>
                  <a:pt x="259" y="187"/>
                  <a:pt x="269" y="166"/>
                  <a:pt x="269" y="115"/>
                </a:cubicBezTo>
                <a:cubicBezTo>
                  <a:pt x="269" y="63"/>
                  <a:pt x="217" y="0"/>
                  <a:pt x="135" y="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Freeform 705"/>
          <p:cNvSpPr/>
          <p:nvPr/>
        </p:nvSpPr>
        <p:spPr>
          <a:xfrm>
            <a:off x="1634256" y="6377616"/>
            <a:ext cx="63504" cy="63504"/>
          </a:xfrm>
          <a:custGeom>
            <a:avLst/>
            <a:gdLst/>
            <a:ahLst/>
            <a:cxnLst/>
            <a:rect l="0" t="0" r="r" b="b"/>
            <a:pathLst>
              <a:path w="147" h="147">
                <a:moveTo>
                  <a:pt x="139" y="39"/>
                </a:moveTo>
                <a:cubicBezTo>
                  <a:pt x="131" y="34"/>
                  <a:pt x="121" y="36"/>
                  <a:pt x="115" y="44"/>
                </a:cubicBezTo>
                <a:lnTo>
                  <a:pt x="107" y="57"/>
                </a:lnTo>
                <a:lnTo>
                  <a:pt x="107" y="27"/>
                </a:lnTo>
                <a:cubicBezTo>
                  <a:pt x="107" y="12"/>
                  <a:pt x="95" y="0"/>
                  <a:pt x="80" y="0"/>
                </a:cubicBezTo>
                <a:lnTo>
                  <a:pt x="26" y="0"/>
                </a:lnTo>
                <a:cubicBezTo>
                  <a:pt x="12" y="0"/>
                  <a:pt x="0" y="12"/>
                  <a:pt x="0" y="27"/>
                </a:cubicBezTo>
                <a:lnTo>
                  <a:pt x="0" y="134"/>
                </a:lnTo>
                <a:cubicBezTo>
                  <a:pt x="0" y="134"/>
                  <a:pt x="0" y="147"/>
                  <a:pt x="13" y="147"/>
                </a:cubicBezTo>
                <a:lnTo>
                  <a:pt x="94" y="147"/>
                </a:lnTo>
                <a:lnTo>
                  <a:pt x="107" y="134"/>
                </a:lnTo>
                <a:lnTo>
                  <a:pt x="107" y="120"/>
                </a:lnTo>
                <a:lnTo>
                  <a:pt x="144" y="63"/>
                </a:lnTo>
                <a:cubicBezTo>
                  <a:pt x="149" y="55"/>
                  <a:pt x="147" y="44"/>
                  <a:pt x="139" y="39"/>
                </a:cubicBez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Freeform 706"/>
          <p:cNvSpPr/>
          <p:nvPr/>
        </p:nvSpPr>
        <p:spPr>
          <a:xfrm>
            <a:off x="1645488" y="6377616"/>
            <a:ext cx="23328" cy="28944"/>
          </a:xfrm>
          <a:custGeom>
            <a:avLst/>
            <a:gdLst/>
            <a:ahLst/>
            <a:cxnLst/>
            <a:rect l="0" t="0" r="r" b="b"/>
            <a:pathLst>
              <a:path w="54" h="67">
                <a:moveTo>
                  <a:pt x="15" y="0"/>
                </a:moveTo>
                <a:lnTo>
                  <a:pt x="15" y="67"/>
                </a:lnTo>
                <a:lnTo>
                  <a:pt x="0" y="67"/>
                </a:lnTo>
                <a:lnTo>
                  <a:pt x="0" y="0"/>
                </a:lnTo>
                <a:lnTo>
                  <a:pt x="15" y="0"/>
                </a:lnTo>
                <a:moveTo>
                  <a:pt x="54" y="0"/>
                </a:moveTo>
                <a:lnTo>
                  <a:pt x="54" y="67"/>
                </a:lnTo>
                <a:lnTo>
                  <a:pt x="41" y="67"/>
                </a:lnTo>
                <a:lnTo>
                  <a:pt x="41" y="0"/>
                </a:lnTo>
                <a:lnTo>
                  <a:pt x="54" y="0"/>
                </a:lnTo>
                <a:close/>
              </a:path>
            </a:pathLst>
          </a:custGeom>
          <a:solidFill>
            <a:srgbClr val="EF96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Freeform 707"/>
          <p:cNvSpPr/>
          <p:nvPr/>
        </p:nvSpPr>
        <p:spPr>
          <a:xfrm>
            <a:off x="1634256" y="6435072"/>
            <a:ext cx="166320" cy="148608"/>
          </a:xfrm>
          <a:custGeom>
            <a:avLst/>
            <a:gdLst/>
            <a:ahLst/>
            <a:cxnLst/>
            <a:rect l="0" t="0" r="r" b="b"/>
            <a:pathLst>
              <a:path w="385" h="344">
                <a:moveTo>
                  <a:pt x="332" y="225"/>
                </a:moveTo>
                <a:lnTo>
                  <a:pt x="93" y="225"/>
                </a:lnTo>
                <a:lnTo>
                  <a:pt x="106" y="0"/>
                </a:lnTo>
                <a:lnTo>
                  <a:pt x="0" y="0"/>
                </a:lnTo>
                <a:lnTo>
                  <a:pt x="0" y="225"/>
                </a:lnTo>
                <a:cubicBezTo>
                  <a:pt x="0" y="225"/>
                  <a:pt x="0" y="344"/>
                  <a:pt x="106" y="344"/>
                </a:cubicBezTo>
                <a:lnTo>
                  <a:pt x="385" y="344"/>
                </a:lnTo>
                <a:lnTo>
                  <a:pt x="385" y="278"/>
                </a:lnTo>
                <a:cubicBezTo>
                  <a:pt x="385" y="249"/>
                  <a:pt x="361" y="225"/>
                  <a:pt x="332" y="225"/>
                </a:cubicBezTo>
                <a:close/>
              </a:path>
            </a:pathLst>
          </a:custGeom>
          <a:solidFill>
            <a:srgbClr val="4289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Freeform 708"/>
          <p:cNvSpPr/>
          <p:nvPr/>
        </p:nvSpPr>
        <p:spPr>
          <a:xfrm>
            <a:off x="1771632" y="6560784"/>
            <a:ext cx="6048" cy="22896"/>
          </a:xfrm>
          <a:custGeom>
            <a:avLst/>
            <a:gdLst/>
            <a:ahLst/>
            <a:cxnLst/>
            <a:rect l="0" t="0" r="r" b="b"/>
            <a:pathLst>
              <a:path w="14" h="53">
                <a:moveTo>
                  <a:pt x="0" y="0"/>
                </a:moveTo>
                <a:lnTo>
                  <a:pt x="14" y="0"/>
                </a:lnTo>
                <a:lnTo>
                  <a:pt x="14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Freeform 709"/>
          <p:cNvSpPr/>
          <p:nvPr/>
        </p:nvSpPr>
        <p:spPr>
          <a:xfrm>
            <a:off x="1708560" y="6514992"/>
            <a:ext cx="34560" cy="40176"/>
          </a:xfrm>
          <a:custGeom>
            <a:avLst/>
            <a:gdLst/>
            <a:ahLst/>
            <a:cxnLst/>
            <a:rect l="0" t="0" r="r" b="b"/>
            <a:pathLst>
              <a:path w="80" h="93">
                <a:moveTo>
                  <a:pt x="0" y="0"/>
                </a:moveTo>
                <a:lnTo>
                  <a:pt x="0" y="54"/>
                </a:lnTo>
                <a:cubicBezTo>
                  <a:pt x="0" y="76"/>
                  <a:pt x="18" y="93"/>
                  <a:pt x="41" y="93"/>
                </a:cubicBezTo>
                <a:cubicBezTo>
                  <a:pt x="63" y="93"/>
                  <a:pt x="80" y="76"/>
                  <a:pt x="80" y="54"/>
                </a:cubicBezTo>
                <a:lnTo>
                  <a:pt x="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9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TextBox 710"/>
          <p:cNvSpPr txBox="1"/>
          <p:nvPr/>
        </p:nvSpPr>
        <p:spPr>
          <a:xfrm>
            <a:off x="343008" y="6339600"/>
            <a:ext cx="1186222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600" b="1" dirty="0">
                <a:solidFill>
                  <a:srgbClr val="455A64"/>
                </a:solidFill>
                <a:latin typeface="SegoeUI"/>
                <a:ea typeface="SegoeUI"/>
              </a:rPr>
              <a:t>Questions? </a:t>
            </a:r>
            <a:endParaRPr lang="en-IN" sz="160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: Shape 6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Freeform: Shape 64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Freeform: Shape 65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Freeform: Shape 66"/>
          <p:cNvSpPr/>
          <p:nvPr/>
        </p:nvSpPr>
        <p:spPr>
          <a:xfrm>
            <a:off x="800064" y="1839888"/>
            <a:ext cx="13030416" cy="1097712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Freeform: Shape 67"/>
          <p:cNvSpPr/>
          <p:nvPr/>
        </p:nvSpPr>
        <p:spPr>
          <a:xfrm>
            <a:off x="858816" y="845424"/>
            <a:ext cx="247968" cy="309312"/>
          </a:xfrm>
          <a:custGeom>
            <a:avLst/>
            <a:gdLst/>
            <a:ahLst/>
            <a:cxnLst/>
            <a:rect l="0" t="0" r="r" b="b"/>
            <a:pathLst>
              <a:path w="574" h="716">
                <a:moveTo>
                  <a:pt x="573" y="311"/>
                </a:moveTo>
                <a:cubicBezTo>
                  <a:pt x="571" y="303"/>
                  <a:pt x="563" y="298"/>
                  <a:pt x="555" y="298"/>
                </a:cubicBezTo>
                <a:lnTo>
                  <a:pt x="325" y="298"/>
                </a:lnTo>
                <a:lnTo>
                  <a:pt x="458" y="29"/>
                </a:lnTo>
                <a:cubicBezTo>
                  <a:pt x="462" y="21"/>
                  <a:pt x="460" y="11"/>
                  <a:pt x="453" y="5"/>
                </a:cubicBezTo>
                <a:cubicBezTo>
                  <a:pt x="449" y="2"/>
                  <a:pt x="445" y="0"/>
                  <a:pt x="441" y="0"/>
                </a:cubicBezTo>
                <a:cubicBezTo>
                  <a:pt x="436" y="0"/>
                  <a:pt x="432" y="2"/>
                  <a:pt x="428" y="5"/>
                </a:cubicBezTo>
                <a:lnTo>
                  <a:pt x="288" y="131"/>
                </a:lnTo>
                <a:lnTo>
                  <a:pt x="7" y="382"/>
                </a:lnTo>
                <a:cubicBezTo>
                  <a:pt x="1" y="388"/>
                  <a:pt x="-1" y="396"/>
                  <a:pt x="1" y="404"/>
                </a:cubicBezTo>
                <a:cubicBezTo>
                  <a:pt x="4" y="412"/>
                  <a:pt x="11" y="417"/>
                  <a:pt x="20" y="417"/>
                </a:cubicBezTo>
                <a:lnTo>
                  <a:pt x="251" y="417"/>
                </a:lnTo>
                <a:lnTo>
                  <a:pt x="118" y="687"/>
                </a:lnTo>
                <a:cubicBezTo>
                  <a:pt x="114" y="695"/>
                  <a:pt x="116" y="706"/>
                  <a:pt x="123" y="712"/>
                </a:cubicBezTo>
                <a:cubicBezTo>
                  <a:pt x="127" y="714"/>
                  <a:pt x="131" y="716"/>
                  <a:pt x="135" y="716"/>
                </a:cubicBezTo>
                <a:cubicBezTo>
                  <a:pt x="139" y="716"/>
                  <a:pt x="144" y="714"/>
                  <a:pt x="148" y="711"/>
                </a:cubicBezTo>
                <a:lnTo>
                  <a:pt x="288" y="585"/>
                </a:lnTo>
                <a:lnTo>
                  <a:pt x="568" y="333"/>
                </a:lnTo>
                <a:cubicBezTo>
                  <a:pt x="574" y="328"/>
                  <a:pt x="576" y="319"/>
                  <a:pt x="573" y="31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46960" y="794449"/>
            <a:ext cx="4990533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The Problem: Manual Deployment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0064" y="1406161"/>
            <a:ext cx="324127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Without CI/CD (Days of Waiting!):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70481" y="1940112"/>
            <a:ext cx="385201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Developer          Testing Team      Ops Team         Production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70480" y="2134512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39392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16721" y="2134512"/>
            <a:ext cx="7213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637792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715553" y="2134512"/>
            <a:ext cx="68127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151952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229281" y="2134512"/>
            <a:ext cx="7213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750352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70481" y="2317248"/>
            <a:ext cx="385682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Write code      Manual test      Manual config    Manual deploy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70481" y="2511648"/>
            <a:ext cx="325569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(1-2 days)       (1-2 days)        (1-2 days)       (Hours)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Freeform: Shape 81"/>
          <p:cNvSpPr/>
          <p:nvPr/>
        </p:nvSpPr>
        <p:spPr>
          <a:xfrm>
            <a:off x="5791392" y="2697408"/>
            <a:ext cx="133488" cy="110160"/>
          </a:xfrm>
          <a:custGeom>
            <a:avLst/>
            <a:gdLst/>
            <a:ahLst/>
            <a:cxnLst/>
            <a:rect l="0" t="0" r="r" b="b"/>
            <a:pathLst>
              <a:path w="309" h="255">
                <a:moveTo>
                  <a:pt x="309" y="255"/>
                </a:moveTo>
                <a:lnTo>
                  <a:pt x="281" y="23"/>
                </a:lnTo>
                <a:cubicBezTo>
                  <a:pt x="279" y="10"/>
                  <a:pt x="267" y="0"/>
                  <a:pt x="251" y="0"/>
                </a:cubicBezTo>
                <a:lnTo>
                  <a:pt x="55" y="0"/>
                </a:lnTo>
                <a:cubicBezTo>
                  <a:pt x="40" y="0"/>
                  <a:pt x="28" y="10"/>
                  <a:pt x="26" y="24"/>
                </a:cubicBezTo>
                <a:lnTo>
                  <a:pt x="0" y="255"/>
                </a:lnTo>
                <a:lnTo>
                  <a:pt x="309" y="25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Freeform: Shape 82"/>
          <p:cNvSpPr/>
          <p:nvPr/>
        </p:nvSpPr>
        <p:spPr>
          <a:xfrm>
            <a:off x="5819472" y="2715120"/>
            <a:ext cx="77760" cy="71712"/>
          </a:xfrm>
          <a:custGeom>
            <a:avLst/>
            <a:gdLst/>
            <a:ahLst/>
            <a:cxnLst/>
            <a:rect l="0" t="0" r="r" b="b"/>
            <a:pathLst>
              <a:path w="180" h="166">
                <a:moveTo>
                  <a:pt x="180" y="83"/>
                </a:moveTo>
                <a:cubicBezTo>
                  <a:pt x="180" y="94"/>
                  <a:pt x="177" y="105"/>
                  <a:pt x="173" y="115"/>
                </a:cubicBezTo>
                <a:cubicBezTo>
                  <a:pt x="168" y="125"/>
                  <a:pt x="162" y="134"/>
                  <a:pt x="153" y="142"/>
                </a:cubicBezTo>
                <a:cubicBezTo>
                  <a:pt x="144" y="149"/>
                  <a:pt x="134" y="155"/>
                  <a:pt x="123" y="159"/>
                </a:cubicBezTo>
                <a:cubicBezTo>
                  <a:pt x="112" y="164"/>
                  <a:pt x="101" y="166"/>
                  <a:pt x="89" y="166"/>
                </a:cubicBezTo>
                <a:cubicBezTo>
                  <a:pt x="77" y="166"/>
                  <a:pt x="66" y="164"/>
                  <a:pt x="55" y="159"/>
                </a:cubicBezTo>
                <a:cubicBezTo>
                  <a:pt x="44" y="155"/>
                  <a:pt x="34" y="149"/>
                  <a:pt x="26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0"/>
                  <a:pt x="17" y="31"/>
                  <a:pt x="26" y="24"/>
                </a:cubicBezTo>
                <a:cubicBezTo>
                  <a:pt x="34" y="16"/>
                  <a:pt x="44" y="10"/>
                  <a:pt x="55" y="6"/>
                </a:cubicBezTo>
                <a:cubicBezTo>
                  <a:pt x="66" y="2"/>
                  <a:pt x="77" y="0"/>
                  <a:pt x="89" y="0"/>
                </a:cubicBezTo>
                <a:cubicBezTo>
                  <a:pt x="101" y="0"/>
                  <a:pt x="112" y="2"/>
                  <a:pt x="123" y="6"/>
                </a:cubicBezTo>
                <a:cubicBezTo>
                  <a:pt x="134" y="10"/>
                  <a:pt x="144" y="16"/>
                  <a:pt x="153" y="24"/>
                </a:cubicBezTo>
                <a:cubicBezTo>
                  <a:pt x="162" y="31"/>
                  <a:pt x="168" y="40"/>
                  <a:pt x="173" y="51"/>
                </a:cubicBezTo>
                <a:cubicBezTo>
                  <a:pt x="177" y="61"/>
                  <a:pt x="180" y="72"/>
                  <a:pt x="180" y="83"/>
                </a:cubicBezTo>
                <a:close/>
              </a:path>
            </a:pathLst>
          </a:custGeom>
          <a:solidFill>
            <a:srgbClr val="BE193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Freeform: Shape 83"/>
          <p:cNvSpPr/>
          <p:nvPr/>
        </p:nvSpPr>
        <p:spPr>
          <a:xfrm>
            <a:off x="5783184" y="2808432"/>
            <a:ext cx="149040" cy="26352"/>
          </a:xfrm>
          <a:custGeom>
            <a:avLst/>
            <a:gdLst/>
            <a:ahLst/>
            <a:cxnLst/>
            <a:rect l="0" t="0" r="r" b="b"/>
            <a:pathLst>
              <a:path w="345" h="61">
                <a:moveTo>
                  <a:pt x="341" y="0"/>
                </a:moveTo>
                <a:lnTo>
                  <a:pt x="5" y="0"/>
                </a:lnTo>
                <a:lnTo>
                  <a:pt x="0" y="44"/>
                </a:lnTo>
                <a:cubicBezTo>
                  <a:pt x="0" y="61"/>
                  <a:pt x="20" y="61"/>
                  <a:pt x="20" y="61"/>
                </a:cubicBezTo>
                <a:lnTo>
                  <a:pt x="326" y="61"/>
                </a:lnTo>
                <a:cubicBezTo>
                  <a:pt x="326" y="61"/>
                  <a:pt x="345" y="61"/>
                  <a:pt x="345" y="44"/>
                </a:cubicBezTo>
                <a:lnTo>
                  <a:pt x="341" y="0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Freeform: Shape 84"/>
          <p:cNvSpPr/>
          <p:nvPr/>
        </p:nvSpPr>
        <p:spPr>
          <a:xfrm>
            <a:off x="5784912" y="2804112"/>
            <a:ext cx="145584" cy="7344"/>
          </a:xfrm>
          <a:custGeom>
            <a:avLst/>
            <a:gdLst/>
            <a:ahLst/>
            <a:cxnLst/>
            <a:rect l="0" t="0" r="r" b="b"/>
            <a:pathLst>
              <a:path w="337" h="17">
                <a:moveTo>
                  <a:pt x="337" y="17"/>
                </a:moveTo>
                <a:lnTo>
                  <a:pt x="337" y="10"/>
                </a:lnTo>
                <a:cubicBezTo>
                  <a:pt x="335" y="4"/>
                  <a:pt x="329" y="0"/>
                  <a:pt x="322" y="0"/>
                </a:cubicBezTo>
                <a:lnTo>
                  <a:pt x="16" y="0"/>
                </a:lnTo>
                <a:cubicBezTo>
                  <a:pt x="8" y="0"/>
                  <a:pt x="2" y="4"/>
                  <a:pt x="1" y="10"/>
                </a:cubicBezTo>
                <a:lnTo>
                  <a:pt x="0" y="17"/>
                </a:lnTo>
                <a:lnTo>
                  <a:pt x="337" y="17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Freeform: Shape 85"/>
          <p:cNvSpPr/>
          <p:nvPr/>
        </p:nvSpPr>
        <p:spPr>
          <a:xfrm>
            <a:off x="5808672" y="2705184"/>
            <a:ext cx="98928" cy="91152"/>
          </a:xfrm>
          <a:custGeom>
            <a:avLst/>
            <a:gdLst/>
            <a:ahLst/>
            <a:cxnLst/>
            <a:rect l="0" t="0" r="r" b="b"/>
            <a:pathLst>
              <a:path w="229" h="211">
                <a:moveTo>
                  <a:pt x="226" y="102"/>
                </a:moveTo>
                <a:lnTo>
                  <a:pt x="152" y="91"/>
                </a:lnTo>
                <a:lnTo>
                  <a:pt x="196" y="35"/>
                </a:lnTo>
                <a:cubicBezTo>
                  <a:pt x="197" y="34"/>
                  <a:pt x="197" y="32"/>
                  <a:pt x="195" y="31"/>
                </a:cubicBezTo>
                <a:cubicBezTo>
                  <a:pt x="194" y="30"/>
                  <a:pt x="192" y="30"/>
                  <a:pt x="191" y="31"/>
                </a:cubicBezTo>
                <a:lnTo>
                  <a:pt x="131" y="71"/>
                </a:lnTo>
                <a:lnTo>
                  <a:pt x="119" y="3"/>
                </a:lnTo>
                <a:cubicBezTo>
                  <a:pt x="118" y="1"/>
                  <a:pt x="117" y="0"/>
                  <a:pt x="115" y="0"/>
                </a:cubicBezTo>
                <a:cubicBezTo>
                  <a:pt x="113" y="0"/>
                  <a:pt x="112" y="1"/>
                  <a:pt x="112" y="3"/>
                </a:cubicBezTo>
                <a:lnTo>
                  <a:pt x="100" y="71"/>
                </a:lnTo>
                <a:lnTo>
                  <a:pt x="38" y="31"/>
                </a:lnTo>
                <a:cubicBezTo>
                  <a:pt x="37" y="30"/>
                  <a:pt x="35" y="30"/>
                  <a:pt x="34" y="31"/>
                </a:cubicBezTo>
                <a:cubicBezTo>
                  <a:pt x="32" y="32"/>
                  <a:pt x="32" y="34"/>
                  <a:pt x="33" y="35"/>
                </a:cubicBezTo>
                <a:lnTo>
                  <a:pt x="78" y="91"/>
                </a:lnTo>
                <a:lnTo>
                  <a:pt x="3" y="102"/>
                </a:lnTo>
                <a:cubicBezTo>
                  <a:pt x="2" y="102"/>
                  <a:pt x="0" y="104"/>
                  <a:pt x="0" y="105"/>
                </a:cubicBezTo>
                <a:cubicBezTo>
                  <a:pt x="0" y="107"/>
                  <a:pt x="2" y="108"/>
                  <a:pt x="3" y="108"/>
                </a:cubicBezTo>
                <a:lnTo>
                  <a:pt x="78" y="120"/>
                </a:lnTo>
                <a:lnTo>
                  <a:pt x="33" y="176"/>
                </a:lnTo>
                <a:cubicBezTo>
                  <a:pt x="32" y="177"/>
                  <a:pt x="32" y="179"/>
                  <a:pt x="34" y="180"/>
                </a:cubicBezTo>
                <a:cubicBezTo>
                  <a:pt x="35" y="181"/>
                  <a:pt x="37" y="182"/>
                  <a:pt x="38" y="181"/>
                </a:cubicBezTo>
                <a:lnTo>
                  <a:pt x="100" y="141"/>
                </a:lnTo>
                <a:lnTo>
                  <a:pt x="112" y="208"/>
                </a:lnTo>
                <a:cubicBezTo>
                  <a:pt x="112" y="210"/>
                  <a:pt x="113" y="211"/>
                  <a:pt x="115" y="211"/>
                </a:cubicBezTo>
                <a:cubicBezTo>
                  <a:pt x="117" y="211"/>
                  <a:pt x="118" y="210"/>
                  <a:pt x="119" y="208"/>
                </a:cubicBezTo>
                <a:lnTo>
                  <a:pt x="131" y="141"/>
                </a:lnTo>
                <a:lnTo>
                  <a:pt x="191" y="181"/>
                </a:lnTo>
                <a:cubicBezTo>
                  <a:pt x="192" y="182"/>
                  <a:pt x="194" y="181"/>
                  <a:pt x="195" y="180"/>
                </a:cubicBezTo>
                <a:cubicBezTo>
                  <a:pt x="197" y="179"/>
                  <a:pt x="197" y="177"/>
                  <a:pt x="196" y="176"/>
                </a:cubicBezTo>
                <a:lnTo>
                  <a:pt x="152" y="120"/>
                </a:lnTo>
                <a:lnTo>
                  <a:pt x="226" y="108"/>
                </a:lnTo>
                <a:cubicBezTo>
                  <a:pt x="227" y="108"/>
                  <a:pt x="229" y="107"/>
                  <a:pt x="229" y="105"/>
                </a:cubicBezTo>
                <a:cubicBezTo>
                  <a:pt x="229" y="104"/>
                  <a:pt x="227" y="102"/>
                  <a:pt x="226" y="102"/>
                </a:cubicBezTo>
                <a:close/>
              </a:path>
            </a:pathLst>
          </a:custGeom>
          <a:solidFill>
            <a:srgbClr val="EC9DA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70480" y="2706048"/>
            <a:ext cx="24958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    RISK!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Freeform: Shape 87"/>
          <p:cNvSpPr/>
          <p:nvPr/>
        </p:nvSpPr>
        <p:spPr>
          <a:xfrm>
            <a:off x="1039824" y="372600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00065" y="3143233"/>
            <a:ext cx="238007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Failures happen because: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Freeform: Shape 89"/>
          <p:cNvSpPr/>
          <p:nvPr/>
        </p:nvSpPr>
        <p:spPr>
          <a:xfrm>
            <a:off x="1039824" y="4057344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257121" y="3611953"/>
            <a:ext cx="313726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Human error (copy-paste mistakes)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Freeform: Shape 91"/>
          <p:cNvSpPr/>
          <p:nvPr/>
        </p:nvSpPr>
        <p:spPr>
          <a:xfrm>
            <a:off x="1039824" y="438868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4"/>
                </a:cubicBezTo>
                <a:cubicBezTo>
                  <a:pt x="31" y="16"/>
                  <a:pt x="39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257121" y="3943297"/>
            <a:ext cx="339189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Environment differences (dev vs prod)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Freeform: Shape 93"/>
          <p:cNvSpPr/>
          <p:nvPr/>
        </p:nvSpPr>
        <p:spPr>
          <a:xfrm>
            <a:off x="1039824" y="4720464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257121" y="4275073"/>
            <a:ext cx="408708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Inconsistent processes (each deploy different)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257120" y="4606417"/>
            <a:ext cx="341208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Slow feedback (days to discover bugs)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Freeform: Shape 96"/>
          <p:cNvSpPr/>
          <p:nvPr/>
        </p:nvSpPr>
        <p:spPr>
          <a:xfrm>
            <a:off x="3794688" y="5120496"/>
            <a:ext cx="206064" cy="194832"/>
          </a:xfrm>
          <a:custGeom>
            <a:avLst/>
            <a:gdLst/>
            <a:ahLst/>
            <a:cxnLst/>
            <a:rect l="0" t="0" r="r" b="b"/>
            <a:pathLst>
              <a:path w="477" h="451">
                <a:moveTo>
                  <a:pt x="239" y="451"/>
                </a:moveTo>
                <a:cubicBezTo>
                  <a:pt x="107" y="451"/>
                  <a:pt x="0" y="350"/>
                  <a:pt x="0" y="226"/>
                </a:cubicBezTo>
                <a:cubicBezTo>
                  <a:pt x="0" y="102"/>
                  <a:pt x="107" y="0"/>
                  <a:pt x="239" y="0"/>
                </a:cubicBezTo>
                <a:cubicBezTo>
                  <a:pt x="370" y="0"/>
                  <a:pt x="477" y="102"/>
                  <a:pt x="477" y="226"/>
                </a:cubicBezTo>
                <a:cubicBezTo>
                  <a:pt x="477" y="350"/>
                  <a:pt x="370" y="451"/>
                  <a:pt x="239" y="451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Freeform: Shape 97"/>
          <p:cNvSpPr/>
          <p:nvPr/>
        </p:nvSpPr>
        <p:spPr>
          <a:xfrm>
            <a:off x="3846096" y="5190480"/>
            <a:ext cx="28944" cy="38448"/>
          </a:xfrm>
          <a:custGeom>
            <a:avLst/>
            <a:gdLst/>
            <a:ahLst/>
            <a:cxnLst/>
            <a:rect l="0" t="0" r="r" b="b"/>
            <a:pathLst>
              <a:path w="67" h="89">
                <a:moveTo>
                  <a:pt x="67" y="45"/>
                </a:moveTo>
                <a:cubicBezTo>
                  <a:pt x="67" y="51"/>
                  <a:pt x="66" y="56"/>
                  <a:pt x="64" y="62"/>
                </a:cubicBezTo>
                <a:cubicBezTo>
                  <a:pt x="63" y="67"/>
                  <a:pt x="60" y="72"/>
                  <a:pt x="57" y="76"/>
                </a:cubicBezTo>
                <a:cubicBezTo>
                  <a:pt x="54" y="80"/>
                  <a:pt x="51" y="83"/>
                  <a:pt x="46" y="85"/>
                </a:cubicBezTo>
                <a:cubicBezTo>
                  <a:pt x="42" y="88"/>
                  <a:pt x="37" y="89"/>
                  <a:pt x="33" y="89"/>
                </a:cubicBezTo>
                <a:cubicBezTo>
                  <a:pt x="28" y="89"/>
                  <a:pt x="24" y="88"/>
                  <a:pt x="20" y="85"/>
                </a:cubicBezTo>
                <a:cubicBezTo>
                  <a:pt x="16" y="83"/>
                  <a:pt x="13" y="80"/>
                  <a:pt x="9" y="76"/>
                </a:cubicBezTo>
                <a:cubicBezTo>
                  <a:pt x="6" y="72"/>
                  <a:pt x="4" y="67"/>
                  <a:pt x="2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3"/>
                  <a:pt x="2" y="27"/>
                </a:cubicBezTo>
                <a:cubicBezTo>
                  <a:pt x="4" y="22"/>
                  <a:pt x="6" y="17"/>
                  <a:pt x="9" y="13"/>
                </a:cubicBezTo>
                <a:cubicBezTo>
                  <a:pt x="13" y="9"/>
                  <a:pt x="16" y="6"/>
                  <a:pt x="20" y="4"/>
                </a:cubicBezTo>
                <a:cubicBezTo>
                  <a:pt x="24" y="1"/>
                  <a:pt x="28" y="0"/>
                  <a:pt x="33" y="0"/>
                </a:cubicBezTo>
                <a:cubicBezTo>
                  <a:pt x="37" y="0"/>
                  <a:pt x="42" y="1"/>
                  <a:pt x="46" y="4"/>
                </a:cubicBezTo>
                <a:cubicBezTo>
                  <a:pt x="51" y="6"/>
                  <a:pt x="54" y="9"/>
                  <a:pt x="57" y="13"/>
                </a:cubicBezTo>
                <a:cubicBezTo>
                  <a:pt x="60" y="17"/>
                  <a:pt x="63" y="22"/>
                  <a:pt x="64" y="27"/>
                </a:cubicBezTo>
                <a:cubicBezTo>
                  <a:pt x="66" y="33"/>
                  <a:pt x="67" y="39"/>
                  <a:pt x="67" y="45"/>
                </a:cubicBezTo>
                <a:close/>
              </a:path>
            </a:pathLst>
          </a:custGeom>
          <a:solidFill>
            <a:srgbClr val="664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Freeform: Shape 98"/>
          <p:cNvSpPr/>
          <p:nvPr/>
        </p:nvSpPr>
        <p:spPr>
          <a:xfrm>
            <a:off x="3920400" y="5190480"/>
            <a:ext cx="28944" cy="38448"/>
          </a:xfrm>
          <a:custGeom>
            <a:avLst/>
            <a:gdLst/>
            <a:ahLst/>
            <a:cxnLst/>
            <a:rect l="0" t="0" r="r" b="b"/>
            <a:pathLst>
              <a:path w="67" h="89">
                <a:moveTo>
                  <a:pt x="67" y="45"/>
                </a:moveTo>
                <a:cubicBezTo>
                  <a:pt x="67" y="51"/>
                  <a:pt x="65" y="56"/>
                  <a:pt x="63" y="62"/>
                </a:cubicBezTo>
                <a:cubicBezTo>
                  <a:pt x="62" y="67"/>
                  <a:pt x="59" y="72"/>
                  <a:pt x="56" y="76"/>
                </a:cubicBezTo>
                <a:cubicBezTo>
                  <a:pt x="53" y="80"/>
                  <a:pt x="49" y="83"/>
                  <a:pt x="45" y="85"/>
                </a:cubicBezTo>
                <a:cubicBezTo>
                  <a:pt x="41" y="88"/>
                  <a:pt x="37" y="89"/>
                  <a:pt x="33" y="89"/>
                </a:cubicBezTo>
                <a:cubicBezTo>
                  <a:pt x="28" y="89"/>
                  <a:pt x="24" y="88"/>
                  <a:pt x="20" y="85"/>
                </a:cubicBezTo>
                <a:cubicBezTo>
                  <a:pt x="16" y="83"/>
                  <a:pt x="12" y="80"/>
                  <a:pt x="9" y="76"/>
                </a:cubicBezTo>
                <a:cubicBezTo>
                  <a:pt x="6" y="72"/>
                  <a:pt x="4" y="67"/>
                  <a:pt x="2" y="62"/>
                </a:cubicBezTo>
                <a:cubicBezTo>
                  <a:pt x="1" y="56"/>
                  <a:pt x="0" y="51"/>
                  <a:pt x="0" y="45"/>
                </a:cubicBezTo>
                <a:cubicBezTo>
                  <a:pt x="0" y="39"/>
                  <a:pt x="1" y="33"/>
                  <a:pt x="2" y="27"/>
                </a:cubicBezTo>
                <a:cubicBezTo>
                  <a:pt x="4" y="22"/>
                  <a:pt x="6" y="17"/>
                  <a:pt x="9" y="13"/>
                </a:cubicBezTo>
                <a:cubicBezTo>
                  <a:pt x="12" y="9"/>
                  <a:pt x="16" y="6"/>
                  <a:pt x="20" y="4"/>
                </a:cubicBezTo>
                <a:cubicBezTo>
                  <a:pt x="24" y="1"/>
                  <a:pt x="28" y="0"/>
                  <a:pt x="33" y="0"/>
                </a:cubicBezTo>
                <a:cubicBezTo>
                  <a:pt x="37" y="0"/>
                  <a:pt x="41" y="1"/>
                  <a:pt x="45" y="4"/>
                </a:cubicBezTo>
                <a:cubicBezTo>
                  <a:pt x="49" y="6"/>
                  <a:pt x="53" y="9"/>
                  <a:pt x="56" y="13"/>
                </a:cubicBezTo>
                <a:cubicBezTo>
                  <a:pt x="59" y="17"/>
                  <a:pt x="62" y="22"/>
                  <a:pt x="63" y="27"/>
                </a:cubicBezTo>
                <a:cubicBezTo>
                  <a:pt x="65" y="33"/>
                  <a:pt x="67" y="39"/>
                  <a:pt x="67" y="45"/>
                </a:cubicBezTo>
                <a:close/>
              </a:path>
            </a:pathLst>
          </a:custGeom>
          <a:solidFill>
            <a:srgbClr val="664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Freeform: Shape 99"/>
          <p:cNvSpPr/>
          <p:nvPr/>
        </p:nvSpPr>
        <p:spPr>
          <a:xfrm>
            <a:off x="3865968" y="5247072"/>
            <a:ext cx="63072" cy="27648"/>
          </a:xfrm>
          <a:custGeom>
            <a:avLst/>
            <a:gdLst/>
            <a:ahLst/>
            <a:cxnLst/>
            <a:rect l="0" t="0" r="r" b="b"/>
            <a:pathLst>
              <a:path w="146" h="64">
                <a:moveTo>
                  <a:pt x="146" y="56"/>
                </a:moveTo>
                <a:cubicBezTo>
                  <a:pt x="146" y="56"/>
                  <a:pt x="131" y="0"/>
                  <a:pt x="73" y="0"/>
                </a:cubicBezTo>
                <a:cubicBezTo>
                  <a:pt x="15" y="0"/>
                  <a:pt x="0" y="56"/>
                  <a:pt x="0" y="56"/>
                </a:cubicBezTo>
                <a:cubicBezTo>
                  <a:pt x="0" y="59"/>
                  <a:pt x="1" y="62"/>
                  <a:pt x="3" y="63"/>
                </a:cubicBezTo>
                <a:cubicBezTo>
                  <a:pt x="6" y="64"/>
                  <a:pt x="9" y="64"/>
                  <a:pt x="11" y="62"/>
                </a:cubicBezTo>
                <a:cubicBezTo>
                  <a:pt x="11" y="62"/>
                  <a:pt x="25" y="51"/>
                  <a:pt x="73" y="51"/>
                </a:cubicBezTo>
                <a:cubicBezTo>
                  <a:pt x="121" y="51"/>
                  <a:pt x="135" y="62"/>
                  <a:pt x="135" y="62"/>
                </a:cubicBezTo>
                <a:cubicBezTo>
                  <a:pt x="137" y="63"/>
                  <a:pt x="138" y="64"/>
                  <a:pt x="140" y="64"/>
                </a:cubicBezTo>
                <a:cubicBezTo>
                  <a:pt x="141" y="64"/>
                  <a:pt x="142" y="64"/>
                  <a:pt x="143" y="63"/>
                </a:cubicBezTo>
                <a:cubicBezTo>
                  <a:pt x="146" y="62"/>
                  <a:pt x="147" y="59"/>
                  <a:pt x="146" y="56"/>
                </a:cubicBezTo>
                <a:close/>
              </a:path>
            </a:pathLst>
          </a:custGeom>
          <a:solidFill>
            <a:srgbClr val="664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Freeform: Shape 100"/>
          <p:cNvSpPr/>
          <p:nvPr/>
        </p:nvSpPr>
        <p:spPr>
          <a:xfrm>
            <a:off x="3794688" y="5228496"/>
            <a:ext cx="57456" cy="81216"/>
          </a:xfrm>
          <a:custGeom>
            <a:avLst/>
            <a:gdLst/>
            <a:ahLst/>
            <a:cxnLst/>
            <a:rect l="0" t="0" r="r" b="b"/>
            <a:pathLst>
              <a:path w="133" h="188">
                <a:moveTo>
                  <a:pt x="133" y="125"/>
                </a:moveTo>
                <a:cubicBezTo>
                  <a:pt x="133" y="160"/>
                  <a:pt x="102" y="188"/>
                  <a:pt x="66" y="188"/>
                </a:cubicBezTo>
                <a:cubicBezTo>
                  <a:pt x="29" y="188"/>
                  <a:pt x="0" y="160"/>
                  <a:pt x="0" y="125"/>
                </a:cubicBezTo>
                <a:cubicBezTo>
                  <a:pt x="0" y="90"/>
                  <a:pt x="53" y="0"/>
                  <a:pt x="66" y="0"/>
                </a:cubicBezTo>
                <a:cubicBezTo>
                  <a:pt x="79" y="0"/>
                  <a:pt x="133" y="90"/>
                  <a:pt x="133" y="125"/>
                </a:cubicBezTo>
                <a:close/>
              </a:path>
            </a:pathLst>
          </a:custGeom>
          <a:solidFill>
            <a:srgbClr val="5DAD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Freeform: Shape 101"/>
          <p:cNvSpPr/>
          <p:nvPr/>
        </p:nvSpPr>
        <p:spPr>
          <a:xfrm>
            <a:off x="3794688" y="5120496"/>
            <a:ext cx="206064" cy="116208"/>
          </a:xfrm>
          <a:custGeom>
            <a:avLst/>
            <a:gdLst/>
            <a:ahLst/>
            <a:cxnLst/>
            <a:rect l="0" t="0" r="r" b="b"/>
            <a:pathLst>
              <a:path w="477" h="269">
                <a:moveTo>
                  <a:pt x="239" y="138"/>
                </a:moveTo>
                <a:cubicBezTo>
                  <a:pt x="355" y="138"/>
                  <a:pt x="451" y="195"/>
                  <a:pt x="472" y="269"/>
                </a:cubicBezTo>
                <a:cubicBezTo>
                  <a:pt x="475" y="255"/>
                  <a:pt x="477" y="241"/>
                  <a:pt x="477" y="226"/>
                </a:cubicBezTo>
                <a:cubicBezTo>
                  <a:pt x="477" y="102"/>
                  <a:pt x="370" y="0"/>
                  <a:pt x="239" y="0"/>
                </a:cubicBezTo>
                <a:cubicBezTo>
                  <a:pt x="107" y="0"/>
                  <a:pt x="0" y="102"/>
                  <a:pt x="0" y="226"/>
                </a:cubicBezTo>
                <a:cubicBezTo>
                  <a:pt x="0" y="241"/>
                  <a:pt x="1" y="255"/>
                  <a:pt x="4" y="269"/>
                </a:cubicBezTo>
                <a:cubicBezTo>
                  <a:pt x="27" y="195"/>
                  <a:pt x="123" y="138"/>
                  <a:pt x="239" y="138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Freeform: Shape 102"/>
          <p:cNvSpPr/>
          <p:nvPr/>
        </p:nvSpPr>
        <p:spPr>
          <a:xfrm>
            <a:off x="3823200" y="5152896"/>
            <a:ext cx="149040" cy="32832"/>
          </a:xfrm>
          <a:custGeom>
            <a:avLst/>
            <a:gdLst/>
            <a:ahLst/>
            <a:cxnLst/>
            <a:rect l="0" t="0" r="r" b="b"/>
            <a:pathLst>
              <a:path w="345" h="76">
                <a:moveTo>
                  <a:pt x="332" y="76"/>
                </a:moveTo>
                <a:cubicBezTo>
                  <a:pt x="258" y="76"/>
                  <a:pt x="227" y="20"/>
                  <a:pt x="226" y="18"/>
                </a:cubicBezTo>
                <a:cubicBezTo>
                  <a:pt x="223" y="12"/>
                  <a:pt x="225" y="4"/>
                  <a:pt x="232" y="1"/>
                </a:cubicBezTo>
                <a:cubicBezTo>
                  <a:pt x="239" y="-2"/>
                  <a:pt x="247" y="1"/>
                  <a:pt x="251" y="7"/>
                </a:cubicBezTo>
                <a:cubicBezTo>
                  <a:pt x="252" y="8"/>
                  <a:pt x="275" y="51"/>
                  <a:pt x="332" y="51"/>
                </a:cubicBezTo>
                <a:cubicBezTo>
                  <a:pt x="339" y="51"/>
                  <a:pt x="345" y="56"/>
                  <a:pt x="345" y="63"/>
                </a:cubicBezTo>
                <a:cubicBezTo>
                  <a:pt x="345" y="70"/>
                  <a:pt x="339" y="76"/>
                  <a:pt x="332" y="76"/>
                </a:cubicBezTo>
                <a:moveTo>
                  <a:pt x="13" y="76"/>
                </a:moveTo>
                <a:cubicBezTo>
                  <a:pt x="6" y="76"/>
                  <a:pt x="0" y="70"/>
                  <a:pt x="0" y="63"/>
                </a:cubicBezTo>
                <a:cubicBezTo>
                  <a:pt x="0" y="56"/>
                  <a:pt x="6" y="51"/>
                  <a:pt x="13" y="51"/>
                </a:cubicBezTo>
                <a:cubicBezTo>
                  <a:pt x="80" y="51"/>
                  <a:pt x="92" y="11"/>
                  <a:pt x="93" y="9"/>
                </a:cubicBezTo>
                <a:cubicBezTo>
                  <a:pt x="95" y="3"/>
                  <a:pt x="102" y="-1"/>
                  <a:pt x="109" y="0"/>
                </a:cubicBezTo>
                <a:cubicBezTo>
                  <a:pt x="116" y="2"/>
                  <a:pt x="120" y="9"/>
                  <a:pt x="118" y="15"/>
                </a:cubicBezTo>
                <a:cubicBezTo>
                  <a:pt x="118" y="18"/>
                  <a:pt x="102" y="76"/>
                  <a:pt x="13" y="76"/>
                </a:cubicBezTo>
                <a:close/>
              </a:path>
            </a:pathLst>
          </a:custGeom>
          <a:solidFill>
            <a:srgbClr val="6645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00064" y="5086369"/>
            <a:ext cx="259981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Result: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Deployment anxiety!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3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: Shape 105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Freeform: Shape 106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Freeform: Shape 107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Freeform: Shape 108"/>
          <p:cNvSpPr/>
          <p:nvPr/>
        </p:nvSpPr>
        <p:spPr>
          <a:xfrm>
            <a:off x="800064" y="1839888"/>
            <a:ext cx="13030416" cy="2423520"/>
          </a:xfrm>
          <a:custGeom>
            <a:avLst/>
            <a:gdLst/>
            <a:ahLst/>
            <a:cxnLst/>
            <a:rect l="0" t="0" r="r" b="b"/>
            <a:pathLst>
              <a:path w="30163" h="5610">
                <a:moveTo>
                  <a:pt x="0" y="0"/>
                </a:moveTo>
                <a:lnTo>
                  <a:pt x="30163" y="0"/>
                </a:lnTo>
                <a:lnTo>
                  <a:pt x="30163" y="5610"/>
                </a:lnTo>
                <a:lnTo>
                  <a:pt x="0" y="561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Freeform: Shape 109"/>
          <p:cNvSpPr/>
          <p:nvPr/>
        </p:nvSpPr>
        <p:spPr>
          <a:xfrm>
            <a:off x="811296" y="4948992"/>
            <a:ext cx="2423520" cy="366336"/>
          </a:xfrm>
          <a:custGeom>
            <a:avLst/>
            <a:gdLst/>
            <a:ahLst/>
            <a:cxnLst/>
            <a:rect l="0" t="0" r="r" b="b"/>
            <a:pathLst>
              <a:path w="5610" h="848">
                <a:moveTo>
                  <a:pt x="0" y="0"/>
                </a:moveTo>
                <a:lnTo>
                  <a:pt x="5610" y="0"/>
                </a:lnTo>
                <a:lnTo>
                  <a:pt x="5610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Freeform: Shape 110"/>
          <p:cNvSpPr/>
          <p:nvPr/>
        </p:nvSpPr>
        <p:spPr>
          <a:xfrm>
            <a:off x="3234384" y="4948992"/>
            <a:ext cx="994896" cy="366336"/>
          </a:xfrm>
          <a:custGeom>
            <a:avLst/>
            <a:gdLst/>
            <a:ahLst/>
            <a:cxnLst/>
            <a:rect l="0" t="0" r="r" b="b"/>
            <a:pathLst>
              <a:path w="2303" h="848">
                <a:moveTo>
                  <a:pt x="0" y="0"/>
                </a:moveTo>
                <a:lnTo>
                  <a:pt x="2303" y="0"/>
                </a:lnTo>
                <a:lnTo>
                  <a:pt x="230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Freeform: Shape 111"/>
          <p:cNvSpPr/>
          <p:nvPr/>
        </p:nvSpPr>
        <p:spPr>
          <a:xfrm>
            <a:off x="4228848" y="4948992"/>
            <a:ext cx="1349136" cy="366336"/>
          </a:xfrm>
          <a:custGeom>
            <a:avLst/>
            <a:gdLst/>
            <a:ahLst/>
            <a:cxnLst/>
            <a:rect l="0" t="0" r="r" b="b"/>
            <a:pathLst>
              <a:path w="3123" h="848">
                <a:moveTo>
                  <a:pt x="0" y="0"/>
                </a:moveTo>
                <a:lnTo>
                  <a:pt x="3123" y="0"/>
                </a:lnTo>
                <a:lnTo>
                  <a:pt x="312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Freeform: Shape 112"/>
          <p:cNvSpPr/>
          <p:nvPr/>
        </p:nvSpPr>
        <p:spPr>
          <a:xfrm>
            <a:off x="811296" y="5314896"/>
            <a:ext cx="2423520" cy="354672"/>
          </a:xfrm>
          <a:custGeom>
            <a:avLst/>
            <a:gdLst/>
            <a:ahLst/>
            <a:cxnLst/>
            <a:rect l="0" t="0" r="r" b="b"/>
            <a:pathLst>
              <a:path w="5610" h="821">
                <a:moveTo>
                  <a:pt x="0" y="0"/>
                </a:moveTo>
                <a:lnTo>
                  <a:pt x="5610" y="0"/>
                </a:lnTo>
                <a:lnTo>
                  <a:pt x="561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Freeform: Shape 113"/>
          <p:cNvSpPr/>
          <p:nvPr/>
        </p:nvSpPr>
        <p:spPr>
          <a:xfrm>
            <a:off x="3234384" y="5314896"/>
            <a:ext cx="994896" cy="354672"/>
          </a:xfrm>
          <a:custGeom>
            <a:avLst/>
            <a:gdLst/>
            <a:ahLst/>
            <a:cxnLst/>
            <a:rect l="0" t="0" r="r" b="b"/>
            <a:pathLst>
              <a:path w="2303" h="821">
                <a:moveTo>
                  <a:pt x="0" y="0"/>
                </a:moveTo>
                <a:lnTo>
                  <a:pt x="2303" y="0"/>
                </a:lnTo>
                <a:lnTo>
                  <a:pt x="230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Freeform: Shape 114"/>
          <p:cNvSpPr/>
          <p:nvPr/>
        </p:nvSpPr>
        <p:spPr>
          <a:xfrm>
            <a:off x="4228848" y="5314896"/>
            <a:ext cx="1349136" cy="354672"/>
          </a:xfrm>
          <a:custGeom>
            <a:avLst/>
            <a:gdLst/>
            <a:ahLst/>
            <a:cxnLst/>
            <a:rect l="0" t="0" r="r" b="b"/>
            <a:pathLst>
              <a:path w="3123" h="821">
                <a:moveTo>
                  <a:pt x="0" y="0"/>
                </a:moveTo>
                <a:lnTo>
                  <a:pt x="3123" y="0"/>
                </a:lnTo>
                <a:lnTo>
                  <a:pt x="312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Freeform: Shape 115"/>
          <p:cNvSpPr/>
          <p:nvPr/>
        </p:nvSpPr>
        <p:spPr>
          <a:xfrm>
            <a:off x="811296" y="6034608"/>
            <a:ext cx="2423520" cy="366336"/>
          </a:xfrm>
          <a:custGeom>
            <a:avLst/>
            <a:gdLst/>
            <a:ahLst/>
            <a:cxnLst/>
            <a:rect l="0" t="0" r="r" b="b"/>
            <a:pathLst>
              <a:path w="5610" h="848">
                <a:moveTo>
                  <a:pt x="0" y="0"/>
                </a:moveTo>
                <a:lnTo>
                  <a:pt x="5610" y="0"/>
                </a:lnTo>
                <a:lnTo>
                  <a:pt x="5610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Freeform: Shape 116"/>
          <p:cNvSpPr/>
          <p:nvPr/>
        </p:nvSpPr>
        <p:spPr>
          <a:xfrm>
            <a:off x="3234384" y="6034608"/>
            <a:ext cx="994896" cy="366336"/>
          </a:xfrm>
          <a:custGeom>
            <a:avLst/>
            <a:gdLst/>
            <a:ahLst/>
            <a:cxnLst/>
            <a:rect l="0" t="0" r="r" b="b"/>
            <a:pathLst>
              <a:path w="2303" h="848">
                <a:moveTo>
                  <a:pt x="0" y="0"/>
                </a:moveTo>
                <a:lnTo>
                  <a:pt x="2303" y="0"/>
                </a:lnTo>
                <a:lnTo>
                  <a:pt x="230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Freeform: Shape 117"/>
          <p:cNvSpPr/>
          <p:nvPr/>
        </p:nvSpPr>
        <p:spPr>
          <a:xfrm>
            <a:off x="4228848" y="6034608"/>
            <a:ext cx="1349136" cy="366336"/>
          </a:xfrm>
          <a:custGeom>
            <a:avLst/>
            <a:gdLst/>
            <a:ahLst/>
            <a:cxnLst/>
            <a:rect l="0" t="0" r="r" b="b"/>
            <a:pathLst>
              <a:path w="3123" h="848">
                <a:moveTo>
                  <a:pt x="0" y="0"/>
                </a:moveTo>
                <a:lnTo>
                  <a:pt x="3123" y="0"/>
                </a:lnTo>
                <a:lnTo>
                  <a:pt x="312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Freeform: Shape 118"/>
          <p:cNvSpPr/>
          <p:nvPr/>
        </p:nvSpPr>
        <p:spPr>
          <a:xfrm>
            <a:off x="811296" y="6766416"/>
            <a:ext cx="2423520" cy="354672"/>
          </a:xfrm>
          <a:custGeom>
            <a:avLst/>
            <a:gdLst/>
            <a:ahLst/>
            <a:cxnLst/>
            <a:rect l="0" t="0" r="r" b="b"/>
            <a:pathLst>
              <a:path w="5610" h="821">
                <a:moveTo>
                  <a:pt x="0" y="0"/>
                </a:moveTo>
                <a:lnTo>
                  <a:pt x="5610" y="0"/>
                </a:lnTo>
                <a:lnTo>
                  <a:pt x="561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Freeform: Shape 119"/>
          <p:cNvSpPr/>
          <p:nvPr/>
        </p:nvSpPr>
        <p:spPr>
          <a:xfrm>
            <a:off x="3234384" y="6766416"/>
            <a:ext cx="994896" cy="354672"/>
          </a:xfrm>
          <a:custGeom>
            <a:avLst/>
            <a:gdLst/>
            <a:ahLst/>
            <a:cxnLst/>
            <a:rect l="0" t="0" r="r" b="b"/>
            <a:pathLst>
              <a:path w="2303" h="821">
                <a:moveTo>
                  <a:pt x="0" y="0"/>
                </a:moveTo>
                <a:lnTo>
                  <a:pt x="2303" y="0"/>
                </a:lnTo>
                <a:lnTo>
                  <a:pt x="230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Freeform: Shape 120"/>
          <p:cNvSpPr/>
          <p:nvPr/>
        </p:nvSpPr>
        <p:spPr>
          <a:xfrm>
            <a:off x="4228848" y="6766416"/>
            <a:ext cx="1349136" cy="354672"/>
          </a:xfrm>
          <a:custGeom>
            <a:avLst/>
            <a:gdLst/>
            <a:ahLst/>
            <a:cxnLst/>
            <a:rect l="0" t="0" r="r" b="b"/>
            <a:pathLst>
              <a:path w="3123" h="821">
                <a:moveTo>
                  <a:pt x="0" y="0"/>
                </a:moveTo>
                <a:lnTo>
                  <a:pt x="3123" y="0"/>
                </a:lnTo>
                <a:lnTo>
                  <a:pt x="312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Freeform: Shape 121"/>
          <p:cNvSpPr/>
          <p:nvPr/>
        </p:nvSpPr>
        <p:spPr>
          <a:xfrm>
            <a:off x="800064" y="4937328"/>
            <a:ext cx="11664" cy="378000"/>
          </a:xfrm>
          <a:custGeom>
            <a:avLst/>
            <a:gdLst/>
            <a:ahLst/>
            <a:cxn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Freeform: Shape 122"/>
          <p:cNvSpPr/>
          <p:nvPr/>
        </p:nvSpPr>
        <p:spPr>
          <a:xfrm>
            <a:off x="800064" y="4937328"/>
            <a:ext cx="2434752" cy="12096"/>
          </a:xfrm>
          <a:custGeom>
            <a:avLst/>
            <a:gdLst/>
            <a:ahLst/>
            <a:cxn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Freeform: Shape 123"/>
          <p:cNvSpPr/>
          <p:nvPr/>
        </p:nvSpPr>
        <p:spPr>
          <a:xfrm>
            <a:off x="3223152" y="4937328"/>
            <a:ext cx="11664" cy="378000"/>
          </a:xfrm>
          <a:custGeom>
            <a:avLst/>
            <a:gdLst/>
            <a:ahLst/>
            <a:cxn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Freeform: Shape 124"/>
          <p:cNvSpPr/>
          <p:nvPr/>
        </p:nvSpPr>
        <p:spPr>
          <a:xfrm>
            <a:off x="3234384" y="4937328"/>
            <a:ext cx="994896" cy="12096"/>
          </a:xfrm>
          <a:custGeom>
            <a:avLst/>
            <a:gdLst/>
            <a:ahLst/>
            <a:cxn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Freeform: Shape 125"/>
          <p:cNvSpPr/>
          <p:nvPr/>
        </p:nvSpPr>
        <p:spPr>
          <a:xfrm>
            <a:off x="4217616" y="4937328"/>
            <a:ext cx="11664" cy="378000"/>
          </a:xfrm>
          <a:custGeom>
            <a:avLst/>
            <a:gdLst/>
            <a:ahLst/>
            <a:cxn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Freeform: Shape 126"/>
          <p:cNvSpPr/>
          <p:nvPr/>
        </p:nvSpPr>
        <p:spPr>
          <a:xfrm>
            <a:off x="4228848" y="4937328"/>
            <a:ext cx="1360800" cy="12096"/>
          </a:xfrm>
          <a:custGeom>
            <a:avLst/>
            <a:gdLst/>
            <a:ahLst/>
            <a:cxnLst/>
            <a:rect l="0" t="0" r="r" b="b"/>
            <a:pathLst>
              <a:path w="3150" h="28">
                <a:moveTo>
                  <a:pt x="0" y="0"/>
                </a:moveTo>
                <a:lnTo>
                  <a:pt x="3150" y="0"/>
                </a:lnTo>
                <a:lnTo>
                  <a:pt x="3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Freeform: Shape 127"/>
          <p:cNvSpPr/>
          <p:nvPr/>
        </p:nvSpPr>
        <p:spPr>
          <a:xfrm>
            <a:off x="5577552" y="4937328"/>
            <a:ext cx="12096" cy="378000"/>
          </a:xfrm>
          <a:custGeom>
            <a:avLst/>
            <a:gdLst/>
            <a:ahLst/>
            <a:cxn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Freeform: Shape 128"/>
          <p:cNvSpPr/>
          <p:nvPr/>
        </p:nvSpPr>
        <p:spPr>
          <a:xfrm>
            <a:off x="800064" y="5303232"/>
            <a:ext cx="2434752" cy="12096"/>
          </a:xfrm>
          <a:custGeom>
            <a:avLst/>
            <a:gdLst/>
            <a:ahLst/>
            <a:cxn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Freeform: Shape 129"/>
          <p:cNvSpPr/>
          <p:nvPr/>
        </p:nvSpPr>
        <p:spPr>
          <a:xfrm>
            <a:off x="3234384" y="5303232"/>
            <a:ext cx="994896" cy="12096"/>
          </a:xfrm>
          <a:custGeom>
            <a:avLst/>
            <a:gdLst/>
            <a:ahLst/>
            <a:cxn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Freeform: Shape 130"/>
          <p:cNvSpPr/>
          <p:nvPr/>
        </p:nvSpPr>
        <p:spPr>
          <a:xfrm>
            <a:off x="4228848" y="5303232"/>
            <a:ext cx="1360800" cy="12096"/>
          </a:xfrm>
          <a:custGeom>
            <a:avLst/>
            <a:gdLst/>
            <a:ahLst/>
            <a:cxnLst/>
            <a:rect l="0" t="0" r="r" b="b"/>
            <a:pathLst>
              <a:path w="3150" h="28">
                <a:moveTo>
                  <a:pt x="0" y="0"/>
                </a:moveTo>
                <a:lnTo>
                  <a:pt x="3150" y="0"/>
                </a:lnTo>
                <a:lnTo>
                  <a:pt x="3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Freeform: Shape 131"/>
          <p:cNvSpPr/>
          <p:nvPr/>
        </p:nvSpPr>
        <p:spPr>
          <a:xfrm>
            <a:off x="800064" y="531489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Freeform: Shape 132"/>
          <p:cNvSpPr/>
          <p:nvPr/>
        </p:nvSpPr>
        <p:spPr>
          <a:xfrm>
            <a:off x="3223152" y="531489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Freeform: Shape 133"/>
          <p:cNvSpPr/>
          <p:nvPr/>
        </p:nvSpPr>
        <p:spPr>
          <a:xfrm>
            <a:off x="4217616" y="531489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Freeform: Shape 134"/>
          <p:cNvSpPr/>
          <p:nvPr/>
        </p:nvSpPr>
        <p:spPr>
          <a:xfrm>
            <a:off x="5577552" y="5314896"/>
            <a:ext cx="12096" cy="365904"/>
          </a:xfrm>
          <a:custGeom>
            <a:avLst/>
            <a:gdLst/>
            <a:ahLst/>
            <a:cxn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Freeform: Shape 135"/>
          <p:cNvSpPr/>
          <p:nvPr/>
        </p:nvSpPr>
        <p:spPr>
          <a:xfrm>
            <a:off x="800064" y="5680368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Freeform: Shape 136"/>
          <p:cNvSpPr/>
          <p:nvPr/>
        </p:nvSpPr>
        <p:spPr>
          <a:xfrm>
            <a:off x="800064" y="5669136"/>
            <a:ext cx="2434752" cy="11664"/>
          </a:xfrm>
          <a:custGeom>
            <a:avLst/>
            <a:gdLst/>
            <a:ahLst/>
            <a:cxn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Freeform: Shape 137"/>
          <p:cNvSpPr/>
          <p:nvPr/>
        </p:nvSpPr>
        <p:spPr>
          <a:xfrm>
            <a:off x="3223152" y="5680368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Freeform: Shape 138"/>
          <p:cNvSpPr/>
          <p:nvPr/>
        </p:nvSpPr>
        <p:spPr>
          <a:xfrm>
            <a:off x="3234384" y="5669136"/>
            <a:ext cx="994896" cy="11664"/>
          </a:xfrm>
          <a:custGeom>
            <a:avLst/>
            <a:gdLst/>
            <a:ahLst/>
            <a:cxn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Freeform: Shape 139"/>
          <p:cNvSpPr/>
          <p:nvPr/>
        </p:nvSpPr>
        <p:spPr>
          <a:xfrm>
            <a:off x="4217616" y="5680368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Freeform: Shape 140"/>
          <p:cNvSpPr/>
          <p:nvPr/>
        </p:nvSpPr>
        <p:spPr>
          <a:xfrm>
            <a:off x="4228848" y="5669136"/>
            <a:ext cx="1360800" cy="11664"/>
          </a:xfrm>
          <a:custGeom>
            <a:avLst/>
            <a:gdLst/>
            <a:ahLst/>
            <a:cxnLst/>
            <a:rect l="0" t="0" r="r" b="b"/>
            <a:pathLst>
              <a:path w="3150" h="27">
                <a:moveTo>
                  <a:pt x="0" y="0"/>
                </a:moveTo>
                <a:lnTo>
                  <a:pt x="3150" y="0"/>
                </a:lnTo>
                <a:lnTo>
                  <a:pt x="3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Freeform: Shape 141"/>
          <p:cNvSpPr/>
          <p:nvPr/>
        </p:nvSpPr>
        <p:spPr>
          <a:xfrm>
            <a:off x="5577552" y="5680368"/>
            <a:ext cx="12096" cy="366336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Freeform: Shape 142"/>
          <p:cNvSpPr/>
          <p:nvPr/>
        </p:nvSpPr>
        <p:spPr>
          <a:xfrm>
            <a:off x="800064" y="6046272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Freeform: Shape 143"/>
          <p:cNvSpPr/>
          <p:nvPr/>
        </p:nvSpPr>
        <p:spPr>
          <a:xfrm>
            <a:off x="800064" y="6034608"/>
            <a:ext cx="2434752" cy="12096"/>
          </a:xfrm>
          <a:custGeom>
            <a:avLst/>
            <a:gdLst/>
            <a:ahLst/>
            <a:cxn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Freeform: Shape 144"/>
          <p:cNvSpPr/>
          <p:nvPr/>
        </p:nvSpPr>
        <p:spPr>
          <a:xfrm>
            <a:off x="3223152" y="6046272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Freeform: Shape 145"/>
          <p:cNvSpPr/>
          <p:nvPr/>
        </p:nvSpPr>
        <p:spPr>
          <a:xfrm>
            <a:off x="3234384" y="6034608"/>
            <a:ext cx="994896" cy="12096"/>
          </a:xfrm>
          <a:custGeom>
            <a:avLst/>
            <a:gdLst/>
            <a:ahLst/>
            <a:cxn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Freeform: Shape 146"/>
          <p:cNvSpPr/>
          <p:nvPr/>
        </p:nvSpPr>
        <p:spPr>
          <a:xfrm>
            <a:off x="4217616" y="6046272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Freeform: Shape 147"/>
          <p:cNvSpPr/>
          <p:nvPr/>
        </p:nvSpPr>
        <p:spPr>
          <a:xfrm>
            <a:off x="4228848" y="6034608"/>
            <a:ext cx="1360800" cy="12096"/>
          </a:xfrm>
          <a:custGeom>
            <a:avLst/>
            <a:gdLst/>
            <a:ahLst/>
            <a:cxnLst/>
            <a:rect l="0" t="0" r="r" b="b"/>
            <a:pathLst>
              <a:path w="3150" h="28">
                <a:moveTo>
                  <a:pt x="0" y="0"/>
                </a:moveTo>
                <a:lnTo>
                  <a:pt x="3150" y="0"/>
                </a:lnTo>
                <a:lnTo>
                  <a:pt x="3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Freeform: Shape 148"/>
          <p:cNvSpPr/>
          <p:nvPr/>
        </p:nvSpPr>
        <p:spPr>
          <a:xfrm>
            <a:off x="5577552" y="6046272"/>
            <a:ext cx="12096" cy="354672"/>
          </a:xfrm>
          <a:custGeom>
            <a:avLst/>
            <a:gdLst/>
            <a:ahLst/>
            <a:cxnLst/>
            <a:rect l="0" t="0" r="r" b="b"/>
            <a:pathLst>
              <a:path w="28" h="821">
                <a:moveTo>
                  <a:pt x="0" y="0"/>
                </a:moveTo>
                <a:lnTo>
                  <a:pt x="28" y="0"/>
                </a:lnTo>
                <a:lnTo>
                  <a:pt x="2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Freeform: Shape 149"/>
          <p:cNvSpPr/>
          <p:nvPr/>
        </p:nvSpPr>
        <p:spPr>
          <a:xfrm>
            <a:off x="800064" y="6400512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Freeform: Shape 150"/>
          <p:cNvSpPr/>
          <p:nvPr/>
        </p:nvSpPr>
        <p:spPr>
          <a:xfrm>
            <a:off x="800064" y="6389280"/>
            <a:ext cx="2434752" cy="11664"/>
          </a:xfrm>
          <a:custGeom>
            <a:avLst/>
            <a:gdLst/>
            <a:ahLst/>
            <a:cxn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Freeform: Shape 151"/>
          <p:cNvSpPr/>
          <p:nvPr/>
        </p:nvSpPr>
        <p:spPr>
          <a:xfrm>
            <a:off x="3223152" y="6400512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Freeform: Shape 152"/>
          <p:cNvSpPr/>
          <p:nvPr/>
        </p:nvSpPr>
        <p:spPr>
          <a:xfrm>
            <a:off x="3234384" y="6389280"/>
            <a:ext cx="994896" cy="11664"/>
          </a:xfrm>
          <a:custGeom>
            <a:avLst/>
            <a:gdLst/>
            <a:ahLst/>
            <a:cxn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Freeform: Shape 153"/>
          <p:cNvSpPr/>
          <p:nvPr/>
        </p:nvSpPr>
        <p:spPr>
          <a:xfrm>
            <a:off x="4217616" y="6400512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Freeform: Shape 154"/>
          <p:cNvSpPr/>
          <p:nvPr/>
        </p:nvSpPr>
        <p:spPr>
          <a:xfrm>
            <a:off x="4228848" y="6389280"/>
            <a:ext cx="1360800" cy="11664"/>
          </a:xfrm>
          <a:custGeom>
            <a:avLst/>
            <a:gdLst/>
            <a:ahLst/>
            <a:cxnLst/>
            <a:rect l="0" t="0" r="r" b="b"/>
            <a:pathLst>
              <a:path w="3150" h="27">
                <a:moveTo>
                  <a:pt x="0" y="0"/>
                </a:moveTo>
                <a:lnTo>
                  <a:pt x="3150" y="0"/>
                </a:lnTo>
                <a:lnTo>
                  <a:pt x="3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Freeform: Shape 155"/>
          <p:cNvSpPr/>
          <p:nvPr/>
        </p:nvSpPr>
        <p:spPr>
          <a:xfrm>
            <a:off x="5577552" y="6400512"/>
            <a:ext cx="12096" cy="366336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Freeform: Shape 156"/>
          <p:cNvSpPr/>
          <p:nvPr/>
        </p:nvSpPr>
        <p:spPr>
          <a:xfrm>
            <a:off x="800064" y="676641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Freeform: Shape 157"/>
          <p:cNvSpPr/>
          <p:nvPr/>
        </p:nvSpPr>
        <p:spPr>
          <a:xfrm>
            <a:off x="800064" y="6754752"/>
            <a:ext cx="2434752" cy="12096"/>
          </a:xfrm>
          <a:custGeom>
            <a:avLst/>
            <a:gdLst/>
            <a:ahLst/>
            <a:cxnLst/>
            <a:rect l="0" t="0" r="r" b="b"/>
            <a:pathLst>
              <a:path w="5636" h="28">
                <a:moveTo>
                  <a:pt x="0" y="0"/>
                </a:moveTo>
                <a:lnTo>
                  <a:pt x="5636" y="0"/>
                </a:lnTo>
                <a:lnTo>
                  <a:pt x="56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Freeform: Shape 158"/>
          <p:cNvSpPr/>
          <p:nvPr/>
        </p:nvSpPr>
        <p:spPr>
          <a:xfrm>
            <a:off x="3223152" y="676641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Freeform: Shape 159"/>
          <p:cNvSpPr/>
          <p:nvPr/>
        </p:nvSpPr>
        <p:spPr>
          <a:xfrm>
            <a:off x="3234384" y="6754752"/>
            <a:ext cx="994896" cy="12096"/>
          </a:xfrm>
          <a:custGeom>
            <a:avLst/>
            <a:gdLst/>
            <a:ahLst/>
            <a:cxn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Freeform: Shape 160"/>
          <p:cNvSpPr/>
          <p:nvPr/>
        </p:nvSpPr>
        <p:spPr>
          <a:xfrm>
            <a:off x="4217616" y="6766416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Freeform: Shape 161"/>
          <p:cNvSpPr/>
          <p:nvPr/>
        </p:nvSpPr>
        <p:spPr>
          <a:xfrm>
            <a:off x="4228848" y="6754752"/>
            <a:ext cx="1360800" cy="12096"/>
          </a:xfrm>
          <a:custGeom>
            <a:avLst/>
            <a:gdLst/>
            <a:ahLst/>
            <a:cxnLst/>
            <a:rect l="0" t="0" r="r" b="b"/>
            <a:pathLst>
              <a:path w="3150" h="28">
                <a:moveTo>
                  <a:pt x="0" y="0"/>
                </a:moveTo>
                <a:lnTo>
                  <a:pt x="3150" y="0"/>
                </a:lnTo>
                <a:lnTo>
                  <a:pt x="31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Freeform: Shape 162"/>
          <p:cNvSpPr/>
          <p:nvPr/>
        </p:nvSpPr>
        <p:spPr>
          <a:xfrm>
            <a:off x="5577552" y="6766416"/>
            <a:ext cx="12096" cy="365904"/>
          </a:xfrm>
          <a:custGeom>
            <a:avLst/>
            <a:gdLst/>
            <a:ahLst/>
            <a:cxn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Freeform: Shape 163"/>
          <p:cNvSpPr/>
          <p:nvPr/>
        </p:nvSpPr>
        <p:spPr>
          <a:xfrm>
            <a:off x="800064" y="7120656"/>
            <a:ext cx="2434752" cy="11664"/>
          </a:xfrm>
          <a:custGeom>
            <a:avLst/>
            <a:gdLst/>
            <a:ahLst/>
            <a:cxnLst/>
            <a:rect l="0" t="0" r="r" b="b"/>
            <a:pathLst>
              <a:path w="5636" h="27">
                <a:moveTo>
                  <a:pt x="0" y="0"/>
                </a:moveTo>
                <a:lnTo>
                  <a:pt x="5636" y="0"/>
                </a:lnTo>
                <a:lnTo>
                  <a:pt x="56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Freeform: Shape 164"/>
          <p:cNvSpPr/>
          <p:nvPr/>
        </p:nvSpPr>
        <p:spPr>
          <a:xfrm>
            <a:off x="3234384" y="7120656"/>
            <a:ext cx="994896" cy="11664"/>
          </a:xfrm>
          <a:custGeom>
            <a:avLst/>
            <a:gdLst/>
            <a:ahLst/>
            <a:cxn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Freeform: Shape 165"/>
          <p:cNvSpPr/>
          <p:nvPr/>
        </p:nvSpPr>
        <p:spPr>
          <a:xfrm>
            <a:off x="4228848" y="7120656"/>
            <a:ext cx="1360800" cy="11664"/>
          </a:xfrm>
          <a:custGeom>
            <a:avLst/>
            <a:gdLst/>
            <a:ahLst/>
            <a:cxnLst/>
            <a:rect l="0" t="0" r="r" b="b"/>
            <a:pathLst>
              <a:path w="3150" h="27">
                <a:moveTo>
                  <a:pt x="0" y="0"/>
                </a:moveTo>
                <a:lnTo>
                  <a:pt x="3150" y="0"/>
                </a:lnTo>
                <a:lnTo>
                  <a:pt x="31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Freeform: Shape 166"/>
          <p:cNvSpPr/>
          <p:nvPr/>
        </p:nvSpPr>
        <p:spPr>
          <a:xfrm>
            <a:off x="834192" y="845424"/>
            <a:ext cx="297648" cy="309312"/>
          </a:xfrm>
          <a:custGeom>
            <a:avLst/>
            <a:gdLst/>
            <a:ahLst/>
            <a:cxnLst/>
            <a:rect l="0" t="0" r="r" b="b"/>
            <a:pathLst>
              <a:path w="689" h="716">
                <a:moveTo>
                  <a:pt x="689" y="636"/>
                </a:moveTo>
                <a:cubicBezTo>
                  <a:pt x="689" y="680"/>
                  <a:pt x="655" y="716"/>
                  <a:pt x="612" y="716"/>
                </a:cubicBezTo>
                <a:lnTo>
                  <a:pt x="76" y="716"/>
                </a:lnTo>
                <a:cubicBezTo>
                  <a:pt x="34" y="716"/>
                  <a:pt x="0" y="680"/>
                  <a:pt x="0" y="636"/>
                </a:cubicBezTo>
                <a:lnTo>
                  <a:pt x="0" y="80"/>
                </a:lnTo>
                <a:cubicBezTo>
                  <a:pt x="0" y="36"/>
                  <a:pt x="34" y="0"/>
                  <a:pt x="76" y="0"/>
                </a:cubicBezTo>
                <a:lnTo>
                  <a:pt x="612" y="0"/>
                </a:lnTo>
                <a:cubicBezTo>
                  <a:pt x="655" y="0"/>
                  <a:pt x="689" y="36"/>
                  <a:pt x="689" y="80"/>
                </a:cubicBezTo>
                <a:lnTo>
                  <a:pt x="689" y="63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Freeform: Shape 167"/>
          <p:cNvSpPr/>
          <p:nvPr/>
        </p:nvSpPr>
        <p:spPr>
          <a:xfrm>
            <a:off x="881280" y="896832"/>
            <a:ext cx="204336" cy="208224"/>
          </a:xfrm>
          <a:custGeom>
            <a:avLst/>
            <a:gdLst/>
            <a:ahLst/>
            <a:cxnLst/>
            <a:rect l="0" t="0" r="r" b="b"/>
            <a:pathLst>
              <a:path w="473" h="482">
                <a:moveTo>
                  <a:pt x="451" y="8"/>
                </a:moveTo>
                <a:cubicBezTo>
                  <a:pt x="429" y="-7"/>
                  <a:pt x="400" y="-1"/>
                  <a:pt x="385" y="22"/>
                </a:cubicBezTo>
                <a:lnTo>
                  <a:pt x="177" y="356"/>
                </a:lnTo>
                <a:lnTo>
                  <a:pt x="80" y="264"/>
                </a:lnTo>
                <a:cubicBezTo>
                  <a:pt x="61" y="245"/>
                  <a:pt x="31" y="247"/>
                  <a:pt x="13" y="267"/>
                </a:cubicBezTo>
                <a:cubicBezTo>
                  <a:pt x="-5" y="287"/>
                  <a:pt x="-4" y="318"/>
                  <a:pt x="15" y="337"/>
                </a:cubicBezTo>
                <a:lnTo>
                  <a:pt x="154" y="469"/>
                </a:lnTo>
                <a:cubicBezTo>
                  <a:pt x="163" y="478"/>
                  <a:pt x="175" y="482"/>
                  <a:pt x="187" y="482"/>
                </a:cubicBezTo>
                <a:cubicBezTo>
                  <a:pt x="199" y="482"/>
                  <a:pt x="216" y="477"/>
                  <a:pt x="227" y="460"/>
                </a:cubicBezTo>
                <a:cubicBezTo>
                  <a:pt x="233" y="450"/>
                  <a:pt x="466" y="76"/>
                  <a:pt x="466" y="76"/>
                </a:cubicBezTo>
                <a:cubicBezTo>
                  <a:pt x="480" y="53"/>
                  <a:pt x="474" y="23"/>
                  <a:pt x="451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146960" y="794449"/>
            <a:ext cx="4701993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The Solution: CI/CD Automation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800064" y="1406161"/>
            <a:ext cx="363420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With CI/CD (Minutes of Automation!):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870480" y="1940112"/>
            <a:ext cx="220092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Developer commits code to GitHub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70481" y="2134512"/>
            <a:ext cx="4007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715472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870480" y="2317248"/>
            <a:ext cx="210955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GitHub Webhook triggers Jenkins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70481" y="2511648"/>
            <a:ext cx="4007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715472" y="252417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70480" y="2706048"/>
            <a:ext cx="228588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Jenkins Pipeline (100% Automated):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870481" y="2888784"/>
            <a:ext cx="93134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1. Clone repo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870481" y="3083184"/>
            <a:ext cx="142346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2. Run tests (fail fast)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870481" y="3265920"/>
            <a:ext cx="14683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3. Build Docker image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870480" y="3460320"/>
            <a:ext cx="150682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4. Push to Docker Hub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70480" y="3654720"/>
            <a:ext cx="16014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5. Deploy to Kubernetes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870481" y="3837456"/>
            <a:ext cx="4007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715472" y="384998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Freeform: Shape 184"/>
          <p:cNvSpPr/>
          <p:nvPr/>
        </p:nvSpPr>
        <p:spPr>
          <a:xfrm>
            <a:off x="4091904" y="4023216"/>
            <a:ext cx="149040" cy="137376"/>
          </a:xfrm>
          <a:custGeom>
            <a:avLst/>
            <a:gdLst/>
            <a:ahLst/>
            <a:cxnLst/>
            <a:rect l="0" t="0" r="r" b="b"/>
            <a:pathLst>
              <a:path w="345" h="318">
                <a:moveTo>
                  <a:pt x="345" y="283"/>
                </a:moveTo>
                <a:cubicBezTo>
                  <a:pt x="345" y="303"/>
                  <a:pt x="327" y="318"/>
                  <a:pt x="306" y="318"/>
                </a:cubicBezTo>
                <a:lnTo>
                  <a:pt x="38" y="318"/>
                </a:lnTo>
                <a:cubicBezTo>
                  <a:pt x="17" y="318"/>
                  <a:pt x="0" y="303"/>
                  <a:pt x="0" y="283"/>
                </a:cubicBezTo>
                <a:lnTo>
                  <a:pt x="0" y="35"/>
                </a:lnTo>
                <a:cubicBezTo>
                  <a:pt x="0" y="16"/>
                  <a:pt x="17" y="0"/>
                  <a:pt x="38" y="0"/>
                </a:cubicBezTo>
                <a:lnTo>
                  <a:pt x="306" y="0"/>
                </a:lnTo>
                <a:cubicBezTo>
                  <a:pt x="327" y="0"/>
                  <a:pt x="345" y="16"/>
                  <a:pt x="345" y="35"/>
                </a:cubicBezTo>
                <a:lnTo>
                  <a:pt x="345" y="2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Freeform: Shape 185"/>
          <p:cNvSpPr/>
          <p:nvPr/>
        </p:nvSpPr>
        <p:spPr>
          <a:xfrm>
            <a:off x="4115232" y="4045680"/>
            <a:ext cx="102384" cy="92880"/>
          </a:xfrm>
          <a:custGeom>
            <a:avLst/>
            <a:gdLst/>
            <a:ahLst/>
            <a:cxnLst/>
            <a:rect l="0" t="0" r="r" b="b"/>
            <a:pathLst>
              <a:path w="237" h="215">
                <a:moveTo>
                  <a:pt x="226" y="4"/>
                </a:moveTo>
                <a:cubicBezTo>
                  <a:pt x="215" y="-3"/>
                  <a:pt x="201" y="0"/>
                  <a:pt x="193" y="10"/>
                </a:cubicBezTo>
                <a:lnTo>
                  <a:pt x="89" y="159"/>
                </a:lnTo>
                <a:lnTo>
                  <a:pt x="41" y="117"/>
                </a:lnTo>
                <a:cubicBezTo>
                  <a:pt x="31" y="109"/>
                  <a:pt x="15" y="110"/>
                  <a:pt x="6" y="119"/>
                </a:cubicBezTo>
                <a:cubicBezTo>
                  <a:pt x="-2" y="128"/>
                  <a:pt x="-2" y="142"/>
                  <a:pt x="8" y="150"/>
                </a:cubicBezTo>
                <a:lnTo>
                  <a:pt x="78" y="210"/>
                </a:lnTo>
                <a:cubicBezTo>
                  <a:pt x="82" y="213"/>
                  <a:pt x="88" y="215"/>
                  <a:pt x="94" y="215"/>
                </a:cubicBezTo>
                <a:cubicBezTo>
                  <a:pt x="100" y="215"/>
                  <a:pt x="109" y="213"/>
                  <a:pt x="114" y="205"/>
                </a:cubicBezTo>
                <a:cubicBezTo>
                  <a:pt x="117" y="201"/>
                  <a:pt x="233" y="34"/>
                  <a:pt x="233" y="34"/>
                </a:cubicBezTo>
                <a:cubicBezTo>
                  <a:pt x="241" y="24"/>
                  <a:pt x="237" y="11"/>
                  <a:pt x="226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870480" y="4031856"/>
            <a:ext cx="254396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Production Ready (Seconds, Low Risk!)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00064" y="4469041"/>
            <a:ext cx="83356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Benefits: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1669681" y="4995217"/>
            <a:ext cx="61952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FFF8E1"/>
                </a:solidFill>
                <a:latin typeface="SegoeUI"/>
                <a:ea typeface="SegoeUI"/>
              </a:rPr>
              <a:t>Metric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331584" y="4995217"/>
            <a:ext cx="71654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FFF8E1"/>
                </a:solidFill>
                <a:latin typeface="SegoeUI"/>
                <a:ea typeface="SegoeUI"/>
              </a:rPr>
              <a:t>Manual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4579200" y="4995217"/>
            <a:ext cx="55624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FFF8E1"/>
                </a:solidFill>
                <a:latin typeface="SegoeUI"/>
                <a:ea typeface="SegoeUI"/>
              </a:rPr>
              <a:t>CI/CD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892080" y="5360689"/>
            <a:ext cx="14627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Time to Deploy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3319489" y="5360689"/>
            <a:ext cx="42960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Days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4311793" y="5360689"/>
            <a:ext cx="72295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Minutes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892081" y="5714929"/>
            <a:ext cx="95705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Error Rate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3319489" y="5714929"/>
            <a:ext cx="42960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High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4311793" y="5714929"/>
            <a:ext cx="36227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Low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892080" y="6080833"/>
            <a:ext cx="112934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Consistency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319489" y="6080833"/>
            <a:ext cx="71160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Variable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4311792" y="6080833"/>
            <a:ext cx="104515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Guaranteed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92080" y="6446737"/>
            <a:ext cx="974626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Scalability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3319488" y="6446737"/>
            <a:ext cx="66364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Limited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4311792" y="6446737"/>
            <a:ext cx="87203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Unlimited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892081" y="6812209"/>
            <a:ext cx="200324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Developer Wait Time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319489" y="6812209"/>
            <a:ext cx="42960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High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4311793" y="6812209"/>
            <a:ext cx="72455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Minimal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4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Freeform: Shape 210"/>
          <p:cNvSpPr/>
          <p:nvPr/>
        </p:nvSpPr>
        <p:spPr>
          <a:xfrm>
            <a:off x="800064" y="4114368"/>
            <a:ext cx="13030416" cy="2240784"/>
          </a:xfrm>
          <a:custGeom>
            <a:avLst/>
            <a:gdLst/>
            <a:ahLst/>
            <a:cxnLst/>
            <a:rect l="0" t="0" r="r" b="b"/>
            <a:pathLst>
              <a:path w="30163" h="5187">
                <a:moveTo>
                  <a:pt x="0" y="0"/>
                </a:moveTo>
                <a:lnTo>
                  <a:pt x="30163" y="0"/>
                </a:lnTo>
                <a:lnTo>
                  <a:pt x="30163" y="5187"/>
                </a:lnTo>
                <a:lnTo>
                  <a:pt x="0" y="518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Freeform: Shape 237"/>
          <p:cNvSpPr/>
          <p:nvPr/>
        </p:nvSpPr>
        <p:spPr>
          <a:xfrm>
            <a:off x="893808" y="907632"/>
            <a:ext cx="228096" cy="237168"/>
          </a:xfrm>
          <a:custGeom>
            <a:avLst/>
            <a:gdLst/>
            <a:ahLst/>
            <a:cxnLst/>
            <a:rect l="0" t="0" r="r" b="b"/>
            <a:pathLst>
              <a:path w="528" h="549">
                <a:moveTo>
                  <a:pt x="434" y="531"/>
                </a:moveTo>
                <a:cubicBezTo>
                  <a:pt x="456" y="554"/>
                  <a:pt x="492" y="555"/>
                  <a:pt x="513" y="533"/>
                </a:cubicBezTo>
                <a:cubicBezTo>
                  <a:pt x="534" y="511"/>
                  <a:pt x="533" y="474"/>
                  <a:pt x="510" y="451"/>
                </a:cubicBezTo>
                <a:lnTo>
                  <a:pt x="94" y="19"/>
                </a:lnTo>
                <a:cubicBezTo>
                  <a:pt x="71" y="-5"/>
                  <a:pt x="36" y="-6"/>
                  <a:pt x="15" y="16"/>
                </a:cubicBezTo>
                <a:cubicBezTo>
                  <a:pt x="-6" y="38"/>
                  <a:pt x="-5" y="75"/>
                  <a:pt x="17" y="98"/>
                </a:cubicBezTo>
                <a:lnTo>
                  <a:pt x="434" y="531"/>
                </a:ln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Freeform: Shape 238"/>
          <p:cNvSpPr/>
          <p:nvPr/>
        </p:nvSpPr>
        <p:spPr>
          <a:xfrm>
            <a:off x="838944" y="863568"/>
            <a:ext cx="179280" cy="149040"/>
          </a:xfrm>
          <a:custGeom>
            <a:avLst/>
            <a:gdLst/>
            <a:ahLst/>
            <a:cxnLst/>
            <a:rect l="0" t="0" r="r" b="b"/>
            <a:pathLst>
              <a:path w="415" h="345">
                <a:moveTo>
                  <a:pt x="410" y="18"/>
                </a:moveTo>
                <a:cubicBezTo>
                  <a:pt x="410" y="18"/>
                  <a:pt x="295" y="-42"/>
                  <a:pt x="199" y="58"/>
                </a:cubicBezTo>
                <a:lnTo>
                  <a:pt x="65" y="197"/>
                </a:lnTo>
                <a:cubicBezTo>
                  <a:pt x="65" y="197"/>
                  <a:pt x="46" y="177"/>
                  <a:pt x="27" y="197"/>
                </a:cubicBezTo>
                <a:lnTo>
                  <a:pt x="8" y="216"/>
                </a:lnTo>
                <a:cubicBezTo>
                  <a:pt x="8" y="216"/>
                  <a:pt x="-11" y="237"/>
                  <a:pt x="8" y="257"/>
                </a:cubicBezTo>
                <a:lnTo>
                  <a:pt x="85" y="336"/>
                </a:lnTo>
                <a:cubicBezTo>
                  <a:pt x="85" y="336"/>
                  <a:pt x="104" y="356"/>
                  <a:pt x="123" y="336"/>
                </a:cubicBezTo>
                <a:lnTo>
                  <a:pt x="142" y="317"/>
                </a:lnTo>
                <a:cubicBezTo>
                  <a:pt x="142" y="317"/>
                  <a:pt x="161" y="297"/>
                  <a:pt x="142" y="277"/>
                </a:cubicBezTo>
                <a:lnTo>
                  <a:pt x="140" y="275"/>
                </a:lnTo>
                <a:cubicBezTo>
                  <a:pt x="155" y="261"/>
                  <a:pt x="177" y="246"/>
                  <a:pt x="199" y="257"/>
                </a:cubicBezTo>
                <a:lnTo>
                  <a:pt x="276" y="177"/>
                </a:lnTo>
                <a:cubicBezTo>
                  <a:pt x="276" y="177"/>
                  <a:pt x="256" y="117"/>
                  <a:pt x="295" y="77"/>
                </a:cubicBezTo>
                <a:cubicBezTo>
                  <a:pt x="333" y="38"/>
                  <a:pt x="353" y="38"/>
                  <a:pt x="391" y="38"/>
                </a:cubicBezTo>
                <a:cubicBezTo>
                  <a:pt x="429" y="38"/>
                  <a:pt x="410" y="18"/>
                  <a:pt x="410" y="18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146960" y="794449"/>
            <a:ext cx="4642296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Jenkins: The Automation Server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Freeform: Shape 240"/>
          <p:cNvSpPr/>
          <p:nvPr/>
        </p:nvSpPr>
        <p:spPr>
          <a:xfrm>
            <a:off x="1039824" y="2000160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Freeform: Shape 241"/>
          <p:cNvSpPr/>
          <p:nvPr/>
        </p:nvSpPr>
        <p:spPr>
          <a:xfrm>
            <a:off x="1308528" y="1923264"/>
            <a:ext cx="139968" cy="191376"/>
          </a:xfrm>
          <a:custGeom>
            <a:avLst/>
            <a:gdLst/>
            <a:ahLst/>
            <a:cxnLst/>
            <a:rect l="0" t="0" r="r" b="b"/>
            <a:pathLst>
              <a:path w="324" h="443">
                <a:moveTo>
                  <a:pt x="322" y="167"/>
                </a:moveTo>
                <a:cubicBezTo>
                  <a:pt x="310" y="243"/>
                  <a:pt x="260" y="268"/>
                  <a:pt x="247" y="331"/>
                </a:cubicBezTo>
                <a:cubicBezTo>
                  <a:pt x="227" y="431"/>
                  <a:pt x="169" y="443"/>
                  <a:pt x="110" y="443"/>
                </a:cubicBezTo>
                <a:cubicBezTo>
                  <a:pt x="12" y="443"/>
                  <a:pt x="62" y="349"/>
                  <a:pt x="21" y="231"/>
                </a:cubicBezTo>
                <a:cubicBezTo>
                  <a:pt x="-16" y="117"/>
                  <a:pt x="-13" y="31"/>
                  <a:pt x="110" y="5"/>
                </a:cubicBezTo>
                <a:cubicBezTo>
                  <a:pt x="225" y="-20"/>
                  <a:pt x="343" y="45"/>
                  <a:pt x="322" y="167"/>
                </a:cubicBez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Freeform: Shape 242"/>
          <p:cNvSpPr/>
          <p:nvPr/>
        </p:nvSpPr>
        <p:spPr>
          <a:xfrm>
            <a:off x="1322784" y="1934496"/>
            <a:ext cx="114048" cy="104544"/>
          </a:xfrm>
          <a:custGeom>
            <a:avLst/>
            <a:gdLst/>
            <a:ahLst/>
            <a:cxnLst/>
            <a:rect l="0" t="0" r="r" b="b"/>
            <a:pathLst>
              <a:path w="264" h="242">
                <a:moveTo>
                  <a:pt x="201" y="242"/>
                </a:moveTo>
                <a:cubicBezTo>
                  <a:pt x="198" y="242"/>
                  <a:pt x="196" y="242"/>
                  <a:pt x="194" y="240"/>
                </a:cubicBezTo>
                <a:cubicBezTo>
                  <a:pt x="188" y="236"/>
                  <a:pt x="186" y="229"/>
                  <a:pt x="190" y="223"/>
                </a:cubicBezTo>
                <a:cubicBezTo>
                  <a:pt x="196" y="213"/>
                  <a:pt x="202" y="205"/>
                  <a:pt x="208" y="198"/>
                </a:cubicBezTo>
                <a:cubicBezTo>
                  <a:pt x="227" y="176"/>
                  <a:pt x="239" y="160"/>
                  <a:pt x="239" y="116"/>
                </a:cubicBezTo>
                <a:cubicBezTo>
                  <a:pt x="239" y="89"/>
                  <a:pt x="229" y="67"/>
                  <a:pt x="209" y="51"/>
                </a:cubicBezTo>
                <a:cubicBezTo>
                  <a:pt x="182" y="28"/>
                  <a:pt x="136" y="20"/>
                  <a:pt x="91" y="29"/>
                </a:cubicBezTo>
                <a:cubicBezTo>
                  <a:pt x="67" y="33"/>
                  <a:pt x="51" y="44"/>
                  <a:pt x="40" y="61"/>
                </a:cubicBezTo>
                <a:cubicBezTo>
                  <a:pt x="14" y="102"/>
                  <a:pt x="29" y="164"/>
                  <a:pt x="30" y="165"/>
                </a:cubicBezTo>
                <a:cubicBezTo>
                  <a:pt x="31" y="172"/>
                  <a:pt x="27" y="178"/>
                  <a:pt x="21" y="180"/>
                </a:cubicBezTo>
                <a:cubicBezTo>
                  <a:pt x="14" y="182"/>
                  <a:pt x="7" y="178"/>
                  <a:pt x="5" y="171"/>
                </a:cubicBezTo>
                <a:cubicBezTo>
                  <a:pt x="5" y="168"/>
                  <a:pt x="-13" y="98"/>
                  <a:pt x="19" y="48"/>
                </a:cubicBezTo>
                <a:cubicBezTo>
                  <a:pt x="33" y="25"/>
                  <a:pt x="56" y="10"/>
                  <a:pt x="86" y="4"/>
                </a:cubicBezTo>
                <a:cubicBezTo>
                  <a:pt x="139" y="-6"/>
                  <a:pt x="192" y="4"/>
                  <a:pt x="225" y="32"/>
                </a:cubicBezTo>
                <a:cubicBezTo>
                  <a:pt x="251" y="52"/>
                  <a:pt x="264" y="81"/>
                  <a:pt x="264" y="116"/>
                </a:cubicBezTo>
                <a:cubicBezTo>
                  <a:pt x="264" y="169"/>
                  <a:pt x="247" y="190"/>
                  <a:pt x="229" y="213"/>
                </a:cubicBezTo>
                <a:cubicBezTo>
                  <a:pt x="222" y="220"/>
                  <a:pt x="217" y="228"/>
                  <a:pt x="211" y="237"/>
                </a:cubicBezTo>
                <a:cubicBezTo>
                  <a:pt x="209" y="240"/>
                  <a:pt x="205" y="242"/>
                  <a:pt x="201" y="242"/>
                </a:cubicBezTo>
                <a:close/>
              </a:path>
            </a:pathLst>
          </a:custGeom>
          <a:solidFill>
            <a:srgbClr val="EF96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Freeform: Shape 243"/>
          <p:cNvSpPr/>
          <p:nvPr/>
        </p:nvSpPr>
        <p:spPr>
          <a:xfrm>
            <a:off x="1328400" y="1985904"/>
            <a:ext cx="49248" cy="79920"/>
          </a:xfrm>
          <a:custGeom>
            <a:avLst/>
            <a:gdLst/>
            <a:ahLst/>
            <a:cxnLst/>
            <a:rect l="0" t="0" r="r" b="b"/>
            <a:pathLst>
              <a:path w="114" h="185">
                <a:moveTo>
                  <a:pt x="34" y="185"/>
                </a:moveTo>
                <a:cubicBezTo>
                  <a:pt x="28" y="185"/>
                  <a:pt x="24" y="182"/>
                  <a:pt x="21" y="178"/>
                </a:cubicBezTo>
                <a:cubicBezTo>
                  <a:pt x="14" y="164"/>
                  <a:pt x="17" y="153"/>
                  <a:pt x="20" y="146"/>
                </a:cubicBezTo>
                <a:cubicBezTo>
                  <a:pt x="27" y="131"/>
                  <a:pt x="45" y="122"/>
                  <a:pt x="57" y="119"/>
                </a:cubicBezTo>
                <a:cubicBezTo>
                  <a:pt x="82" y="110"/>
                  <a:pt x="95" y="77"/>
                  <a:pt x="88" y="53"/>
                </a:cubicBezTo>
                <a:cubicBezTo>
                  <a:pt x="81" y="28"/>
                  <a:pt x="55" y="19"/>
                  <a:pt x="16" y="29"/>
                </a:cubicBezTo>
                <a:cubicBezTo>
                  <a:pt x="9" y="31"/>
                  <a:pt x="2" y="26"/>
                  <a:pt x="1" y="20"/>
                </a:cubicBezTo>
                <a:cubicBezTo>
                  <a:pt x="-1" y="13"/>
                  <a:pt x="3" y="6"/>
                  <a:pt x="10" y="5"/>
                </a:cubicBezTo>
                <a:cubicBezTo>
                  <a:pt x="72" y="-11"/>
                  <a:pt x="103" y="16"/>
                  <a:pt x="112" y="46"/>
                </a:cubicBezTo>
                <a:cubicBezTo>
                  <a:pt x="122" y="81"/>
                  <a:pt x="105" y="129"/>
                  <a:pt x="65" y="143"/>
                </a:cubicBezTo>
                <a:cubicBezTo>
                  <a:pt x="57" y="144"/>
                  <a:pt x="47" y="150"/>
                  <a:pt x="44" y="156"/>
                </a:cubicBezTo>
                <a:cubicBezTo>
                  <a:pt x="43" y="158"/>
                  <a:pt x="42" y="161"/>
                  <a:pt x="45" y="167"/>
                </a:cubicBezTo>
                <a:cubicBezTo>
                  <a:pt x="48" y="173"/>
                  <a:pt x="45" y="180"/>
                  <a:pt x="39" y="183"/>
                </a:cubicBezTo>
                <a:cubicBezTo>
                  <a:pt x="37" y="184"/>
                  <a:pt x="35" y="185"/>
                  <a:pt x="34" y="185"/>
                </a:cubicBezTo>
                <a:close/>
              </a:path>
            </a:pathLst>
          </a:custGeom>
          <a:solidFill>
            <a:srgbClr val="EF96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800065" y="1406161"/>
            <a:ext cx="186108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What Jenkins Does: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Freeform: Shape 245"/>
          <p:cNvSpPr/>
          <p:nvPr/>
        </p:nvSpPr>
        <p:spPr>
          <a:xfrm>
            <a:off x="1039824" y="2331504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Freeform: Shape 246"/>
          <p:cNvSpPr/>
          <p:nvPr/>
        </p:nvSpPr>
        <p:spPr>
          <a:xfrm>
            <a:off x="1280016" y="2359584"/>
            <a:ext cx="194832" cy="86832"/>
          </a:xfrm>
          <a:custGeom>
            <a:avLst/>
            <a:gdLst/>
            <a:ahLst/>
            <a:cxnLst/>
            <a:rect l="0" t="0" r="r" b="b"/>
            <a:pathLst>
              <a:path w="451" h="201">
                <a:moveTo>
                  <a:pt x="451" y="151"/>
                </a:moveTo>
                <a:cubicBezTo>
                  <a:pt x="451" y="178"/>
                  <a:pt x="428" y="201"/>
                  <a:pt x="400" y="201"/>
                </a:cubicBezTo>
                <a:lnTo>
                  <a:pt x="50" y="201"/>
                </a:lnTo>
                <a:cubicBezTo>
                  <a:pt x="22" y="201"/>
                  <a:pt x="0" y="178"/>
                  <a:pt x="0" y="151"/>
                </a:cubicBezTo>
                <a:lnTo>
                  <a:pt x="0" y="38"/>
                </a:lnTo>
                <a:cubicBezTo>
                  <a:pt x="0" y="10"/>
                  <a:pt x="10" y="0"/>
                  <a:pt x="37" y="0"/>
                </a:cubicBezTo>
                <a:lnTo>
                  <a:pt x="413" y="0"/>
                </a:lnTo>
                <a:cubicBezTo>
                  <a:pt x="441" y="0"/>
                  <a:pt x="451" y="10"/>
                  <a:pt x="451" y="38"/>
                </a:cubicBezTo>
                <a:lnTo>
                  <a:pt x="451" y="151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Freeform: Shape 247"/>
          <p:cNvSpPr/>
          <p:nvPr/>
        </p:nvSpPr>
        <p:spPr>
          <a:xfrm>
            <a:off x="1339200" y="2359584"/>
            <a:ext cx="76032" cy="38016"/>
          </a:xfrm>
          <a:custGeom>
            <a:avLst/>
            <a:gdLst/>
            <a:ahLst/>
            <a:cxnLst/>
            <a:rect l="0" t="0" r="r" b="b"/>
            <a:pathLst>
              <a:path w="176" h="88">
                <a:moveTo>
                  <a:pt x="176" y="0"/>
                </a:moveTo>
                <a:cubicBezTo>
                  <a:pt x="176" y="48"/>
                  <a:pt x="137" y="88"/>
                  <a:pt x="88" y="88"/>
                </a:cubicBezTo>
                <a:cubicBezTo>
                  <a:pt x="39" y="88"/>
                  <a:pt x="0" y="48"/>
                  <a:pt x="0" y="0"/>
                </a:cubicBezTo>
                <a:lnTo>
                  <a:pt x="176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Freeform: Shape 248"/>
          <p:cNvSpPr/>
          <p:nvPr/>
        </p:nvSpPr>
        <p:spPr>
          <a:xfrm>
            <a:off x="1280016" y="2424384"/>
            <a:ext cx="194832" cy="22032"/>
          </a:xfrm>
          <a:custGeom>
            <a:avLst/>
            <a:gdLst/>
            <a:ahLst/>
            <a:cxnLst/>
            <a:rect l="0" t="0" r="r" b="b"/>
            <a:pathLst>
              <a:path w="451" h="51">
                <a:moveTo>
                  <a:pt x="50" y="51"/>
                </a:moveTo>
                <a:lnTo>
                  <a:pt x="400" y="51"/>
                </a:lnTo>
                <a:cubicBezTo>
                  <a:pt x="428" y="51"/>
                  <a:pt x="451" y="27"/>
                  <a:pt x="451" y="0"/>
                </a:cubicBezTo>
                <a:lnTo>
                  <a:pt x="0" y="0"/>
                </a:lnTo>
                <a:cubicBezTo>
                  <a:pt x="0" y="27"/>
                  <a:pt x="22" y="51"/>
                  <a:pt x="50" y="51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Freeform: Shape 249"/>
          <p:cNvSpPr/>
          <p:nvPr/>
        </p:nvSpPr>
        <p:spPr>
          <a:xfrm>
            <a:off x="1323216" y="2251584"/>
            <a:ext cx="108000" cy="97632"/>
          </a:xfrm>
          <a:custGeom>
            <a:avLst/>
            <a:gdLst/>
            <a:ahLst/>
            <a:cxnLst/>
            <a:rect l="0" t="0" r="r" b="b"/>
            <a:pathLst>
              <a:path w="250" h="226">
                <a:moveTo>
                  <a:pt x="235" y="101"/>
                </a:moveTo>
                <a:lnTo>
                  <a:pt x="175" y="101"/>
                </a:lnTo>
                <a:lnTo>
                  <a:pt x="175" y="25"/>
                </a:lnTo>
                <a:cubicBezTo>
                  <a:pt x="175" y="11"/>
                  <a:pt x="164" y="0"/>
                  <a:pt x="150" y="0"/>
                </a:cubicBezTo>
                <a:lnTo>
                  <a:pt x="100" y="0"/>
                </a:lnTo>
                <a:cubicBezTo>
                  <a:pt x="86" y="0"/>
                  <a:pt x="75" y="11"/>
                  <a:pt x="75" y="25"/>
                </a:cubicBezTo>
                <a:lnTo>
                  <a:pt x="75" y="101"/>
                </a:lnTo>
                <a:lnTo>
                  <a:pt x="14" y="101"/>
                </a:lnTo>
                <a:cubicBezTo>
                  <a:pt x="-1" y="101"/>
                  <a:pt x="-5" y="109"/>
                  <a:pt x="6" y="119"/>
                </a:cubicBezTo>
                <a:lnTo>
                  <a:pt x="105" y="218"/>
                </a:lnTo>
                <a:cubicBezTo>
                  <a:pt x="116" y="228"/>
                  <a:pt x="134" y="228"/>
                  <a:pt x="145" y="218"/>
                </a:cubicBezTo>
                <a:lnTo>
                  <a:pt x="243" y="119"/>
                </a:lnTo>
                <a:cubicBezTo>
                  <a:pt x="254" y="109"/>
                  <a:pt x="250" y="101"/>
                  <a:pt x="235" y="101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1488240" y="1886113"/>
            <a:ext cx="4640566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584" b="1" dirty="0">
                <a:solidFill>
                  <a:srgbClr val="455A64"/>
                </a:solidFill>
                <a:latin typeface="SegoeUI"/>
                <a:ea typeface="SegoeUI"/>
              </a:rPr>
              <a:t>Listens </a:t>
            </a:r>
            <a:r>
              <a:rPr lang="en-IN" sz="1584" dirty="0">
                <a:solidFill>
                  <a:srgbClr val="455A64"/>
                </a:solidFill>
                <a:latin typeface="SegoeUI"/>
                <a:ea typeface="SegoeUI"/>
              </a:rPr>
              <a:t>to GitHub for code changes (via webhooks)</a:t>
            </a:r>
            <a:endParaRPr lang="en-IN" sz="1584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Freeform: Shape 251"/>
          <p:cNvSpPr/>
          <p:nvPr/>
        </p:nvSpPr>
        <p:spPr>
          <a:xfrm>
            <a:off x="1039824" y="266284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Freeform: Shape 252"/>
          <p:cNvSpPr/>
          <p:nvPr/>
        </p:nvSpPr>
        <p:spPr>
          <a:xfrm>
            <a:off x="1280016" y="2582928"/>
            <a:ext cx="194832" cy="194832"/>
          </a:xfrm>
          <a:custGeom>
            <a:avLst/>
            <a:gdLst/>
            <a:ahLst/>
            <a:cxnLst/>
            <a:rect l="0" t="0" r="r" b="b"/>
            <a:pathLst>
              <a:path w="451" h="451">
                <a:moveTo>
                  <a:pt x="451" y="401"/>
                </a:moveTo>
                <a:cubicBezTo>
                  <a:pt x="451" y="428"/>
                  <a:pt x="428" y="451"/>
                  <a:pt x="400" y="451"/>
                </a:cubicBezTo>
                <a:lnTo>
                  <a:pt x="50" y="451"/>
                </a:lnTo>
                <a:cubicBezTo>
                  <a:pt x="22" y="451"/>
                  <a:pt x="0" y="428"/>
                  <a:pt x="0" y="401"/>
                </a:cubicBezTo>
                <a:lnTo>
                  <a:pt x="0" y="50"/>
                </a:lnTo>
                <a:cubicBezTo>
                  <a:pt x="0" y="22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2"/>
                  <a:pt x="451" y="50"/>
                </a:cubicBezTo>
                <a:lnTo>
                  <a:pt x="451" y="401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Freeform: Shape 253"/>
          <p:cNvSpPr/>
          <p:nvPr/>
        </p:nvSpPr>
        <p:spPr>
          <a:xfrm>
            <a:off x="1323216" y="2620944"/>
            <a:ext cx="119232" cy="118800"/>
          </a:xfrm>
          <a:custGeom>
            <a:avLst/>
            <a:gdLst/>
            <a:ahLst/>
            <a:cxnLst/>
            <a:rect l="0" t="0" r="r" b="b"/>
            <a:pathLst>
              <a:path w="276" h="275">
                <a:moveTo>
                  <a:pt x="0" y="0"/>
                </a:moveTo>
                <a:lnTo>
                  <a:pt x="276" y="138"/>
                </a:lnTo>
                <a:lnTo>
                  <a:pt x="0" y="2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1488240" y="2217457"/>
            <a:ext cx="298915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Pulls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latest code from repository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Freeform: Shape 255"/>
          <p:cNvSpPr/>
          <p:nvPr/>
        </p:nvSpPr>
        <p:spPr>
          <a:xfrm>
            <a:off x="1039824" y="2994624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Freeform: Shape 256"/>
          <p:cNvSpPr/>
          <p:nvPr/>
        </p:nvSpPr>
        <p:spPr>
          <a:xfrm>
            <a:off x="1306368" y="3004992"/>
            <a:ext cx="54864" cy="92016"/>
          </a:xfrm>
          <a:custGeom>
            <a:avLst/>
            <a:gdLst/>
            <a:ahLst/>
            <a:cxnLst/>
            <a:rect l="0" t="0" r="r" b="b"/>
            <a:pathLst>
              <a:path w="127" h="213">
                <a:moveTo>
                  <a:pt x="101" y="176"/>
                </a:moveTo>
                <a:cubicBezTo>
                  <a:pt x="98" y="203"/>
                  <a:pt x="72" y="213"/>
                  <a:pt x="45" y="213"/>
                </a:cubicBezTo>
                <a:cubicBezTo>
                  <a:pt x="16" y="213"/>
                  <a:pt x="-3" y="191"/>
                  <a:pt x="0" y="163"/>
                </a:cubicBezTo>
                <a:lnTo>
                  <a:pt x="13" y="50"/>
                </a:lnTo>
                <a:cubicBezTo>
                  <a:pt x="16" y="22"/>
                  <a:pt x="42" y="0"/>
                  <a:pt x="70" y="0"/>
                </a:cubicBezTo>
                <a:cubicBezTo>
                  <a:pt x="97" y="0"/>
                  <a:pt x="151" y="0"/>
                  <a:pt x="114" y="50"/>
                </a:cubicBezTo>
                <a:cubicBezTo>
                  <a:pt x="77" y="100"/>
                  <a:pt x="101" y="176"/>
                  <a:pt x="101" y="176"/>
                </a:cubicBezTo>
                <a:close/>
              </a:path>
            </a:pathLst>
          </a:custGeom>
          <a:solidFill>
            <a:srgbClr val="BE193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Freeform: Shape 257"/>
          <p:cNvSpPr/>
          <p:nvPr/>
        </p:nvSpPr>
        <p:spPr>
          <a:xfrm>
            <a:off x="1344384" y="2926368"/>
            <a:ext cx="129168" cy="135648"/>
          </a:xfrm>
          <a:custGeom>
            <a:avLst/>
            <a:gdLst/>
            <a:ahLst/>
            <a:cxnLst/>
            <a:rect l="0" t="0" r="r" b="b"/>
            <a:pathLst>
              <a:path w="299" h="314">
                <a:moveTo>
                  <a:pt x="299" y="157"/>
                </a:moveTo>
                <a:cubicBezTo>
                  <a:pt x="299" y="243"/>
                  <a:pt x="280" y="314"/>
                  <a:pt x="256" y="314"/>
                </a:cubicBezTo>
                <a:cubicBezTo>
                  <a:pt x="233" y="314"/>
                  <a:pt x="0" y="243"/>
                  <a:pt x="0" y="157"/>
                </a:cubicBezTo>
                <a:cubicBezTo>
                  <a:pt x="0" y="70"/>
                  <a:pt x="233" y="0"/>
                  <a:pt x="256" y="0"/>
                </a:cubicBezTo>
                <a:cubicBezTo>
                  <a:pt x="280" y="0"/>
                  <a:pt x="299" y="70"/>
                  <a:pt x="299" y="157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Freeform: Shape 258"/>
          <p:cNvSpPr/>
          <p:nvPr/>
        </p:nvSpPr>
        <p:spPr>
          <a:xfrm>
            <a:off x="1435968" y="2926368"/>
            <a:ext cx="37584" cy="135648"/>
          </a:xfrm>
          <a:custGeom>
            <a:avLst/>
            <a:gdLst/>
            <a:ahLst/>
            <a:cxnLst/>
            <a:rect l="0" t="0" r="r" b="b"/>
            <a:pathLst>
              <a:path w="87" h="314">
                <a:moveTo>
                  <a:pt x="87" y="157"/>
                </a:moveTo>
                <a:cubicBezTo>
                  <a:pt x="87" y="177"/>
                  <a:pt x="86" y="197"/>
                  <a:pt x="84" y="216"/>
                </a:cubicBezTo>
                <a:cubicBezTo>
                  <a:pt x="82" y="236"/>
                  <a:pt x="79" y="253"/>
                  <a:pt x="75" y="268"/>
                </a:cubicBezTo>
                <a:cubicBezTo>
                  <a:pt x="70" y="283"/>
                  <a:pt x="65" y="294"/>
                  <a:pt x="60" y="302"/>
                </a:cubicBezTo>
                <a:cubicBezTo>
                  <a:pt x="55" y="310"/>
                  <a:pt x="49" y="314"/>
                  <a:pt x="43" y="314"/>
                </a:cubicBezTo>
                <a:cubicBezTo>
                  <a:pt x="38" y="314"/>
                  <a:pt x="32" y="310"/>
                  <a:pt x="27" y="302"/>
                </a:cubicBezTo>
                <a:cubicBezTo>
                  <a:pt x="22" y="294"/>
                  <a:pt x="17" y="283"/>
                  <a:pt x="13" y="268"/>
                </a:cubicBezTo>
                <a:cubicBezTo>
                  <a:pt x="9" y="253"/>
                  <a:pt x="6" y="236"/>
                  <a:pt x="4" y="216"/>
                </a:cubicBezTo>
                <a:cubicBezTo>
                  <a:pt x="1" y="197"/>
                  <a:pt x="0" y="177"/>
                  <a:pt x="0" y="157"/>
                </a:cubicBezTo>
                <a:cubicBezTo>
                  <a:pt x="0" y="136"/>
                  <a:pt x="1" y="116"/>
                  <a:pt x="4" y="97"/>
                </a:cubicBezTo>
                <a:cubicBezTo>
                  <a:pt x="6" y="78"/>
                  <a:pt x="9" y="61"/>
                  <a:pt x="13" y="46"/>
                </a:cubicBezTo>
                <a:cubicBezTo>
                  <a:pt x="17" y="32"/>
                  <a:pt x="22" y="20"/>
                  <a:pt x="27" y="12"/>
                </a:cubicBezTo>
                <a:cubicBezTo>
                  <a:pt x="32" y="4"/>
                  <a:pt x="38" y="0"/>
                  <a:pt x="43" y="0"/>
                </a:cubicBezTo>
                <a:cubicBezTo>
                  <a:pt x="49" y="0"/>
                  <a:pt x="55" y="4"/>
                  <a:pt x="60" y="12"/>
                </a:cubicBezTo>
                <a:cubicBezTo>
                  <a:pt x="65" y="20"/>
                  <a:pt x="70" y="32"/>
                  <a:pt x="75" y="46"/>
                </a:cubicBezTo>
                <a:cubicBezTo>
                  <a:pt x="79" y="61"/>
                  <a:pt x="82" y="78"/>
                  <a:pt x="84" y="97"/>
                </a:cubicBezTo>
                <a:cubicBezTo>
                  <a:pt x="86" y="116"/>
                  <a:pt x="87" y="136"/>
                  <a:pt x="87" y="157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Freeform: Shape 259"/>
          <p:cNvSpPr/>
          <p:nvPr/>
        </p:nvSpPr>
        <p:spPr>
          <a:xfrm>
            <a:off x="1280880" y="2956176"/>
            <a:ext cx="96336" cy="76032"/>
          </a:xfrm>
          <a:custGeom>
            <a:avLst/>
            <a:gdLst/>
            <a:ahLst/>
            <a:cxnLst/>
            <a:rect l="0" t="0" r="r" b="b"/>
            <a:pathLst>
              <a:path w="223" h="176">
                <a:moveTo>
                  <a:pt x="223" y="176"/>
                </a:moveTo>
                <a:lnTo>
                  <a:pt x="48" y="164"/>
                </a:lnTo>
                <a:cubicBezTo>
                  <a:pt x="-16" y="164"/>
                  <a:pt x="-16" y="13"/>
                  <a:pt x="48" y="13"/>
                </a:cubicBezTo>
                <a:lnTo>
                  <a:pt x="223" y="0"/>
                </a:lnTo>
                <a:cubicBezTo>
                  <a:pt x="185" y="39"/>
                  <a:pt x="185" y="139"/>
                  <a:pt x="223" y="176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Freeform: Shape 260"/>
          <p:cNvSpPr/>
          <p:nvPr/>
        </p:nvSpPr>
        <p:spPr>
          <a:xfrm>
            <a:off x="1440720" y="2970432"/>
            <a:ext cx="16848" cy="47520"/>
          </a:xfrm>
          <a:custGeom>
            <a:avLst/>
            <a:gdLst/>
            <a:ahLst/>
            <a:cxnLst/>
            <a:rect l="0" t="0" r="r" b="b"/>
            <a:pathLst>
              <a:path w="39" h="110">
                <a:moveTo>
                  <a:pt x="39" y="55"/>
                </a:moveTo>
                <a:cubicBezTo>
                  <a:pt x="39" y="62"/>
                  <a:pt x="38" y="69"/>
                  <a:pt x="38" y="75"/>
                </a:cubicBezTo>
                <a:cubicBezTo>
                  <a:pt x="37" y="82"/>
                  <a:pt x="35" y="88"/>
                  <a:pt x="33" y="94"/>
                </a:cubicBezTo>
                <a:cubicBezTo>
                  <a:pt x="32" y="99"/>
                  <a:pt x="30" y="103"/>
                  <a:pt x="27" y="106"/>
                </a:cubicBezTo>
                <a:cubicBezTo>
                  <a:pt x="25" y="109"/>
                  <a:pt x="23" y="110"/>
                  <a:pt x="20" y="110"/>
                </a:cubicBezTo>
                <a:cubicBezTo>
                  <a:pt x="18" y="110"/>
                  <a:pt x="15" y="109"/>
                  <a:pt x="12" y="106"/>
                </a:cubicBezTo>
                <a:cubicBezTo>
                  <a:pt x="10" y="103"/>
                  <a:pt x="8" y="99"/>
                  <a:pt x="6" y="94"/>
                </a:cubicBezTo>
                <a:cubicBezTo>
                  <a:pt x="4" y="88"/>
                  <a:pt x="3" y="82"/>
                  <a:pt x="2" y="75"/>
                </a:cubicBezTo>
                <a:cubicBezTo>
                  <a:pt x="1" y="69"/>
                  <a:pt x="0" y="62"/>
                  <a:pt x="0" y="55"/>
                </a:cubicBezTo>
                <a:cubicBezTo>
                  <a:pt x="0" y="47"/>
                  <a:pt x="1" y="41"/>
                  <a:pt x="2" y="34"/>
                </a:cubicBezTo>
                <a:cubicBezTo>
                  <a:pt x="3" y="27"/>
                  <a:pt x="4" y="21"/>
                  <a:pt x="6" y="16"/>
                </a:cubicBezTo>
                <a:cubicBezTo>
                  <a:pt x="8" y="11"/>
                  <a:pt x="10" y="7"/>
                  <a:pt x="12" y="4"/>
                </a:cubicBezTo>
                <a:cubicBezTo>
                  <a:pt x="15" y="2"/>
                  <a:pt x="18" y="0"/>
                  <a:pt x="20" y="0"/>
                </a:cubicBezTo>
                <a:cubicBezTo>
                  <a:pt x="23" y="0"/>
                  <a:pt x="25" y="2"/>
                  <a:pt x="27" y="4"/>
                </a:cubicBezTo>
                <a:cubicBezTo>
                  <a:pt x="30" y="7"/>
                  <a:pt x="32" y="11"/>
                  <a:pt x="33" y="16"/>
                </a:cubicBezTo>
                <a:cubicBezTo>
                  <a:pt x="35" y="21"/>
                  <a:pt x="37" y="27"/>
                  <a:pt x="38" y="34"/>
                </a:cubicBezTo>
                <a:cubicBezTo>
                  <a:pt x="38" y="41"/>
                  <a:pt x="39" y="47"/>
                  <a:pt x="39" y="55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1488241" y="2548801"/>
            <a:ext cx="418332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Executes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build scripts (compile, test, package)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Freeform: Shape 262"/>
          <p:cNvSpPr/>
          <p:nvPr/>
        </p:nvSpPr>
        <p:spPr>
          <a:xfrm>
            <a:off x="1039824" y="332596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Freeform: Shape 263"/>
          <p:cNvSpPr/>
          <p:nvPr/>
        </p:nvSpPr>
        <p:spPr>
          <a:xfrm>
            <a:off x="1285200" y="3300048"/>
            <a:ext cx="135648" cy="135216"/>
          </a:xfrm>
          <a:custGeom>
            <a:avLst/>
            <a:gdLst/>
            <a:ahLst/>
            <a:cxnLst/>
            <a:rect l="0" t="0" r="r" b="b"/>
            <a:pathLst>
              <a:path w="314" h="313">
                <a:moveTo>
                  <a:pt x="0" y="88"/>
                </a:moveTo>
                <a:lnTo>
                  <a:pt x="100" y="0"/>
                </a:lnTo>
                <a:lnTo>
                  <a:pt x="300" y="13"/>
                </a:lnTo>
                <a:lnTo>
                  <a:pt x="314" y="213"/>
                </a:lnTo>
                <a:lnTo>
                  <a:pt x="225" y="313"/>
                </a:lnTo>
                <a:cubicBezTo>
                  <a:pt x="225" y="313"/>
                  <a:pt x="225" y="238"/>
                  <a:pt x="150" y="163"/>
                </a:cubicBezTo>
                <a:cubicBezTo>
                  <a:pt x="75" y="88"/>
                  <a:pt x="0" y="88"/>
                  <a:pt x="0" y="88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Freeform: Shape 264"/>
          <p:cNvSpPr/>
          <p:nvPr/>
        </p:nvSpPr>
        <p:spPr>
          <a:xfrm>
            <a:off x="1285200" y="3360096"/>
            <a:ext cx="76032" cy="75168"/>
          </a:xfrm>
          <a:custGeom>
            <a:avLst/>
            <a:gdLst/>
            <a:ahLst/>
            <a:cxnLst/>
            <a:rect l="0" t="0" r="r" b="b"/>
            <a:pathLst>
              <a:path w="176" h="174">
                <a:moveTo>
                  <a:pt x="0" y="174"/>
                </a:moveTo>
                <a:cubicBezTo>
                  <a:pt x="0" y="174"/>
                  <a:pt x="0" y="74"/>
                  <a:pt x="37" y="36"/>
                </a:cubicBezTo>
                <a:cubicBezTo>
                  <a:pt x="75" y="-2"/>
                  <a:pt x="176" y="0"/>
                  <a:pt x="176" y="0"/>
                </a:cubicBezTo>
                <a:cubicBezTo>
                  <a:pt x="176" y="0"/>
                  <a:pt x="176" y="99"/>
                  <a:pt x="139" y="136"/>
                </a:cubicBezTo>
                <a:cubicBezTo>
                  <a:pt x="101" y="174"/>
                  <a:pt x="0" y="174"/>
                  <a:pt x="0" y="174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Freeform: Shape 265"/>
          <p:cNvSpPr/>
          <p:nvPr/>
        </p:nvSpPr>
        <p:spPr>
          <a:xfrm>
            <a:off x="1306800" y="3370032"/>
            <a:ext cx="43632" cy="43632"/>
          </a:xfrm>
          <a:custGeom>
            <a:avLst/>
            <a:gdLst/>
            <a:ahLst/>
            <a:cxnLst/>
            <a:rect l="0" t="0" r="r" b="b"/>
            <a:pathLst>
              <a:path w="101" h="101">
                <a:moveTo>
                  <a:pt x="101" y="50"/>
                </a:moveTo>
                <a:cubicBezTo>
                  <a:pt x="101" y="57"/>
                  <a:pt x="100" y="63"/>
                  <a:pt x="97" y="69"/>
                </a:cubicBezTo>
                <a:cubicBezTo>
                  <a:pt x="95" y="76"/>
                  <a:pt x="90" y="82"/>
                  <a:pt x="86" y="86"/>
                </a:cubicBezTo>
                <a:cubicBezTo>
                  <a:pt x="81" y="91"/>
                  <a:pt x="76" y="95"/>
                  <a:pt x="69" y="97"/>
                </a:cubicBezTo>
                <a:cubicBezTo>
                  <a:pt x="63" y="100"/>
                  <a:pt x="57" y="101"/>
                  <a:pt x="50" y="101"/>
                </a:cubicBezTo>
                <a:cubicBezTo>
                  <a:pt x="44" y="101"/>
                  <a:pt x="37" y="100"/>
                  <a:pt x="31" y="97"/>
                </a:cubicBezTo>
                <a:cubicBezTo>
                  <a:pt x="25" y="95"/>
                  <a:pt x="20" y="91"/>
                  <a:pt x="15" y="86"/>
                </a:cubicBezTo>
                <a:cubicBezTo>
                  <a:pt x="10" y="82"/>
                  <a:pt x="7" y="76"/>
                  <a:pt x="4" y="69"/>
                </a:cubicBezTo>
                <a:cubicBezTo>
                  <a:pt x="2" y="63"/>
                  <a:pt x="0" y="57"/>
                  <a:pt x="0" y="50"/>
                </a:cubicBezTo>
                <a:cubicBezTo>
                  <a:pt x="0" y="43"/>
                  <a:pt x="2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ubicBezTo>
                  <a:pt x="57" y="0"/>
                  <a:pt x="63" y="1"/>
                  <a:pt x="69" y="4"/>
                </a:cubicBezTo>
                <a:cubicBezTo>
                  <a:pt x="76" y="6"/>
                  <a:pt x="81" y="10"/>
                  <a:pt x="86" y="15"/>
                </a:cubicBezTo>
                <a:cubicBezTo>
                  <a:pt x="90" y="19"/>
                  <a:pt x="95" y="25"/>
                  <a:pt x="97" y="31"/>
                </a:cubicBezTo>
                <a:cubicBezTo>
                  <a:pt x="100" y="37"/>
                  <a:pt x="101" y="43"/>
                  <a:pt x="101" y="5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Freeform: Shape 266"/>
          <p:cNvSpPr/>
          <p:nvPr/>
        </p:nvSpPr>
        <p:spPr>
          <a:xfrm>
            <a:off x="1327536" y="3246048"/>
            <a:ext cx="147312" cy="147312"/>
          </a:xfrm>
          <a:custGeom>
            <a:avLst/>
            <a:gdLst/>
            <a:ahLst/>
            <a:cxnLst/>
            <a:rect l="0" t="0" r="r" b="b"/>
            <a:pathLst>
              <a:path w="341" h="341">
                <a:moveTo>
                  <a:pt x="341" y="0"/>
                </a:moveTo>
                <a:cubicBezTo>
                  <a:pt x="341" y="0"/>
                  <a:pt x="216" y="0"/>
                  <a:pt x="65" y="126"/>
                </a:cubicBezTo>
                <a:cubicBezTo>
                  <a:pt x="-10" y="188"/>
                  <a:pt x="-10" y="301"/>
                  <a:pt x="15" y="326"/>
                </a:cubicBezTo>
                <a:cubicBezTo>
                  <a:pt x="40" y="351"/>
                  <a:pt x="153" y="351"/>
                  <a:pt x="216" y="276"/>
                </a:cubicBezTo>
                <a:cubicBezTo>
                  <a:pt x="341" y="126"/>
                  <a:pt x="341" y="0"/>
                  <a:pt x="341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Freeform: Shape 267"/>
          <p:cNvSpPr/>
          <p:nvPr/>
        </p:nvSpPr>
        <p:spPr>
          <a:xfrm>
            <a:off x="1406160" y="3272832"/>
            <a:ext cx="41472" cy="41904"/>
          </a:xfrm>
          <a:custGeom>
            <a:avLst/>
            <a:gdLst/>
            <a:ahLst/>
            <a:cxnLst/>
            <a:rect l="0" t="0" r="r" b="b"/>
            <a:pathLst>
              <a:path w="96" h="97">
                <a:moveTo>
                  <a:pt x="46" y="0"/>
                </a:moveTo>
                <a:cubicBezTo>
                  <a:pt x="26" y="0"/>
                  <a:pt x="8" y="12"/>
                  <a:pt x="0" y="30"/>
                </a:cubicBezTo>
                <a:cubicBezTo>
                  <a:pt x="6" y="27"/>
                  <a:pt x="13" y="25"/>
                  <a:pt x="20" y="25"/>
                </a:cubicBezTo>
                <a:cubicBezTo>
                  <a:pt x="49" y="25"/>
                  <a:pt x="71" y="48"/>
                  <a:pt x="71" y="76"/>
                </a:cubicBezTo>
                <a:cubicBezTo>
                  <a:pt x="71" y="83"/>
                  <a:pt x="69" y="90"/>
                  <a:pt x="67" y="97"/>
                </a:cubicBezTo>
                <a:cubicBezTo>
                  <a:pt x="84" y="89"/>
                  <a:pt x="96" y="70"/>
                  <a:pt x="96" y="50"/>
                </a:cubicBezTo>
                <a:cubicBezTo>
                  <a:pt x="96" y="23"/>
                  <a:pt x="74" y="0"/>
                  <a:pt x="46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Freeform: Shape 268"/>
          <p:cNvSpPr/>
          <p:nvPr/>
        </p:nvSpPr>
        <p:spPr>
          <a:xfrm>
            <a:off x="1323216" y="3315600"/>
            <a:ext cx="81648" cy="82080"/>
          </a:xfrm>
          <a:custGeom>
            <a:avLst/>
            <a:gdLst/>
            <a:ahLst/>
            <a:cxnLst/>
            <a:rect l="0" t="0" r="r" b="b"/>
            <a:pathLst>
              <a:path w="189" h="190">
                <a:moveTo>
                  <a:pt x="0" y="190"/>
                </a:moveTo>
                <a:cubicBezTo>
                  <a:pt x="0" y="190"/>
                  <a:pt x="0" y="140"/>
                  <a:pt x="12" y="126"/>
                </a:cubicBezTo>
                <a:cubicBezTo>
                  <a:pt x="25" y="114"/>
                  <a:pt x="176" y="-11"/>
                  <a:pt x="188" y="1"/>
                </a:cubicBezTo>
                <a:cubicBezTo>
                  <a:pt x="201" y="14"/>
                  <a:pt x="76" y="165"/>
                  <a:pt x="63" y="177"/>
                </a:cubicBezTo>
                <a:cubicBezTo>
                  <a:pt x="51" y="190"/>
                  <a:pt x="0" y="190"/>
                  <a:pt x="0" y="190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1488241" y="2880577"/>
            <a:ext cx="407662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Reports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results (success/failure notifications)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1488240" y="3211921"/>
            <a:ext cx="410099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dirty="0">
                <a:solidFill>
                  <a:srgbClr val="455A64"/>
                </a:solidFill>
                <a:latin typeface="SegoeUI"/>
                <a:ea typeface="SegoeUI"/>
              </a:rPr>
              <a:t> </a:t>
            </a:r>
            <a:r>
              <a:rPr lang="en-IN" sz="1584" b="1" dirty="0">
                <a:solidFill>
                  <a:srgbClr val="455A64"/>
                </a:solidFill>
                <a:latin typeface="SegoeUI"/>
                <a:ea typeface="SegoeUI"/>
              </a:rPr>
              <a:t>Deploys </a:t>
            </a:r>
            <a:r>
              <a:rPr lang="en-IN" sz="1584" dirty="0">
                <a:solidFill>
                  <a:srgbClr val="455A64"/>
                </a:solidFill>
                <a:latin typeface="SegoeUI"/>
                <a:ea typeface="SegoeUI"/>
              </a:rPr>
              <a:t>to staging/production automatically</a:t>
            </a:r>
            <a:endParaRPr lang="en-IN" sz="1584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800065" y="3680641"/>
            <a:ext cx="199663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Jenkins Architecture: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870480" y="4227552"/>
            <a:ext cx="345607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870480" y="442152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947808" y="4408992"/>
            <a:ext cx="207428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Jenkins Master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4497120" y="442152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870480" y="46046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947808" y="4591728"/>
            <a:ext cx="243977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(Pipeline Orchestration &amp; Control)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4497120" y="46046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870480" y="4798656"/>
            <a:ext cx="345607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870480" y="4980528"/>
            <a:ext cx="44082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1800144" y="499305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1877472" y="4980528"/>
            <a:ext cx="44082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2807136" y="499305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2884464" y="4980528"/>
            <a:ext cx="44082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3814128" y="499305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870480" y="5163264"/>
            <a:ext cx="2404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1377649" y="5176224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2151792" y="5163264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2236033" y="5176224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3010608" y="5163264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3094849" y="5176224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870480" y="5357664"/>
            <a:ext cx="2404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1377648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1454977" y="5357664"/>
            <a:ext cx="52899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Agent 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2131056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2208384" y="5357664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2293056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2370385" y="5357664"/>
            <a:ext cx="52899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Agent 2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3046464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123792" y="5357664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3208464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3285793" y="5357664"/>
            <a:ext cx="52899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Agent 3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3961872" y="537019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870480" y="5540400"/>
            <a:ext cx="2404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1377648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1454977" y="5540400"/>
            <a:ext cx="44884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(Build)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2131056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TextBox 308"/>
          <p:cNvSpPr txBox="1"/>
          <p:nvPr/>
        </p:nvSpPr>
        <p:spPr>
          <a:xfrm>
            <a:off x="2208384" y="5540400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2293056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2370385" y="5540400"/>
            <a:ext cx="44884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(Test)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3046464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3123792" y="5540400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3208464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3285792" y="5540400"/>
            <a:ext cx="5338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(Deploy)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3961872" y="55533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870480" y="5734800"/>
            <a:ext cx="2404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377649" y="5747328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2151792" y="5734800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2236033" y="5747328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3010608" y="5734800"/>
            <a:ext cx="400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3094849" y="5747328"/>
            <a:ext cx="7854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870481" y="5929200"/>
            <a:ext cx="4007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1715472" y="594172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1792800" y="5929200"/>
            <a:ext cx="44082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2722464" y="594172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2799792" y="5929200"/>
            <a:ext cx="44082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3729456" y="594172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870481" y="6111936"/>
            <a:ext cx="254877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Docker Build   Test Logs   Kubernetes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5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1D55-73C8-B15D-EC29-38157FF6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6857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282523"/>
                </a:solidFill>
                <a:effectLst/>
                <a:latin typeface="Ginto"/>
              </a:rPr>
              <a:t>Jenkins</a:t>
            </a:r>
            <a:r>
              <a:rPr lang="en-IN" b="1" dirty="0">
                <a:solidFill>
                  <a:srgbClr val="282523"/>
                </a:solidFill>
                <a:latin typeface="Ginto"/>
              </a:rPr>
              <a:t> Triggers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48FF-36D0-829D-CBB7-83949E7A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532409"/>
            <a:ext cx="12618720" cy="1986455"/>
          </a:xfrm>
        </p:spPr>
        <p:txBody>
          <a:bodyPr/>
          <a:lstStyle/>
          <a:p>
            <a:r>
              <a:rPr lang="en-US" dirty="0"/>
              <a:t>GitHub Push Trigger: Builds triggered on code push.</a:t>
            </a:r>
          </a:p>
          <a:p>
            <a:r>
              <a:rPr lang="en-US" dirty="0"/>
              <a:t>Schedule Trigger: Builds triggered at specified intervals.</a:t>
            </a:r>
          </a:p>
          <a:p>
            <a:r>
              <a:rPr lang="en-US" dirty="0"/>
              <a:t>Manual Trigger: Builds triggered manually.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0E2962-3AF6-2C7D-1C71-B68E9F10D93A}"/>
              </a:ext>
            </a:extLst>
          </p:cNvPr>
          <p:cNvSpPr txBox="1">
            <a:spLocks/>
          </p:cNvSpPr>
          <p:nvPr/>
        </p:nvSpPr>
        <p:spPr>
          <a:xfrm>
            <a:off x="1005840" y="3785236"/>
            <a:ext cx="12618720" cy="65912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280" b="1" dirty="0">
                <a:solidFill>
                  <a:srgbClr val="282523"/>
                </a:solidFill>
                <a:latin typeface="Ginto"/>
              </a:rPr>
              <a:t>Node</a:t>
            </a:r>
            <a:r>
              <a:rPr lang="en-IN" sz="5280" b="1" i="1" dirty="0">
                <a:solidFill>
                  <a:srgbClr val="282523"/>
                </a:solidFill>
              </a:rPr>
              <a:t> </a:t>
            </a:r>
            <a:r>
              <a:rPr lang="en-IN" sz="5280" b="1" dirty="0">
                <a:solidFill>
                  <a:srgbClr val="282523"/>
                </a:solidFill>
                <a:latin typeface="Ginto"/>
              </a:rPr>
              <a:t>Configuration: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F6790-5B2A-DBE8-6B97-81933E31D856}"/>
              </a:ext>
            </a:extLst>
          </p:cNvPr>
          <p:cNvSpPr txBox="1"/>
          <p:nvPr/>
        </p:nvSpPr>
        <p:spPr>
          <a:xfrm>
            <a:off x="1005841" y="4710738"/>
            <a:ext cx="11802066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8640" indent="-548640">
              <a:buFont typeface="Arial" panose="020B0604020202020204" pitchFamily="34" charset="0"/>
              <a:buChar char="•"/>
            </a:pPr>
            <a:r>
              <a:rPr lang="en-IN" sz="3360" dirty="0"/>
              <a:t>Local Node: Connected to Jenkins Master via LAN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IN" sz="3360" dirty="0"/>
              <a:t>Remote Node: Connected to Jenkins Master via SSH/HTTPS</a:t>
            </a:r>
            <a:r>
              <a:rPr lang="en-IN" sz="216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55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1D55-73C8-B15D-EC29-38157FF6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659129"/>
          </a:xfrm>
        </p:spPr>
        <p:txBody>
          <a:bodyPr>
            <a:normAutofit fontScale="90000"/>
          </a:bodyPr>
          <a:lstStyle/>
          <a:p>
            <a:br>
              <a:rPr lang="en-IN" b="1" i="0" dirty="0">
                <a:solidFill>
                  <a:srgbClr val="282523"/>
                </a:solidFill>
                <a:effectLst/>
              </a:rPr>
            </a:br>
            <a:r>
              <a:rPr lang="en-IN" b="1" i="0" dirty="0">
                <a:solidFill>
                  <a:srgbClr val="282523"/>
                </a:solidFill>
                <a:effectLst/>
                <a:latin typeface="Ginto"/>
              </a:rPr>
              <a:t>Setting Up Jenkins</a:t>
            </a:r>
            <a:br>
              <a:rPr lang="en-IN" b="1" i="0" dirty="0">
                <a:solidFill>
                  <a:srgbClr val="282523"/>
                </a:solidFill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FD833-E0C5-6A4E-F625-3C7A396F1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1399978"/>
            <a:ext cx="12618720" cy="51269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 Install Jenkins:</a:t>
            </a:r>
          </a:p>
          <a:p>
            <a:pPr lvl="1"/>
            <a:r>
              <a:rPr lang="en-US" dirty="0"/>
              <a:t>Download from jenkins.io</a:t>
            </a:r>
          </a:p>
          <a:p>
            <a:pPr lvl="1"/>
            <a:r>
              <a:rPr lang="en-US" dirty="0"/>
              <a:t>Run installer (Windows) / Use package manager (Linux) / Homebrew (macOS)</a:t>
            </a:r>
          </a:p>
          <a:p>
            <a:r>
              <a:rPr lang="en-US" dirty="0"/>
              <a:t>2. Initial Configuration:</a:t>
            </a:r>
          </a:p>
          <a:p>
            <a:pPr lvl="1"/>
            <a:r>
              <a:rPr lang="en-US" dirty="0"/>
              <a:t>  Access Jenkins via localhost:8080</a:t>
            </a:r>
          </a:p>
          <a:p>
            <a:pPr lvl="1"/>
            <a:r>
              <a:rPr lang="en-US" dirty="0"/>
              <a:t>  Complete setup wizard</a:t>
            </a:r>
          </a:p>
          <a:p>
            <a:r>
              <a:rPr lang="en-US" dirty="0"/>
              <a:t>3. Install Essential Plugins:</a:t>
            </a:r>
          </a:p>
          <a:p>
            <a:pPr lvl="1"/>
            <a:r>
              <a:rPr lang="en-US" dirty="0"/>
              <a:t>Git plugin</a:t>
            </a:r>
          </a:p>
          <a:p>
            <a:pPr lvl="1"/>
            <a:r>
              <a:rPr lang="en-US" dirty="0"/>
              <a:t> Pipeline plugin</a:t>
            </a:r>
          </a:p>
          <a:p>
            <a:pPr lvl="1"/>
            <a:r>
              <a:rPr lang="en-US" dirty="0"/>
              <a:t>GitHub Integration plugin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921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DFF2-DA0C-6184-191B-17E23868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1"/>
            <a:ext cx="12618720" cy="526699"/>
          </a:xfrm>
        </p:spPr>
        <p:txBody>
          <a:bodyPr>
            <a:normAutofit fontScale="90000"/>
          </a:bodyPr>
          <a:lstStyle/>
          <a:p>
            <a:r>
              <a:rPr lang="en-IN" sz="3840" dirty="0"/>
              <a:t>PR from </a:t>
            </a:r>
            <a:r>
              <a:rPr lang="en-IN" sz="3840" dirty="0" err="1"/>
              <a:t>GitBash</a:t>
            </a:r>
            <a:endParaRPr lang="en-IN" sz="384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405F-1FC9-1351-ABEE-BE692E384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816" y="1178979"/>
            <a:ext cx="12618720" cy="1223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 err="1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gh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pr create </a:t>
            </a:r>
            <a:r>
              <a:rPr lang="en-US" b="0" i="0" dirty="0">
                <a:solidFill>
                  <a:srgbClr val="836C28"/>
                </a:solidFill>
                <a:effectLst/>
                <a:highlight>
                  <a:srgbClr val="F9F9F9"/>
                </a:highlight>
                <a:latin typeface="source-code-pro"/>
              </a:rPr>
              <a:t>--base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</a:t>
            </a:r>
            <a:r>
              <a:rPr lang="en-US" b="0" i="0" dirty="0">
                <a:solidFill>
                  <a:srgbClr val="AA0D91"/>
                </a:solidFill>
                <a:effectLst/>
                <a:highlight>
                  <a:srgbClr val="F9F9F9"/>
                </a:highlight>
                <a:latin typeface="source-code-pro"/>
              </a:rPr>
              <a:t>main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</a:t>
            </a:r>
            <a:r>
              <a:rPr lang="en-US" b="0" i="0" dirty="0">
                <a:solidFill>
                  <a:srgbClr val="836C28"/>
                </a:solidFill>
                <a:effectLst/>
                <a:highlight>
                  <a:srgbClr val="F9F9F9"/>
                </a:highlight>
                <a:latin typeface="source-code-pro"/>
              </a:rPr>
              <a:t>--head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feature-branch </a:t>
            </a:r>
            <a:r>
              <a:rPr lang="en-US" b="0" i="0" dirty="0">
                <a:solidFill>
                  <a:srgbClr val="836C28"/>
                </a:solidFill>
                <a:effectLst/>
                <a:highlight>
                  <a:srgbClr val="F9F9F9"/>
                </a:highlight>
                <a:latin typeface="source-code-pro"/>
              </a:rPr>
              <a:t>--title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"Add feature X" </a:t>
            </a:r>
            <a:r>
              <a:rPr lang="en-US" b="0" i="0" dirty="0">
                <a:solidFill>
                  <a:srgbClr val="836C28"/>
                </a:solidFill>
                <a:effectLst/>
                <a:highlight>
                  <a:srgbClr val="F9F9F9"/>
                </a:highlight>
                <a:latin typeface="source-code-pro"/>
              </a:rPr>
              <a:t>--body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9F9F9"/>
                </a:highlight>
                <a:latin typeface="source-code-pro"/>
              </a:rPr>
              <a:t> "This PR adds feature X which includes..."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C0055-25E7-2589-B777-7D0A3B1EDDCE}"/>
              </a:ext>
            </a:extLst>
          </p:cNvPr>
          <p:cNvSpPr txBox="1"/>
          <p:nvPr/>
        </p:nvSpPr>
        <p:spPr>
          <a:xfrm>
            <a:off x="1005840" y="5505320"/>
            <a:ext cx="7312046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60" dirty="0">
                <a:solidFill>
                  <a:srgbClr val="242424"/>
                </a:solidFill>
                <a:highlight>
                  <a:srgbClr val="F9F9F9"/>
                </a:highlight>
                <a:latin typeface="source-code-pro"/>
              </a:rPr>
              <a:t>Running Jenkins from command line:</a:t>
            </a:r>
          </a:p>
          <a:p>
            <a:r>
              <a:rPr lang="en-IN" sz="3360" dirty="0">
                <a:solidFill>
                  <a:srgbClr val="242424"/>
                </a:solidFill>
                <a:highlight>
                  <a:srgbClr val="F9F9F9"/>
                </a:highlight>
                <a:latin typeface="source-code-pro"/>
              </a:rPr>
              <a:t>java -jar </a:t>
            </a:r>
            <a:r>
              <a:rPr lang="en-IN" sz="3360" dirty="0" err="1">
                <a:solidFill>
                  <a:srgbClr val="242424"/>
                </a:solidFill>
                <a:highlight>
                  <a:srgbClr val="F9F9F9"/>
                </a:highlight>
                <a:latin typeface="source-code-pro"/>
              </a:rPr>
              <a:t>jenkins.war</a:t>
            </a:r>
            <a:endParaRPr lang="en-IN" sz="3360" dirty="0">
              <a:solidFill>
                <a:srgbClr val="242424"/>
              </a:solidFill>
              <a:highlight>
                <a:srgbClr val="F9F9F9"/>
              </a:highlight>
              <a:latin typeface="source-code-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2D019-D6A1-94E3-24C8-64170ECE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16" y="2402666"/>
            <a:ext cx="13504744" cy="302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16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reeform: Shape 480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Freeform: Shape 48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Freeform: Shape 483"/>
          <p:cNvSpPr/>
          <p:nvPr/>
        </p:nvSpPr>
        <p:spPr>
          <a:xfrm>
            <a:off x="800064" y="1839888"/>
            <a:ext cx="13030416" cy="2046384"/>
          </a:xfrm>
          <a:custGeom>
            <a:avLst/>
            <a:gdLst/>
            <a:ahLst/>
            <a:cxnLst/>
            <a:rect l="0" t="0" r="r" b="b"/>
            <a:pathLst>
              <a:path w="30163" h="4737">
                <a:moveTo>
                  <a:pt x="0" y="0"/>
                </a:moveTo>
                <a:lnTo>
                  <a:pt x="30163" y="0"/>
                </a:lnTo>
                <a:lnTo>
                  <a:pt x="30163" y="4737"/>
                </a:lnTo>
                <a:lnTo>
                  <a:pt x="0" y="473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5" name="Freeform: Shape 484"/>
          <p:cNvSpPr/>
          <p:nvPr/>
        </p:nvSpPr>
        <p:spPr>
          <a:xfrm>
            <a:off x="800064" y="4526064"/>
            <a:ext cx="13030416" cy="2800656"/>
          </a:xfrm>
          <a:custGeom>
            <a:avLst/>
            <a:gdLst/>
            <a:ahLst/>
            <a:cxnLst/>
            <a:rect l="0" t="0" r="r" b="b"/>
            <a:pathLst>
              <a:path w="30163" h="6483">
                <a:moveTo>
                  <a:pt x="0" y="0"/>
                </a:moveTo>
                <a:lnTo>
                  <a:pt x="30163" y="0"/>
                </a:lnTo>
                <a:lnTo>
                  <a:pt x="30163" y="6483"/>
                </a:lnTo>
                <a:lnTo>
                  <a:pt x="0" y="6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6" name="Freeform: Shape 485"/>
          <p:cNvSpPr/>
          <p:nvPr/>
        </p:nvSpPr>
        <p:spPr>
          <a:xfrm>
            <a:off x="834192" y="845424"/>
            <a:ext cx="297648" cy="309312"/>
          </a:xfrm>
          <a:custGeom>
            <a:avLst/>
            <a:gdLst/>
            <a:ahLst/>
            <a:cxnLst/>
            <a:rect l="0" t="0" r="r" b="b"/>
            <a:pathLst>
              <a:path w="689" h="716">
                <a:moveTo>
                  <a:pt x="689" y="358"/>
                </a:moveTo>
                <a:cubicBezTo>
                  <a:pt x="689" y="381"/>
                  <a:pt x="687" y="404"/>
                  <a:pt x="682" y="427"/>
                </a:cubicBezTo>
                <a:cubicBezTo>
                  <a:pt x="678" y="450"/>
                  <a:pt x="671" y="473"/>
                  <a:pt x="663" y="494"/>
                </a:cubicBezTo>
                <a:cubicBezTo>
                  <a:pt x="654" y="516"/>
                  <a:pt x="643" y="537"/>
                  <a:pt x="631" y="557"/>
                </a:cubicBezTo>
                <a:cubicBezTo>
                  <a:pt x="618" y="577"/>
                  <a:pt x="604" y="595"/>
                  <a:pt x="588" y="611"/>
                </a:cubicBezTo>
                <a:cubicBezTo>
                  <a:pt x="572" y="628"/>
                  <a:pt x="555" y="643"/>
                  <a:pt x="536" y="656"/>
                </a:cubicBezTo>
                <a:cubicBezTo>
                  <a:pt x="517" y="669"/>
                  <a:pt x="497" y="680"/>
                  <a:pt x="477" y="689"/>
                </a:cubicBezTo>
                <a:cubicBezTo>
                  <a:pt x="455" y="698"/>
                  <a:pt x="433" y="704"/>
                  <a:pt x="411" y="709"/>
                </a:cubicBezTo>
                <a:cubicBezTo>
                  <a:pt x="389" y="714"/>
                  <a:pt x="367" y="716"/>
                  <a:pt x="344" y="716"/>
                </a:cubicBezTo>
                <a:cubicBezTo>
                  <a:pt x="321" y="716"/>
                  <a:pt x="299" y="714"/>
                  <a:pt x="277" y="709"/>
                </a:cubicBezTo>
                <a:cubicBezTo>
                  <a:pt x="255" y="704"/>
                  <a:pt x="233" y="698"/>
                  <a:pt x="212" y="689"/>
                </a:cubicBezTo>
                <a:cubicBezTo>
                  <a:pt x="191" y="680"/>
                  <a:pt x="172" y="669"/>
                  <a:pt x="153" y="656"/>
                </a:cubicBezTo>
                <a:cubicBezTo>
                  <a:pt x="134" y="643"/>
                  <a:pt x="117" y="628"/>
                  <a:pt x="101" y="611"/>
                </a:cubicBezTo>
                <a:cubicBezTo>
                  <a:pt x="85" y="595"/>
                  <a:pt x="70" y="577"/>
                  <a:pt x="58" y="557"/>
                </a:cubicBezTo>
                <a:cubicBezTo>
                  <a:pt x="45" y="537"/>
                  <a:pt x="35" y="516"/>
                  <a:pt x="26" y="494"/>
                </a:cubicBezTo>
                <a:cubicBezTo>
                  <a:pt x="17" y="473"/>
                  <a:pt x="11" y="450"/>
                  <a:pt x="7" y="427"/>
                </a:cubicBezTo>
                <a:cubicBezTo>
                  <a:pt x="2" y="404"/>
                  <a:pt x="0" y="381"/>
                  <a:pt x="0" y="358"/>
                </a:cubicBezTo>
                <a:cubicBezTo>
                  <a:pt x="0" y="334"/>
                  <a:pt x="2" y="311"/>
                  <a:pt x="7" y="288"/>
                </a:cubicBezTo>
                <a:cubicBezTo>
                  <a:pt x="11" y="265"/>
                  <a:pt x="17" y="243"/>
                  <a:pt x="26" y="221"/>
                </a:cubicBezTo>
                <a:cubicBezTo>
                  <a:pt x="35" y="199"/>
                  <a:pt x="45" y="179"/>
                  <a:pt x="58" y="159"/>
                </a:cubicBezTo>
                <a:cubicBezTo>
                  <a:pt x="70" y="140"/>
                  <a:pt x="85" y="122"/>
                  <a:pt x="101" y="105"/>
                </a:cubicBezTo>
                <a:cubicBezTo>
                  <a:pt x="117" y="88"/>
                  <a:pt x="134" y="74"/>
                  <a:pt x="153" y="61"/>
                </a:cubicBezTo>
                <a:cubicBezTo>
                  <a:pt x="172" y="48"/>
                  <a:pt x="191" y="37"/>
                  <a:pt x="212" y="28"/>
                </a:cubicBezTo>
                <a:cubicBezTo>
                  <a:pt x="233" y="19"/>
                  <a:pt x="255" y="12"/>
                  <a:pt x="277" y="7"/>
                </a:cubicBezTo>
                <a:cubicBezTo>
                  <a:pt x="299" y="3"/>
                  <a:pt x="321" y="0"/>
                  <a:pt x="344" y="0"/>
                </a:cubicBezTo>
                <a:cubicBezTo>
                  <a:pt x="367" y="0"/>
                  <a:pt x="389" y="3"/>
                  <a:pt x="411" y="7"/>
                </a:cubicBezTo>
                <a:cubicBezTo>
                  <a:pt x="433" y="12"/>
                  <a:pt x="455" y="19"/>
                  <a:pt x="477" y="28"/>
                </a:cubicBezTo>
                <a:cubicBezTo>
                  <a:pt x="497" y="37"/>
                  <a:pt x="517" y="48"/>
                  <a:pt x="536" y="61"/>
                </a:cubicBezTo>
                <a:cubicBezTo>
                  <a:pt x="555" y="74"/>
                  <a:pt x="572" y="88"/>
                  <a:pt x="588" y="105"/>
                </a:cubicBezTo>
                <a:cubicBezTo>
                  <a:pt x="604" y="122"/>
                  <a:pt x="618" y="140"/>
                  <a:pt x="631" y="159"/>
                </a:cubicBezTo>
                <a:cubicBezTo>
                  <a:pt x="643" y="179"/>
                  <a:pt x="654" y="199"/>
                  <a:pt x="663" y="221"/>
                </a:cubicBezTo>
                <a:cubicBezTo>
                  <a:pt x="671" y="243"/>
                  <a:pt x="678" y="265"/>
                  <a:pt x="682" y="288"/>
                </a:cubicBezTo>
                <a:cubicBezTo>
                  <a:pt x="687" y="311"/>
                  <a:pt x="689" y="334"/>
                  <a:pt x="689" y="3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Freeform: Shape 486"/>
          <p:cNvSpPr/>
          <p:nvPr/>
        </p:nvSpPr>
        <p:spPr>
          <a:xfrm>
            <a:off x="871344" y="884304"/>
            <a:ext cx="223344" cy="231552"/>
          </a:xfrm>
          <a:custGeom>
            <a:avLst/>
            <a:gdLst/>
            <a:ahLst/>
            <a:cxnLst/>
            <a:rect l="0" t="0" r="r" b="b"/>
            <a:pathLst>
              <a:path w="517" h="536">
                <a:moveTo>
                  <a:pt x="517" y="268"/>
                </a:moveTo>
                <a:cubicBezTo>
                  <a:pt x="517" y="285"/>
                  <a:pt x="515" y="303"/>
                  <a:pt x="512" y="320"/>
                </a:cubicBezTo>
                <a:cubicBezTo>
                  <a:pt x="509" y="337"/>
                  <a:pt x="504" y="354"/>
                  <a:pt x="497" y="371"/>
                </a:cubicBezTo>
                <a:cubicBezTo>
                  <a:pt x="491" y="387"/>
                  <a:pt x="483" y="403"/>
                  <a:pt x="473" y="417"/>
                </a:cubicBezTo>
                <a:cubicBezTo>
                  <a:pt x="464" y="432"/>
                  <a:pt x="453" y="446"/>
                  <a:pt x="441" y="458"/>
                </a:cubicBezTo>
                <a:cubicBezTo>
                  <a:pt x="429" y="470"/>
                  <a:pt x="416" y="482"/>
                  <a:pt x="402" y="491"/>
                </a:cubicBezTo>
                <a:cubicBezTo>
                  <a:pt x="388" y="501"/>
                  <a:pt x="373" y="509"/>
                  <a:pt x="358" y="516"/>
                </a:cubicBezTo>
                <a:cubicBezTo>
                  <a:pt x="342" y="523"/>
                  <a:pt x="326" y="528"/>
                  <a:pt x="309" y="531"/>
                </a:cubicBezTo>
                <a:cubicBezTo>
                  <a:pt x="292" y="535"/>
                  <a:pt x="275" y="536"/>
                  <a:pt x="258" y="536"/>
                </a:cubicBezTo>
                <a:cubicBezTo>
                  <a:pt x="241" y="536"/>
                  <a:pt x="224" y="535"/>
                  <a:pt x="208" y="531"/>
                </a:cubicBezTo>
                <a:cubicBezTo>
                  <a:pt x="191" y="528"/>
                  <a:pt x="175" y="523"/>
                  <a:pt x="159" y="516"/>
                </a:cubicBezTo>
                <a:cubicBezTo>
                  <a:pt x="144" y="509"/>
                  <a:pt x="129" y="501"/>
                  <a:pt x="115" y="491"/>
                </a:cubicBezTo>
                <a:cubicBezTo>
                  <a:pt x="101" y="482"/>
                  <a:pt x="87" y="470"/>
                  <a:pt x="76" y="458"/>
                </a:cubicBezTo>
                <a:cubicBezTo>
                  <a:pt x="64" y="446"/>
                  <a:pt x="53" y="432"/>
                  <a:pt x="43" y="417"/>
                </a:cubicBezTo>
                <a:cubicBezTo>
                  <a:pt x="34" y="403"/>
                  <a:pt x="26" y="387"/>
                  <a:pt x="20" y="371"/>
                </a:cubicBezTo>
                <a:cubicBezTo>
                  <a:pt x="13" y="354"/>
                  <a:pt x="8" y="337"/>
                  <a:pt x="5" y="320"/>
                </a:cubicBezTo>
                <a:cubicBezTo>
                  <a:pt x="2" y="303"/>
                  <a:pt x="0" y="285"/>
                  <a:pt x="0" y="268"/>
                </a:cubicBezTo>
                <a:cubicBezTo>
                  <a:pt x="0" y="250"/>
                  <a:pt x="2" y="233"/>
                  <a:pt x="5" y="215"/>
                </a:cubicBezTo>
                <a:cubicBezTo>
                  <a:pt x="8" y="198"/>
                  <a:pt x="13" y="181"/>
                  <a:pt x="20" y="165"/>
                </a:cubicBezTo>
                <a:cubicBezTo>
                  <a:pt x="26" y="149"/>
                  <a:pt x="34" y="133"/>
                  <a:pt x="43" y="119"/>
                </a:cubicBezTo>
                <a:cubicBezTo>
                  <a:pt x="53" y="104"/>
                  <a:pt x="64" y="91"/>
                  <a:pt x="76" y="78"/>
                </a:cubicBezTo>
                <a:cubicBezTo>
                  <a:pt x="87" y="66"/>
                  <a:pt x="101" y="55"/>
                  <a:pt x="115" y="45"/>
                </a:cubicBezTo>
                <a:cubicBezTo>
                  <a:pt x="129" y="35"/>
                  <a:pt x="144" y="27"/>
                  <a:pt x="159" y="20"/>
                </a:cubicBezTo>
                <a:cubicBezTo>
                  <a:pt x="175" y="13"/>
                  <a:pt x="191" y="8"/>
                  <a:pt x="208" y="5"/>
                </a:cubicBezTo>
                <a:cubicBezTo>
                  <a:pt x="224" y="1"/>
                  <a:pt x="241" y="0"/>
                  <a:pt x="258" y="0"/>
                </a:cubicBezTo>
                <a:cubicBezTo>
                  <a:pt x="275" y="0"/>
                  <a:pt x="292" y="1"/>
                  <a:pt x="309" y="5"/>
                </a:cubicBezTo>
                <a:cubicBezTo>
                  <a:pt x="326" y="8"/>
                  <a:pt x="342" y="13"/>
                  <a:pt x="358" y="20"/>
                </a:cubicBezTo>
                <a:cubicBezTo>
                  <a:pt x="373" y="27"/>
                  <a:pt x="388" y="35"/>
                  <a:pt x="402" y="45"/>
                </a:cubicBezTo>
                <a:cubicBezTo>
                  <a:pt x="416" y="55"/>
                  <a:pt x="429" y="66"/>
                  <a:pt x="441" y="78"/>
                </a:cubicBezTo>
                <a:cubicBezTo>
                  <a:pt x="453" y="91"/>
                  <a:pt x="464" y="104"/>
                  <a:pt x="473" y="119"/>
                </a:cubicBezTo>
                <a:cubicBezTo>
                  <a:pt x="483" y="133"/>
                  <a:pt x="491" y="149"/>
                  <a:pt x="497" y="165"/>
                </a:cubicBezTo>
                <a:cubicBezTo>
                  <a:pt x="504" y="181"/>
                  <a:pt x="509" y="198"/>
                  <a:pt x="512" y="215"/>
                </a:cubicBezTo>
                <a:cubicBezTo>
                  <a:pt x="515" y="233"/>
                  <a:pt x="517" y="250"/>
                  <a:pt x="517" y="2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Freeform: Shape 487"/>
          <p:cNvSpPr/>
          <p:nvPr/>
        </p:nvSpPr>
        <p:spPr>
          <a:xfrm>
            <a:off x="900288" y="914112"/>
            <a:ext cx="165456" cy="171936"/>
          </a:xfrm>
          <a:custGeom>
            <a:avLst/>
            <a:gdLst/>
            <a:ahLst/>
            <a:cxnLst/>
            <a:rect l="0" t="0" r="r" b="b"/>
            <a:pathLst>
              <a:path w="383" h="398">
                <a:moveTo>
                  <a:pt x="383" y="200"/>
                </a:moveTo>
                <a:cubicBezTo>
                  <a:pt x="383" y="213"/>
                  <a:pt x="382" y="226"/>
                  <a:pt x="379" y="238"/>
                </a:cubicBezTo>
                <a:cubicBezTo>
                  <a:pt x="377" y="251"/>
                  <a:pt x="373" y="264"/>
                  <a:pt x="368" y="276"/>
                </a:cubicBezTo>
                <a:cubicBezTo>
                  <a:pt x="364" y="288"/>
                  <a:pt x="358" y="299"/>
                  <a:pt x="351" y="310"/>
                </a:cubicBezTo>
                <a:cubicBezTo>
                  <a:pt x="344" y="321"/>
                  <a:pt x="336" y="331"/>
                  <a:pt x="327" y="340"/>
                </a:cubicBezTo>
                <a:cubicBezTo>
                  <a:pt x="318" y="349"/>
                  <a:pt x="309" y="357"/>
                  <a:pt x="298" y="365"/>
                </a:cubicBezTo>
                <a:cubicBezTo>
                  <a:pt x="288" y="372"/>
                  <a:pt x="277" y="378"/>
                  <a:pt x="265" y="383"/>
                </a:cubicBezTo>
                <a:cubicBezTo>
                  <a:pt x="253" y="388"/>
                  <a:pt x="242" y="392"/>
                  <a:pt x="229" y="394"/>
                </a:cubicBezTo>
                <a:cubicBezTo>
                  <a:pt x="217" y="397"/>
                  <a:pt x="204" y="398"/>
                  <a:pt x="192" y="398"/>
                </a:cubicBezTo>
                <a:cubicBezTo>
                  <a:pt x="179" y="398"/>
                  <a:pt x="167" y="397"/>
                  <a:pt x="155" y="394"/>
                </a:cubicBezTo>
                <a:cubicBezTo>
                  <a:pt x="142" y="392"/>
                  <a:pt x="130" y="388"/>
                  <a:pt x="119" y="383"/>
                </a:cubicBezTo>
                <a:cubicBezTo>
                  <a:pt x="107" y="378"/>
                  <a:pt x="96" y="372"/>
                  <a:pt x="86" y="365"/>
                </a:cubicBezTo>
                <a:cubicBezTo>
                  <a:pt x="75" y="357"/>
                  <a:pt x="66" y="349"/>
                  <a:pt x="57" y="340"/>
                </a:cubicBezTo>
                <a:cubicBezTo>
                  <a:pt x="48" y="331"/>
                  <a:pt x="40" y="321"/>
                  <a:pt x="33" y="310"/>
                </a:cubicBezTo>
                <a:cubicBezTo>
                  <a:pt x="26" y="299"/>
                  <a:pt x="20" y="288"/>
                  <a:pt x="14" y="276"/>
                </a:cubicBezTo>
                <a:cubicBezTo>
                  <a:pt x="10" y="264"/>
                  <a:pt x="6" y="251"/>
                  <a:pt x="4" y="238"/>
                </a:cubicBezTo>
                <a:cubicBezTo>
                  <a:pt x="1" y="226"/>
                  <a:pt x="0" y="213"/>
                  <a:pt x="0" y="200"/>
                </a:cubicBez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4" y="124"/>
                </a:cubicBezTo>
                <a:cubicBezTo>
                  <a:pt x="20" y="112"/>
                  <a:pt x="26" y="100"/>
                  <a:pt x="33" y="89"/>
                </a:cubicBezTo>
                <a:cubicBezTo>
                  <a:pt x="40" y="79"/>
                  <a:pt x="48" y="69"/>
                  <a:pt x="57" y="58"/>
                </a:cubicBezTo>
                <a:cubicBezTo>
                  <a:pt x="66" y="49"/>
                  <a:pt x="75" y="41"/>
                  <a:pt x="86" y="34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0" y="10"/>
                  <a:pt x="142" y="7"/>
                  <a:pt x="155" y="4"/>
                </a:cubicBezTo>
                <a:cubicBezTo>
                  <a:pt x="167" y="1"/>
                  <a:pt x="179" y="0"/>
                  <a:pt x="192" y="0"/>
                </a:cubicBezTo>
                <a:cubicBezTo>
                  <a:pt x="204" y="0"/>
                  <a:pt x="217" y="1"/>
                  <a:pt x="229" y="4"/>
                </a:cubicBezTo>
                <a:cubicBezTo>
                  <a:pt x="242" y="7"/>
                  <a:pt x="253" y="10"/>
                  <a:pt x="265" y="15"/>
                </a:cubicBezTo>
                <a:cubicBezTo>
                  <a:pt x="277" y="20"/>
                  <a:pt x="288" y="26"/>
                  <a:pt x="298" y="34"/>
                </a:cubicBezTo>
                <a:cubicBezTo>
                  <a:pt x="309" y="41"/>
                  <a:pt x="318" y="49"/>
                  <a:pt x="327" y="58"/>
                </a:cubicBezTo>
                <a:cubicBezTo>
                  <a:pt x="336" y="69"/>
                  <a:pt x="344" y="79"/>
                  <a:pt x="351" y="89"/>
                </a:cubicBezTo>
                <a:cubicBezTo>
                  <a:pt x="358" y="100"/>
                  <a:pt x="364" y="112"/>
                  <a:pt x="368" y="124"/>
                </a:cubicBezTo>
                <a:cubicBezTo>
                  <a:pt x="373" y="136"/>
                  <a:pt x="377" y="148"/>
                  <a:pt x="379" y="161"/>
                </a:cubicBezTo>
                <a:cubicBezTo>
                  <a:pt x="382" y="174"/>
                  <a:pt x="383" y="187"/>
                  <a:pt x="383" y="20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" name="Freeform: Shape 488"/>
          <p:cNvSpPr/>
          <p:nvPr/>
        </p:nvSpPr>
        <p:spPr>
          <a:xfrm>
            <a:off x="933120" y="948672"/>
            <a:ext cx="99792" cy="103248"/>
          </a:xfrm>
          <a:custGeom>
            <a:avLst/>
            <a:gdLst/>
            <a:ahLst/>
            <a:cxnLst/>
            <a:rect l="0" t="0" r="r" b="b"/>
            <a:pathLst>
              <a:path w="231" h="239">
                <a:moveTo>
                  <a:pt x="231" y="120"/>
                </a:moveTo>
                <a:cubicBezTo>
                  <a:pt x="231" y="135"/>
                  <a:pt x="228" y="151"/>
                  <a:pt x="222" y="165"/>
                </a:cubicBezTo>
                <a:cubicBezTo>
                  <a:pt x="216" y="180"/>
                  <a:pt x="208" y="193"/>
                  <a:pt x="197" y="204"/>
                </a:cubicBezTo>
                <a:cubicBezTo>
                  <a:pt x="186" y="215"/>
                  <a:pt x="174" y="224"/>
                  <a:pt x="160" y="230"/>
                </a:cubicBezTo>
                <a:cubicBezTo>
                  <a:pt x="146" y="236"/>
                  <a:pt x="131" y="239"/>
                  <a:pt x="116" y="239"/>
                </a:cubicBezTo>
                <a:cubicBezTo>
                  <a:pt x="101" y="239"/>
                  <a:pt x="86" y="236"/>
                  <a:pt x="72" y="230"/>
                </a:cubicBezTo>
                <a:cubicBezTo>
                  <a:pt x="58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8" y="15"/>
                  <a:pt x="72" y="9"/>
                </a:cubicBezTo>
                <a:cubicBezTo>
                  <a:pt x="86" y="3"/>
                  <a:pt x="101" y="0"/>
                  <a:pt x="116" y="0"/>
                </a:cubicBezTo>
                <a:cubicBezTo>
                  <a:pt x="131" y="0"/>
                  <a:pt x="146" y="3"/>
                  <a:pt x="160" y="9"/>
                </a:cubicBezTo>
                <a:cubicBezTo>
                  <a:pt x="174" y="15"/>
                  <a:pt x="186" y="23"/>
                  <a:pt x="197" y="34"/>
                </a:cubicBezTo>
                <a:cubicBezTo>
                  <a:pt x="208" y="46"/>
                  <a:pt x="216" y="58"/>
                  <a:pt x="222" y="74"/>
                </a:cubicBezTo>
                <a:cubicBezTo>
                  <a:pt x="228" y="89"/>
                  <a:pt x="231" y="104"/>
                  <a:pt x="231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Freeform: Shape 489"/>
          <p:cNvSpPr/>
          <p:nvPr/>
        </p:nvSpPr>
        <p:spPr>
          <a:xfrm>
            <a:off x="958176" y="974160"/>
            <a:ext cx="49680" cy="51840"/>
          </a:xfrm>
          <a:custGeom>
            <a:avLst/>
            <a:gdLst/>
            <a:ahLst/>
            <a:cxnLst/>
            <a:rect l="0" t="0" r="r" b="b"/>
            <a:pathLst>
              <a:path w="115" h="120">
                <a:moveTo>
                  <a:pt x="115" y="60"/>
                </a:moveTo>
                <a:cubicBezTo>
                  <a:pt x="115" y="68"/>
                  <a:pt x="114" y="76"/>
                  <a:pt x="111" y="83"/>
                </a:cubicBezTo>
                <a:cubicBezTo>
                  <a:pt x="108" y="91"/>
                  <a:pt x="104" y="97"/>
                  <a:pt x="98" y="103"/>
                </a:cubicBezTo>
                <a:cubicBezTo>
                  <a:pt x="93" y="108"/>
                  <a:pt x="87" y="113"/>
                  <a:pt x="80" y="116"/>
                </a:cubicBezTo>
                <a:cubicBezTo>
                  <a:pt x="73" y="119"/>
                  <a:pt x="66" y="120"/>
                  <a:pt x="58" y="120"/>
                </a:cubicBezTo>
                <a:cubicBezTo>
                  <a:pt x="50" y="120"/>
                  <a:pt x="43" y="119"/>
                  <a:pt x="36" y="116"/>
                </a:cubicBezTo>
                <a:cubicBezTo>
                  <a:pt x="29" y="113"/>
                  <a:pt x="23" y="108"/>
                  <a:pt x="17" y="103"/>
                </a:cubicBezTo>
                <a:cubicBezTo>
                  <a:pt x="12" y="97"/>
                  <a:pt x="8" y="91"/>
                  <a:pt x="4" y="83"/>
                </a:cubicBezTo>
                <a:cubicBezTo>
                  <a:pt x="1" y="76"/>
                  <a:pt x="0" y="68"/>
                  <a:pt x="0" y="60"/>
                </a:cubicBezTo>
                <a:cubicBezTo>
                  <a:pt x="0" y="52"/>
                  <a:pt x="1" y="44"/>
                  <a:pt x="4" y="37"/>
                </a:cubicBezTo>
                <a:cubicBezTo>
                  <a:pt x="8" y="30"/>
                  <a:pt x="12" y="23"/>
                  <a:pt x="17" y="18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3" y="2"/>
                  <a:pt x="80" y="5"/>
                </a:cubicBezTo>
                <a:cubicBezTo>
                  <a:pt x="87" y="8"/>
                  <a:pt x="93" y="12"/>
                  <a:pt x="98" y="18"/>
                </a:cubicBezTo>
                <a:cubicBezTo>
                  <a:pt x="104" y="23"/>
                  <a:pt x="108" y="30"/>
                  <a:pt x="111" y="37"/>
                </a:cubicBezTo>
                <a:cubicBezTo>
                  <a:pt x="114" y="44"/>
                  <a:pt x="115" y="52"/>
                  <a:pt x="115" y="6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Freeform: Shape 490"/>
          <p:cNvSpPr/>
          <p:nvPr/>
        </p:nvSpPr>
        <p:spPr>
          <a:xfrm>
            <a:off x="979344" y="1002240"/>
            <a:ext cx="114480" cy="145152"/>
          </a:xfrm>
          <a:custGeom>
            <a:avLst/>
            <a:gdLst/>
            <a:ahLst/>
            <a:cxnLst/>
            <a:rect l="0" t="0" r="r" b="b"/>
            <a:pathLst>
              <a:path w="265" h="336">
                <a:moveTo>
                  <a:pt x="13" y="0"/>
                </a:moveTo>
                <a:lnTo>
                  <a:pt x="265" y="234"/>
                </a:lnTo>
                <a:cubicBezTo>
                  <a:pt x="265" y="234"/>
                  <a:pt x="213" y="301"/>
                  <a:pt x="113" y="336"/>
                </a:cubicBezTo>
                <a:lnTo>
                  <a:pt x="0" y="3"/>
                </a:lnTo>
                <a:lnTo>
                  <a:pt x="13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Freeform: Shape 491"/>
          <p:cNvSpPr/>
          <p:nvPr/>
        </p:nvSpPr>
        <p:spPr>
          <a:xfrm>
            <a:off x="977184" y="986688"/>
            <a:ext cx="21600" cy="22032"/>
          </a:xfrm>
          <a:custGeom>
            <a:avLst/>
            <a:gdLst/>
            <a:ahLst/>
            <a:cxnLst/>
            <a:rect l="0" t="0" r="r" b="b"/>
            <a:pathLst>
              <a:path w="50" h="51">
                <a:moveTo>
                  <a:pt x="20" y="51"/>
                </a:moveTo>
                <a:cubicBezTo>
                  <a:pt x="14" y="51"/>
                  <a:pt x="9" y="50"/>
                  <a:pt x="5" y="46"/>
                </a:cubicBezTo>
                <a:cubicBezTo>
                  <a:pt x="-2" y="37"/>
                  <a:pt x="-2" y="24"/>
                  <a:pt x="5" y="17"/>
                </a:cubicBezTo>
                <a:lnTo>
                  <a:pt x="16" y="6"/>
                </a:lnTo>
                <a:cubicBezTo>
                  <a:pt x="24" y="-2"/>
                  <a:pt x="36" y="-2"/>
                  <a:pt x="44" y="6"/>
                </a:cubicBezTo>
                <a:cubicBezTo>
                  <a:pt x="51" y="13"/>
                  <a:pt x="51" y="26"/>
                  <a:pt x="44" y="33"/>
                </a:cubicBezTo>
                <a:lnTo>
                  <a:pt x="33" y="46"/>
                </a:lnTo>
                <a:cubicBezTo>
                  <a:pt x="29" y="50"/>
                  <a:pt x="24" y="51"/>
                  <a:pt x="20" y="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Freeform: Shape 492"/>
          <p:cNvSpPr/>
          <p:nvPr/>
        </p:nvSpPr>
        <p:spPr>
          <a:xfrm>
            <a:off x="1030752" y="845856"/>
            <a:ext cx="100656" cy="104544"/>
          </a:xfrm>
          <a:custGeom>
            <a:avLst/>
            <a:gdLst/>
            <a:ahLst/>
            <a:cxnLst/>
            <a:rect l="0" t="0" r="r" b="b"/>
            <a:pathLst>
              <a:path w="233" h="242">
                <a:moveTo>
                  <a:pt x="4" y="140"/>
                </a:moveTo>
                <a:cubicBezTo>
                  <a:pt x="-4" y="181"/>
                  <a:pt x="4" y="233"/>
                  <a:pt x="4" y="233"/>
                </a:cubicBezTo>
                <a:lnTo>
                  <a:pt x="140" y="85"/>
                </a:lnTo>
                <a:cubicBezTo>
                  <a:pt x="145" y="57"/>
                  <a:pt x="130" y="7"/>
                  <a:pt x="107" y="1"/>
                </a:cubicBezTo>
                <a:cubicBezTo>
                  <a:pt x="84" y="-5"/>
                  <a:pt x="28" y="17"/>
                  <a:pt x="4" y="140"/>
                </a:cubicBezTo>
                <a:moveTo>
                  <a:pt x="100" y="239"/>
                </a:moveTo>
                <a:cubicBezTo>
                  <a:pt x="61" y="247"/>
                  <a:pt x="10" y="239"/>
                  <a:pt x="10" y="239"/>
                </a:cubicBezTo>
                <a:lnTo>
                  <a:pt x="152" y="99"/>
                </a:lnTo>
                <a:cubicBezTo>
                  <a:pt x="180" y="93"/>
                  <a:pt x="227" y="110"/>
                  <a:pt x="233" y="133"/>
                </a:cubicBezTo>
                <a:cubicBezTo>
                  <a:pt x="239" y="157"/>
                  <a:pt x="218" y="214"/>
                  <a:pt x="100" y="239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Freeform: Shape 493"/>
          <p:cNvSpPr/>
          <p:nvPr/>
        </p:nvSpPr>
        <p:spPr>
          <a:xfrm>
            <a:off x="984096" y="872640"/>
            <a:ext cx="123984" cy="128304"/>
          </a:xfrm>
          <a:custGeom>
            <a:avLst/>
            <a:gdLst/>
            <a:ahLst/>
            <a:cxnLst/>
            <a:rect l="0" t="0" r="r" b="b"/>
            <a:pathLst>
              <a:path w="287" h="297">
                <a:moveTo>
                  <a:pt x="280" y="26"/>
                </a:moveTo>
                <a:lnTo>
                  <a:pt x="57" y="287"/>
                </a:lnTo>
                <a:cubicBezTo>
                  <a:pt x="50" y="295"/>
                  <a:pt x="25" y="305"/>
                  <a:pt x="9" y="288"/>
                </a:cubicBezTo>
                <a:cubicBezTo>
                  <a:pt x="-7" y="272"/>
                  <a:pt x="1" y="247"/>
                  <a:pt x="8" y="240"/>
                </a:cubicBezTo>
                <a:lnTo>
                  <a:pt x="261" y="7"/>
                </a:lnTo>
                <a:cubicBezTo>
                  <a:pt x="261" y="7"/>
                  <a:pt x="274" y="-6"/>
                  <a:pt x="283" y="4"/>
                </a:cubicBezTo>
                <a:cubicBezTo>
                  <a:pt x="292" y="13"/>
                  <a:pt x="280" y="26"/>
                  <a:pt x="280" y="26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TextBox 494"/>
          <p:cNvSpPr txBox="1"/>
          <p:nvPr/>
        </p:nvSpPr>
        <p:spPr>
          <a:xfrm>
            <a:off x="1146961" y="794449"/>
            <a:ext cx="3642279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Why Kubernetes Matters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800064" y="1406161"/>
            <a:ext cx="27871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The Docker Problem at Scale: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870481" y="1940112"/>
            <a:ext cx="253274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Single Developer (Docker Works Great):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TextBox 497"/>
          <p:cNvSpPr txBox="1"/>
          <p:nvPr/>
        </p:nvSpPr>
        <p:spPr>
          <a:xfrm>
            <a:off x="870480" y="2134512"/>
            <a:ext cx="239007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docker run -p 3001:3000 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870481" y="2317248"/>
            <a:ext cx="265777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docker run -p 3002:3001 subtract-service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870480" y="2511648"/>
            <a:ext cx="907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# Works fine!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870480" y="2888784"/>
            <a:ext cx="221214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Production (100s of Requests/sec):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TextBox 501"/>
          <p:cNvSpPr txBox="1"/>
          <p:nvPr/>
        </p:nvSpPr>
        <p:spPr>
          <a:xfrm>
            <a:off x="870480" y="3083184"/>
            <a:ext cx="304570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scale? How to restart failed containers?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870480" y="3265920"/>
            <a:ext cx="329096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update without downtime? Load balancing?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TextBox 503"/>
          <p:cNvSpPr txBox="1"/>
          <p:nvPr/>
        </p:nvSpPr>
        <p:spPr>
          <a:xfrm>
            <a:off x="870481" y="3460320"/>
            <a:ext cx="28453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manage secrets, networks, storage?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Freeform: Shape 504"/>
          <p:cNvSpPr/>
          <p:nvPr/>
        </p:nvSpPr>
        <p:spPr>
          <a:xfrm>
            <a:off x="1057104" y="3651696"/>
            <a:ext cx="126576" cy="126144"/>
          </a:xfrm>
          <a:custGeom>
            <a:avLst/>
            <a:gdLst/>
            <a:ahLst/>
            <a:cxnLst/>
            <a:rect l="0" t="0" r="r" b="b"/>
            <a:pathLst>
              <a:path w="293" h="292">
                <a:moveTo>
                  <a:pt x="179" y="146"/>
                </a:moveTo>
                <a:lnTo>
                  <a:pt x="286" y="38"/>
                </a:lnTo>
                <a:cubicBezTo>
                  <a:pt x="295" y="29"/>
                  <a:pt x="295" y="15"/>
                  <a:pt x="286" y="6"/>
                </a:cubicBezTo>
                <a:cubicBezTo>
                  <a:pt x="278" y="-2"/>
                  <a:pt x="264" y="-2"/>
                  <a:pt x="255" y="6"/>
                </a:cubicBezTo>
                <a:lnTo>
                  <a:pt x="147" y="114"/>
                </a:lnTo>
                <a:lnTo>
                  <a:pt x="40" y="6"/>
                </a:lnTo>
                <a:cubicBezTo>
                  <a:pt x="31" y="-2"/>
                  <a:pt x="16" y="-2"/>
                  <a:pt x="7" y="6"/>
                </a:cubicBezTo>
                <a:cubicBezTo>
                  <a:pt x="-1" y="15"/>
                  <a:pt x="-1" y="29"/>
                  <a:pt x="7" y="38"/>
                </a:cubicBezTo>
                <a:lnTo>
                  <a:pt x="116" y="146"/>
                </a:lnTo>
                <a:lnTo>
                  <a:pt x="7" y="255"/>
                </a:lnTo>
                <a:cubicBezTo>
                  <a:pt x="-2" y="263"/>
                  <a:pt x="-2" y="277"/>
                  <a:pt x="7" y="286"/>
                </a:cubicBezTo>
                <a:cubicBezTo>
                  <a:pt x="11" y="290"/>
                  <a:pt x="17" y="292"/>
                  <a:pt x="23" y="292"/>
                </a:cubicBezTo>
                <a:cubicBezTo>
                  <a:pt x="29" y="292"/>
                  <a:pt x="35" y="290"/>
                  <a:pt x="39" y="286"/>
                </a:cubicBezTo>
                <a:lnTo>
                  <a:pt x="147" y="178"/>
                </a:lnTo>
                <a:lnTo>
                  <a:pt x="255" y="286"/>
                </a:lnTo>
                <a:cubicBezTo>
                  <a:pt x="260" y="290"/>
                  <a:pt x="265" y="292"/>
                  <a:pt x="271" y="292"/>
                </a:cubicBezTo>
                <a:cubicBezTo>
                  <a:pt x="277" y="292"/>
                  <a:pt x="282" y="290"/>
                  <a:pt x="286" y="286"/>
                </a:cubicBezTo>
                <a:cubicBezTo>
                  <a:pt x="295" y="277"/>
                  <a:pt x="295" y="263"/>
                  <a:pt x="286" y="254"/>
                </a:cubicBezTo>
                <a:lnTo>
                  <a:pt x="179" y="146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870480" y="365472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1201393" y="3654720"/>
            <a:ext cx="172803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Docker alone is insufficient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800064" y="4091905"/>
            <a:ext cx="224362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Kubernetes Solves This: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870481" y="4638816"/>
            <a:ext cx="400590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┌─────────────────────────────────────────────────┐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870480" y="483321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947808" y="4820256"/>
            <a:ext cx="245419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Kubernetes Cluster 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5088528" y="483321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TextBox 512"/>
          <p:cNvSpPr txBox="1"/>
          <p:nvPr/>
        </p:nvSpPr>
        <p:spPr>
          <a:xfrm>
            <a:off x="870480" y="50159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947808" y="50034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1116720" y="5015952"/>
            <a:ext cx="35346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4600800" y="50034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4769712" y="50159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870480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947808" y="51978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TextBox 519"/>
          <p:cNvSpPr txBox="1"/>
          <p:nvPr/>
        </p:nvSpPr>
        <p:spPr>
          <a:xfrm>
            <a:off x="1116720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1194481" y="5197824"/>
            <a:ext cx="276197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Automatic Scaling, Recovery, Networking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4828032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TextBox 522"/>
          <p:cNvSpPr txBox="1"/>
          <p:nvPr/>
        </p:nvSpPr>
        <p:spPr>
          <a:xfrm>
            <a:off x="4905360" y="51978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5074272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TextBox 524"/>
          <p:cNvSpPr txBox="1"/>
          <p:nvPr/>
        </p:nvSpPr>
        <p:spPr>
          <a:xfrm>
            <a:off x="870480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947808" y="5391792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1116720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TextBox 527"/>
          <p:cNvSpPr txBox="1"/>
          <p:nvPr/>
        </p:nvSpPr>
        <p:spPr>
          <a:xfrm>
            <a:off x="1194481" y="5391792"/>
            <a:ext cx="278601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Load Balancing, Health Checks, Updates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4828032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TextBox 529"/>
          <p:cNvSpPr txBox="1"/>
          <p:nvPr/>
        </p:nvSpPr>
        <p:spPr>
          <a:xfrm>
            <a:off x="4905360" y="5391792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5074272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870480" y="55874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947808" y="557496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TextBox 533"/>
          <p:cNvSpPr txBox="1"/>
          <p:nvPr/>
        </p:nvSpPr>
        <p:spPr>
          <a:xfrm>
            <a:off x="1116720" y="5587488"/>
            <a:ext cx="35346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TextBox 534"/>
          <p:cNvSpPr txBox="1"/>
          <p:nvPr/>
        </p:nvSpPr>
        <p:spPr>
          <a:xfrm>
            <a:off x="4600800" y="557496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4769712" y="55874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870481" y="5781888"/>
            <a:ext cx="400590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└─────────────────────────────────────────────────┘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870480" y="5952096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1039392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1116721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2131056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TextBox 541"/>
          <p:cNvSpPr txBox="1"/>
          <p:nvPr/>
        </p:nvSpPr>
        <p:spPr>
          <a:xfrm>
            <a:off x="2208385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3222288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3300049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4313952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TextBox 545"/>
          <p:cNvSpPr txBox="1"/>
          <p:nvPr/>
        </p:nvSpPr>
        <p:spPr>
          <a:xfrm>
            <a:off x="870480" y="6146496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1039392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1116721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2131056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208385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3222288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300049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4313952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870481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TextBox 554"/>
          <p:cNvSpPr txBox="1"/>
          <p:nvPr/>
        </p:nvSpPr>
        <p:spPr>
          <a:xfrm>
            <a:off x="1412208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TextBox 555"/>
          <p:cNvSpPr txBox="1"/>
          <p:nvPr/>
        </p:nvSpPr>
        <p:spPr>
          <a:xfrm>
            <a:off x="1750465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TextBox 556"/>
          <p:cNvSpPr txBox="1"/>
          <p:nvPr/>
        </p:nvSpPr>
        <p:spPr>
          <a:xfrm>
            <a:off x="2292192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TextBox 557"/>
          <p:cNvSpPr txBox="1"/>
          <p:nvPr/>
        </p:nvSpPr>
        <p:spPr>
          <a:xfrm>
            <a:off x="2630449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3172176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TextBox 559"/>
          <p:cNvSpPr txBox="1"/>
          <p:nvPr/>
        </p:nvSpPr>
        <p:spPr>
          <a:xfrm>
            <a:off x="3510433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TextBox 560"/>
          <p:cNvSpPr txBox="1"/>
          <p:nvPr/>
        </p:nvSpPr>
        <p:spPr>
          <a:xfrm>
            <a:off x="870480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947808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TextBox 562"/>
          <p:cNvSpPr txBox="1"/>
          <p:nvPr/>
        </p:nvSpPr>
        <p:spPr>
          <a:xfrm>
            <a:off x="1370304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TextBox 563"/>
          <p:cNvSpPr txBox="1"/>
          <p:nvPr/>
        </p:nvSpPr>
        <p:spPr>
          <a:xfrm>
            <a:off x="1447632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TextBox 564"/>
          <p:cNvSpPr txBox="1"/>
          <p:nvPr/>
        </p:nvSpPr>
        <p:spPr>
          <a:xfrm>
            <a:off x="1785888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1863216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2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2285712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2363040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2701296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2778624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3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3201120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3278448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3616704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3694032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4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4116528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870480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947808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Add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370304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TextBox 578"/>
          <p:cNvSpPr txBox="1"/>
          <p:nvPr/>
        </p:nvSpPr>
        <p:spPr>
          <a:xfrm>
            <a:off x="1447632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1785888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TextBox 580"/>
          <p:cNvSpPr txBox="1"/>
          <p:nvPr/>
        </p:nvSpPr>
        <p:spPr>
          <a:xfrm>
            <a:off x="1863216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Add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TextBox 581"/>
          <p:cNvSpPr txBox="1"/>
          <p:nvPr/>
        </p:nvSpPr>
        <p:spPr>
          <a:xfrm>
            <a:off x="2285712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TextBox 582"/>
          <p:cNvSpPr txBox="1"/>
          <p:nvPr/>
        </p:nvSpPr>
        <p:spPr>
          <a:xfrm>
            <a:off x="2363040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TextBox 583"/>
          <p:cNvSpPr txBox="1"/>
          <p:nvPr/>
        </p:nvSpPr>
        <p:spPr>
          <a:xfrm>
            <a:off x="2701296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TextBox 584"/>
          <p:cNvSpPr txBox="1"/>
          <p:nvPr/>
        </p:nvSpPr>
        <p:spPr>
          <a:xfrm>
            <a:off x="2778624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Sub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3201120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TextBox 586"/>
          <p:cNvSpPr txBox="1"/>
          <p:nvPr/>
        </p:nvSpPr>
        <p:spPr>
          <a:xfrm>
            <a:off x="3278448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TextBox 587"/>
          <p:cNvSpPr txBox="1"/>
          <p:nvPr/>
        </p:nvSpPr>
        <p:spPr>
          <a:xfrm>
            <a:off x="3616704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3694032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Sub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4116528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870480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947808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1370304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1447632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TextBox 594"/>
          <p:cNvSpPr txBox="1"/>
          <p:nvPr/>
        </p:nvSpPr>
        <p:spPr>
          <a:xfrm>
            <a:off x="1785888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863216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TextBox 596"/>
          <p:cNvSpPr txBox="1"/>
          <p:nvPr/>
        </p:nvSpPr>
        <p:spPr>
          <a:xfrm>
            <a:off x="2285712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TextBox 597"/>
          <p:cNvSpPr txBox="1"/>
          <p:nvPr/>
        </p:nvSpPr>
        <p:spPr>
          <a:xfrm>
            <a:off x="2363040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TextBox 598"/>
          <p:cNvSpPr txBox="1"/>
          <p:nvPr/>
        </p:nvSpPr>
        <p:spPr>
          <a:xfrm>
            <a:off x="2701296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TextBox 599"/>
          <p:cNvSpPr txBox="1"/>
          <p:nvPr/>
        </p:nvSpPr>
        <p:spPr>
          <a:xfrm>
            <a:off x="2778624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3201120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3278448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TextBox 602"/>
          <p:cNvSpPr txBox="1"/>
          <p:nvPr/>
        </p:nvSpPr>
        <p:spPr>
          <a:xfrm>
            <a:off x="3616704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TextBox 603"/>
          <p:cNvSpPr txBox="1"/>
          <p:nvPr/>
        </p:nvSpPr>
        <p:spPr>
          <a:xfrm>
            <a:off x="3694032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4116528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870481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412208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TextBox 607"/>
          <p:cNvSpPr txBox="1"/>
          <p:nvPr/>
        </p:nvSpPr>
        <p:spPr>
          <a:xfrm>
            <a:off x="1750465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2292192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TextBox 609"/>
          <p:cNvSpPr txBox="1"/>
          <p:nvPr/>
        </p:nvSpPr>
        <p:spPr>
          <a:xfrm>
            <a:off x="2630449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3172176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TextBox 611"/>
          <p:cNvSpPr txBox="1"/>
          <p:nvPr/>
        </p:nvSpPr>
        <p:spPr>
          <a:xfrm>
            <a:off x="3510433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Freeform: Shape 612"/>
          <p:cNvSpPr/>
          <p:nvPr/>
        </p:nvSpPr>
        <p:spPr>
          <a:xfrm>
            <a:off x="1039824" y="811512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8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reeform: Shape 480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Freeform: Shape 48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Freeform: Shape 483"/>
          <p:cNvSpPr/>
          <p:nvPr/>
        </p:nvSpPr>
        <p:spPr>
          <a:xfrm>
            <a:off x="800064" y="1839888"/>
            <a:ext cx="13030416" cy="2046384"/>
          </a:xfrm>
          <a:custGeom>
            <a:avLst/>
            <a:gdLst/>
            <a:ahLst/>
            <a:cxnLst/>
            <a:rect l="0" t="0" r="r" b="b"/>
            <a:pathLst>
              <a:path w="30163" h="4737">
                <a:moveTo>
                  <a:pt x="0" y="0"/>
                </a:moveTo>
                <a:lnTo>
                  <a:pt x="30163" y="0"/>
                </a:lnTo>
                <a:lnTo>
                  <a:pt x="30163" y="4737"/>
                </a:lnTo>
                <a:lnTo>
                  <a:pt x="0" y="473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5" name="Freeform: Shape 484"/>
          <p:cNvSpPr/>
          <p:nvPr/>
        </p:nvSpPr>
        <p:spPr>
          <a:xfrm>
            <a:off x="800064" y="4526064"/>
            <a:ext cx="13030416" cy="2800656"/>
          </a:xfrm>
          <a:custGeom>
            <a:avLst/>
            <a:gdLst/>
            <a:ahLst/>
            <a:cxnLst/>
            <a:rect l="0" t="0" r="r" b="b"/>
            <a:pathLst>
              <a:path w="30163" h="6483">
                <a:moveTo>
                  <a:pt x="0" y="0"/>
                </a:moveTo>
                <a:lnTo>
                  <a:pt x="30163" y="0"/>
                </a:lnTo>
                <a:lnTo>
                  <a:pt x="30163" y="6483"/>
                </a:lnTo>
                <a:lnTo>
                  <a:pt x="0" y="6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6" name="Freeform: Shape 485"/>
          <p:cNvSpPr/>
          <p:nvPr/>
        </p:nvSpPr>
        <p:spPr>
          <a:xfrm>
            <a:off x="834192" y="845424"/>
            <a:ext cx="297648" cy="309312"/>
          </a:xfrm>
          <a:custGeom>
            <a:avLst/>
            <a:gdLst/>
            <a:ahLst/>
            <a:cxnLst/>
            <a:rect l="0" t="0" r="r" b="b"/>
            <a:pathLst>
              <a:path w="689" h="716">
                <a:moveTo>
                  <a:pt x="689" y="358"/>
                </a:moveTo>
                <a:cubicBezTo>
                  <a:pt x="689" y="381"/>
                  <a:pt x="687" y="404"/>
                  <a:pt x="682" y="427"/>
                </a:cubicBezTo>
                <a:cubicBezTo>
                  <a:pt x="678" y="450"/>
                  <a:pt x="671" y="473"/>
                  <a:pt x="663" y="494"/>
                </a:cubicBezTo>
                <a:cubicBezTo>
                  <a:pt x="654" y="516"/>
                  <a:pt x="643" y="537"/>
                  <a:pt x="631" y="557"/>
                </a:cubicBezTo>
                <a:cubicBezTo>
                  <a:pt x="618" y="577"/>
                  <a:pt x="604" y="595"/>
                  <a:pt x="588" y="611"/>
                </a:cubicBezTo>
                <a:cubicBezTo>
                  <a:pt x="572" y="628"/>
                  <a:pt x="555" y="643"/>
                  <a:pt x="536" y="656"/>
                </a:cubicBezTo>
                <a:cubicBezTo>
                  <a:pt x="517" y="669"/>
                  <a:pt x="497" y="680"/>
                  <a:pt x="477" y="689"/>
                </a:cubicBezTo>
                <a:cubicBezTo>
                  <a:pt x="455" y="698"/>
                  <a:pt x="433" y="704"/>
                  <a:pt x="411" y="709"/>
                </a:cubicBezTo>
                <a:cubicBezTo>
                  <a:pt x="389" y="714"/>
                  <a:pt x="367" y="716"/>
                  <a:pt x="344" y="716"/>
                </a:cubicBezTo>
                <a:cubicBezTo>
                  <a:pt x="321" y="716"/>
                  <a:pt x="299" y="714"/>
                  <a:pt x="277" y="709"/>
                </a:cubicBezTo>
                <a:cubicBezTo>
                  <a:pt x="255" y="704"/>
                  <a:pt x="233" y="698"/>
                  <a:pt x="212" y="689"/>
                </a:cubicBezTo>
                <a:cubicBezTo>
                  <a:pt x="191" y="680"/>
                  <a:pt x="172" y="669"/>
                  <a:pt x="153" y="656"/>
                </a:cubicBezTo>
                <a:cubicBezTo>
                  <a:pt x="134" y="643"/>
                  <a:pt x="117" y="628"/>
                  <a:pt x="101" y="611"/>
                </a:cubicBezTo>
                <a:cubicBezTo>
                  <a:pt x="85" y="595"/>
                  <a:pt x="70" y="577"/>
                  <a:pt x="58" y="557"/>
                </a:cubicBezTo>
                <a:cubicBezTo>
                  <a:pt x="45" y="537"/>
                  <a:pt x="35" y="516"/>
                  <a:pt x="26" y="494"/>
                </a:cubicBezTo>
                <a:cubicBezTo>
                  <a:pt x="17" y="473"/>
                  <a:pt x="11" y="450"/>
                  <a:pt x="7" y="427"/>
                </a:cubicBezTo>
                <a:cubicBezTo>
                  <a:pt x="2" y="404"/>
                  <a:pt x="0" y="381"/>
                  <a:pt x="0" y="358"/>
                </a:cubicBezTo>
                <a:cubicBezTo>
                  <a:pt x="0" y="334"/>
                  <a:pt x="2" y="311"/>
                  <a:pt x="7" y="288"/>
                </a:cubicBezTo>
                <a:cubicBezTo>
                  <a:pt x="11" y="265"/>
                  <a:pt x="17" y="243"/>
                  <a:pt x="26" y="221"/>
                </a:cubicBezTo>
                <a:cubicBezTo>
                  <a:pt x="35" y="199"/>
                  <a:pt x="45" y="179"/>
                  <a:pt x="58" y="159"/>
                </a:cubicBezTo>
                <a:cubicBezTo>
                  <a:pt x="70" y="140"/>
                  <a:pt x="85" y="122"/>
                  <a:pt x="101" y="105"/>
                </a:cubicBezTo>
                <a:cubicBezTo>
                  <a:pt x="117" y="88"/>
                  <a:pt x="134" y="74"/>
                  <a:pt x="153" y="61"/>
                </a:cubicBezTo>
                <a:cubicBezTo>
                  <a:pt x="172" y="48"/>
                  <a:pt x="191" y="37"/>
                  <a:pt x="212" y="28"/>
                </a:cubicBezTo>
                <a:cubicBezTo>
                  <a:pt x="233" y="19"/>
                  <a:pt x="255" y="12"/>
                  <a:pt x="277" y="7"/>
                </a:cubicBezTo>
                <a:cubicBezTo>
                  <a:pt x="299" y="3"/>
                  <a:pt x="321" y="0"/>
                  <a:pt x="344" y="0"/>
                </a:cubicBezTo>
                <a:cubicBezTo>
                  <a:pt x="367" y="0"/>
                  <a:pt x="389" y="3"/>
                  <a:pt x="411" y="7"/>
                </a:cubicBezTo>
                <a:cubicBezTo>
                  <a:pt x="433" y="12"/>
                  <a:pt x="455" y="19"/>
                  <a:pt x="477" y="28"/>
                </a:cubicBezTo>
                <a:cubicBezTo>
                  <a:pt x="497" y="37"/>
                  <a:pt x="517" y="48"/>
                  <a:pt x="536" y="61"/>
                </a:cubicBezTo>
                <a:cubicBezTo>
                  <a:pt x="555" y="74"/>
                  <a:pt x="572" y="88"/>
                  <a:pt x="588" y="105"/>
                </a:cubicBezTo>
                <a:cubicBezTo>
                  <a:pt x="604" y="122"/>
                  <a:pt x="618" y="140"/>
                  <a:pt x="631" y="159"/>
                </a:cubicBezTo>
                <a:cubicBezTo>
                  <a:pt x="643" y="179"/>
                  <a:pt x="654" y="199"/>
                  <a:pt x="663" y="221"/>
                </a:cubicBezTo>
                <a:cubicBezTo>
                  <a:pt x="671" y="243"/>
                  <a:pt x="678" y="265"/>
                  <a:pt x="682" y="288"/>
                </a:cubicBezTo>
                <a:cubicBezTo>
                  <a:pt x="687" y="311"/>
                  <a:pt x="689" y="334"/>
                  <a:pt x="689" y="3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Freeform: Shape 486"/>
          <p:cNvSpPr/>
          <p:nvPr/>
        </p:nvSpPr>
        <p:spPr>
          <a:xfrm>
            <a:off x="871344" y="884304"/>
            <a:ext cx="223344" cy="231552"/>
          </a:xfrm>
          <a:custGeom>
            <a:avLst/>
            <a:gdLst/>
            <a:ahLst/>
            <a:cxnLst/>
            <a:rect l="0" t="0" r="r" b="b"/>
            <a:pathLst>
              <a:path w="517" h="536">
                <a:moveTo>
                  <a:pt x="517" y="268"/>
                </a:moveTo>
                <a:cubicBezTo>
                  <a:pt x="517" y="285"/>
                  <a:pt x="515" y="303"/>
                  <a:pt x="512" y="320"/>
                </a:cubicBezTo>
                <a:cubicBezTo>
                  <a:pt x="509" y="337"/>
                  <a:pt x="504" y="354"/>
                  <a:pt x="497" y="371"/>
                </a:cubicBezTo>
                <a:cubicBezTo>
                  <a:pt x="491" y="387"/>
                  <a:pt x="483" y="403"/>
                  <a:pt x="473" y="417"/>
                </a:cubicBezTo>
                <a:cubicBezTo>
                  <a:pt x="464" y="432"/>
                  <a:pt x="453" y="446"/>
                  <a:pt x="441" y="458"/>
                </a:cubicBezTo>
                <a:cubicBezTo>
                  <a:pt x="429" y="470"/>
                  <a:pt x="416" y="482"/>
                  <a:pt x="402" y="491"/>
                </a:cubicBezTo>
                <a:cubicBezTo>
                  <a:pt x="388" y="501"/>
                  <a:pt x="373" y="509"/>
                  <a:pt x="358" y="516"/>
                </a:cubicBezTo>
                <a:cubicBezTo>
                  <a:pt x="342" y="523"/>
                  <a:pt x="326" y="528"/>
                  <a:pt x="309" y="531"/>
                </a:cubicBezTo>
                <a:cubicBezTo>
                  <a:pt x="292" y="535"/>
                  <a:pt x="275" y="536"/>
                  <a:pt x="258" y="536"/>
                </a:cubicBezTo>
                <a:cubicBezTo>
                  <a:pt x="241" y="536"/>
                  <a:pt x="224" y="535"/>
                  <a:pt x="208" y="531"/>
                </a:cubicBezTo>
                <a:cubicBezTo>
                  <a:pt x="191" y="528"/>
                  <a:pt x="175" y="523"/>
                  <a:pt x="159" y="516"/>
                </a:cubicBezTo>
                <a:cubicBezTo>
                  <a:pt x="144" y="509"/>
                  <a:pt x="129" y="501"/>
                  <a:pt x="115" y="491"/>
                </a:cubicBezTo>
                <a:cubicBezTo>
                  <a:pt x="101" y="482"/>
                  <a:pt x="87" y="470"/>
                  <a:pt x="76" y="458"/>
                </a:cubicBezTo>
                <a:cubicBezTo>
                  <a:pt x="64" y="446"/>
                  <a:pt x="53" y="432"/>
                  <a:pt x="43" y="417"/>
                </a:cubicBezTo>
                <a:cubicBezTo>
                  <a:pt x="34" y="403"/>
                  <a:pt x="26" y="387"/>
                  <a:pt x="20" y="371"/>
                </a:cubicBezTo>
                <a:cubicBezTo>
                  <a:pt x="13" y="354"/>
                  <a:pt x="8" y="337"/>
                  <a:pt x="5" y="320"/>
                </a:cubicBezTo>
                <a:cubicBezTo>
                  <a:pt x="2" y="303"/>
                  <a:pt x="0" y="285"/>
                  <a:pt x="0" y="268"/>
                </a:cubicBezTo>
                <a:cubicBezTo>
                  <a:pt x="0" y="250"/>
                  <a:pt x="2" y="233"/>
                  <a:pt x="5" y="215"/>
                </a:cubicBezTo>
                <a:cubicBezTo>
                  <a:pt x="8" y="198"/>
                  <a:pt x="13" y="181"/>
                  <a:pt x="20" y="165"/>
                </a:cubicBezTo>
                <a:cubicBezTo>
                  <a:pt x="26" y="149"/>
                  <a:pt x="34" y="133"/>
                  <a:pt x="43" y="119"/>
                </a:cubicBezTo>
                <a:cubicBezTo>
                  <a:pt x="53" y="104"/>
                  <a:pt x="64" y="91"/>
                  <a:pt x="76" y="78"/>
                </a:cubicBezTo>
                <a:cubicBezTo>
                  <a:pt x="87" y="66"/>
                  <a:pt x="101" y="55"/>
                  <a:pt x="115" y="45"/>
                </a:cubicBezTo>
                <a:cubicBezTo>
                  <a:pt x="129" y="35"/>
                  <a:pt x="144" y="27"/>
                  <a:pt x="159" y="20"/>
                </a:cubicBezTo>
                <a:cubicBezTo>
                  <a:pt x="175" y="13"/>
                  <a:pt x="191" y="8"/>
                  <a:pt x="208" y="5"/>
                </a:cubicBezTo>
                <a:cubicBezTo>
                  <a:pt x="224" y="1"/>
                  <a:pt x="241" y="0"/>
                  <a:pt x="258" y="0"/>
                </a:cubicBezTo>
                <a:cubicBezTo>
                  <a:pt x="275" y="0"/>
                  <a:pt x="292" y="1"/>
                  <a:pt x="309" y="5"/>
                </a:cubicBezTo>
                <a:cubicBezTo>
                  <a:pt x="326" y="8"/>
                  <a:pt x="342" y="13"/>
                  <a:pt x="358" y="20"/>
                </a:cubicBezTo>
                <a:cubicBezTo>
                  <a:pt x="373" y="27"/>
                  <a:pt x="388" y="35"/>
                  <a:pt x="402" y="45"/>
                </a:cubicBezTo>
                <a:cubicBezTo>
                  <a:pt x="416" y="55"/>
                  <a:pt x="429" y="66"/>
                  <a:pt x="441" y="78"/>
                </a:cubicBezTo>
                <a:cubicBezTo>
                  <a:pt x="453" y="91"/>
                  <a:pt x="464" y="104"/>
                  <a:pt x="473" y="119"/>
                </a:cubicBezTo>
                <a:cubicBezTo>
                  <a:pt x="483" y="133"/>
                  <a:pt x="491" y="149"/>
                  <a:pt x="497" y="165"/>
                </a:cubicBezTo>
                <a:cubicBezTo>
                  <a:pt x="504" y="181"/>
                  <a:pt x="509" y="198"/>
                  <a:pt x="512" y="215"/>
                </a:cubicBezTo>
                <a:cubicBezTo>
                  <a:pt x="515" y="233"/>
                  <a:pt x="517" y="250"/>
                  <a:pt x="517" y="2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Freeform: Shape 487"/>
          <p:cNvSpPr/>
          <p:nvPr/>
        </p:nvSpPr>
        <p:spPr>
          <a:xfrm>
            <a:off x="900288" y="914112"/>
            <a:ext cx="165456" cy="171936"/>
          </a:xfrm>
          <a:custGeom>
            <a:avLst/>
            <a:gdLst/>
            <a:ahLst/>
            <a:cxnLst/>
            <a:rect l="0" t="0" r="r" b="b"/>
            <a:pathLst>
              <a:path w="383" h="398">
                <a:moveTo>
                  <a:pt x="383" y="200"/>
                </a:moveTo>
                <a:cubicBezTo>
                  <a:pt x="383" y="213"/>
                  <a:pt x="382" y="226"/>
                  <a:pt x="379" y="238"/>
                </a:cubicBezTo>
                <a:cubicBezTo>
                  <a:pt x="377" y="251"/>
                  <a:pt x="373" y="264"/>
                  <a:pt x="368" y="276"/>
                </a:cubicBezTo>
                <a:cubicBezTo>
                  <a:pt x="364" y="288"/>
                  <a:pt x="358" y="299"/>
                  <a:pt x="351" y="310"/>
                </a:cubicBezTo>
                <a:cubicBezTo>
                  <a:pt x="344" y="321"/>
                  <a:pt x="336" y="331"/>
                  <a:pt x="327" y="340"/>
                </a:cubicBezTo>
                <a:cubicBezTo>
                  <a:pt x="318" y="349"/>
                  <a:pt x="309" y="357"/>
                  <a:pt x="298" y="365"/>
                </a:cubicBezTo>
                <a:cubicBezTo>
                  <a:pt x="288" y="372"/>
                  <a:pt x="277" y="378"/>
                  <a:pt x="265" y="383"/>
                </a:cubicBezTo>
                <a:cubicBezTo>
                  <a:pt x="253" y="388"/>
                  <a:pt x="242" y="392"/>
                  <a:pt x="229" y="394"/>
                </a:cubicBezTo>
                <a:cubicBezTo>
                  <a:pt x="217" y="397"/>
                  <a:pt x="204" y="398"/>
                  <a:pt x="192" y="398"/>
                </a:cubicBezTo>
                <a:cubicBezTo>
                  <a:pt x="179" y="398"/>
                  <a:pt x="167" y="397"/>
                  <a:pt x="155" y="394"/>
                </a:cubicBezTo>
                <a:cubicBezTo>
                  <a:pt x="142" y="392"/>
                  <a:pt x="130" y="388"/>
                  <a:pt x="119" y="383"/>
                </a:cubicBezTo>
                <a:cubicBezTo>
                  <a:pt x="107" y="378"/>
                  <a:pt x="96" y="372"/>
                  <a:pt x="86" y="365"/>
                </a:cubicBezTo>
                <a:cubicBezTo>
                  <a:pt x="75" y="357"/>
                  <a:pt x="66" y="349"/>
                  <a:pt x="57" y="340"/>
                </a:cubicBezTo>
                <a:cubicBezTo>
                  <a:pt x="48" y="331"/>
                  <a:pt x="40" y="321"/>
                  <a:pt x="33" y="310"/>
                </a:cubicBezTo>
                <a:cubicBezTo>
                  <a:pt x="26" y="299"/>
                  <a:pt x="20" y="288"/>
                  <a:pt x="14" y="276"/>
                </a:cubicBezTo>
                <a:cubicBezTo>
                  <a:pt x="10" y="264"/>
                  <a:pt x="6" y="251"/>
                  <a:pt x="4" y="238"/>
                </a:cubicBezTo>
                <a:cubicBezTo>
                  <a:pt x="1" y="226"/>
                  <a:pt x="0" y="213"/>
                  <a:pt x="0" y="200"/>
                </a:cubicBez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4" y="124"/>
                </a:cubicBezTo>
                <a:cubicBezTo>
                  <a:pt x="20" y="112"/>
                  <a:pt x="26" y="100"/>
                  <a:pt x="33" y="89"/>
                </a:cubicBezTo>
                <a:cubicBezTo>
                  <a:pt x="40" y="79"/>
                  <a:pt x="48" y="69"/>
                  <a:pt x="57" y="58"/>
                </a:cubicBezTo>
                <a:cubicBezTo>
                  <a:pt x="66" y="49"/>
                  <a:pt x="75" y="41"/>
                  <a:pt x="86" y="34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0" y="10"/>
                  <a:pt x="142" y="7"/>
                  <a:pt x="155" y="4"/>
                </a:cubicBezTo>
                <a:cubicBezTo>
                  <a:pt x="167" y="1"/>
                  <a:pt x="179" y="0"/>
                  <a:pt x="192" y="0"/>
                </a:cubicBezTo>
                <a:cubicBezTo>
                  <a:pt x="204" y="0"/>
                  <a:pt x="217" y="1"/>
                  <a:pt x="229" y="4"/>
                </a:cubicBezTo>
                <a:cubicBezTo>
                  <a:pt x="242" y="7"/>
                  <a:pt x="253" y="10"/>
                  <a:pt x="265" y="15"/>
                </a:cubicBezTo>
                <a:cubicBezTo>
                  <a:pt x="277" y="20"/>
                  <a:pt x="288" y="26"/>
                  <a:pt x="298" y="34"/>
                </a:cubicBezTo>
                <a:cubicBezTo>
                  <a:pt x="309" y="41"/>
                  <a:pt x="318" y="49"/>
                  <a:pt x="327" y="58"/>
                </a:cubicBezTo>
                <a:cubicBezTo>
                  <a:pt x="336" y="69"/>
                  <a:pt x="344" y="79"/>
                  <a:pt x="351" y="89"/>
                </a:cubicBezTo>
                <a:cubicBezTo>
                  <a:pt x="358" y="100"/>
                  <a:pt x="364" y="112"/>
                  <a:pt x="368" y="124"/>
                </a:cubicBezTo>
                <a:cubicBezTo>
                  <a:pt x="373" y="136"/>
                  <a:pt x="377" y="148"/>
                  <a:pt x="379" y="161"/>
                </a:cubicBezTo>
                <a:cubicBezTo>
                  <a:pt x="382" y="174"/>
                  <a:pt x="383" y="187"/>
                  <a:pt x="383" y="20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" name="Freeform: Shape 488"/>
          <p:cNvSpPr/>
          <p:nvPr/>
        </p:nvSpPr>
        <p:spPr>
          <a:xfrm>
            <a:off x="933120" y="948672"/>
            <a:ext cx="99792" cy="103248"/>
          </a:xfrm>
          <a:custGeom>
            <a:avLst/>
            <a:gdLst/>
            <a:ahLst/>
            <a:cxnLst/>
            <a:rect l="0" t="0" r="r" b="b"/>
            <a:pathLst>
              <a:path w="231" h="239">
                <a:moveTo>
                  <a:pt x="231" y="120"/>
                </a:moveTo>
                <a:cubicBezTo>
                  <a:pt x="231" y="135"/>
                  <a:pt x="228" y="151"/>
                  <a:pt x="222" y="165"/>
                </a:cubicBezTo>
                <a:cubicBezTo>
                  <a:pt x="216" y="180"/>
                  <a:pt x="208" y="193"/>
                  <a:pt x="197" y="204"/>
                </a:cubicBezTo>
                <a:cubicBezTo>
                  <a:pt x="186" y="215"/>
                  <a:pt x="174" y="224"/>
                  <a:pt x="160" y="230"/>
                </a:cubicBezTo>
                <a:cubicBezTo>
                  <a:pt x="146" y="236"/>
                  <a:pt x="131" y="239"/>
                  <a:pt x="116" y="239"/>
                </a:cubicBezTo>
                <a:cubicBezTo>
                  <a:pt x="101" y="239"/>
                  <a:pt x="86" y="236"/>
                  <a:pt x="72" y="230"/>
                </a:cubicBezTo>
                <a:cubicBezTo>
                  <a:pt x="58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8" y="15"/>
                  <a:pt x="72" y="9"/>
                </a:cubicBezTo>
                <a:cubicBezTo>
                  <a:pt x="86" y="3"/>
                  <a:pt x="101" y="0"/>
                  <a:pt x="116" y="0"/>
                </a:cubicBezTo>
                <a:cubicBezTo>
                  <a:pt x="131" y="0"/>
                  <a:pt x="146" y="3"/>
                  <a:pt x="160" y="9"/>
                </a:cubicBezTo>
                <a:cubicBezTo>
                  <a:pt x="174" y="15"/>
                  <a:pt x="186" y="23"/>
                  <a:pt x="197" y="34"/>
                </a:cubicBezTo>
                <a:cubicBezTo>
                  <a:pt x="208" y="46"/>
                  <a:pt x="216" y="58"/>
                  <a:pt x="222" y="74"/>
                </a:cubicBezTo>
                <a:cubicBezTo>
                  <a:pt x="228" y="89"/>
                  <a:pt x="231" y="104"/>
                  <a:pt x="231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Freeform: Shape 489"/>
          <p:cNvSpPr/>
          <p:nvPr/>
        </p:nvSpPr>
        <p:spPr>
          <a:xfrm>
            <a:off x="958176" y="974160"/>
            <a:ext cx="49680" cy="51840"/>
          </a:xfrm>
          <a:custGeom>
            <a:avLst/>
            <a:gdLst/>
            <a:ahLst/>
            <a:cxnLst/>
            <a:rect l="0" t="0" r="r" b="b"/>
            <a:pathLst>
              <a:path w="115" h="120">
                <a:moveTo>
                  <a:pt x="115" y="60"/>
                </a:moveTo>
                <a:cubicBezTo>
                  <a:pt x="115" y="68"/>
                  <a:pt x="114" y="76"/>
                  <a:pt x="111" y="83"/>
                </a:cubicBezTo>
                <a:cubicBezTo>
                  <a:pt x="108" y="91"/>
                  <a:pt x="104" y="97"/>
                  <a:pt x="98" y="103"/>
                </a:cubicBezTo>
                <a:cubicBezTo>
                  <a:pt x="93" y="108"/>
                  <a:pt x="87" y="113"/>
                  <a:pt x="80" y="116"/>
                </a:cubicBezTo>
                <a:cubicBezTo>
                  <a:pt x="73" y="119"/>
                  <a:pt x="66" y="120"/>
                  <a:pt x="58" y="120"/>
                </a:cubicBezTo>
                <a:cubicBezTo>
                  <a:pt x="50" y="120"/>
                  <a:pt x="43" y="119"/>
                  <a:pt x="36" y="116"/>
                </a:cubicBezTo>
                <a:cubicBezTo>
                  <a:pt x="29" y="113"/>
                  <a:pt x="23" y="108"/>
                  <a:pt x="17" y="103"/>
                </a:cubicBezTo>
                <a:cubicBezTo>
                  <a:pt x="12" y="97"/>
                  <a:pt x="8" y="91"/>
                  <a:pt x="4" y="83"/>
                </a:cubicBezTo>
                <a:cubicBezTo>
                  <a:pt x="1" y="76"/>
                  <a:pt x="0" y="68"/>
                  <a:pt x="0" y="60"/>
                </a:cubicBezTo>
                <a:cubicBezTo>
                  <a:pt x="0" y="52"/>
                  <a:pt x="1" y="44"/>
                  <a:pt x="4" y="37"/>
                </a:cubicBezTo>
                <a:cubicBezTo>
                  <a:pt x="8" y="30"/>
                  <a:pt x="12" y="23"/>
                  <a:pt x="17" y="18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3" y="2"/>
                  <a:pt x="80" y="5"/>
                </a:cubicBezTo>
                <a:cubicBezTo>
                  <a:pt x="87" y="8"/>
                  <a:pt x="93" y="12"/>
                  <a:pt x="98" y="18"/>
                </a:cubicBezTo>
                <a:cubicBezTo>
                  <a:pt x="104" y="23"/>
                  <a:pt x="108" y="30"/>
                  <a:pt x="111" y="37"/>
                </a:cubicBezTo>
                <a:cubicBezTo>
                  <a:pt x="114" y="44"/>
                  <a:pt x="115" y="52"/>
                  <a:pt x="115" y="6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1" name="Freeform: Shape 490"/>
          <p:cNvSpPr/>
          <p:nvPr/>
        </p:nvSpPr>
        <p:spPr>
          <a:xfrm>
            <a:off x="979344" y="1002240"/>
            <a:ext cx="114480" cy="145152"/>
          </a:xfrm>
          <a:custGeom>
            <a:avLst/>
            <a:gdLst/>
            <a:ahLst/>
            <a:cxnLst/>
            <a:rect l="0" t="0" r="r" b="b"/>
            <a:pathLst>
              <a:path w="265" h="336">
                <a:moveTo>
                  <a:pt x="13" y="0"/>
                </a:moveTo>
                <a:lnTo>
                  <a:pt x="265" y="234"/>
                </a:lnTo>
                <a:cubicBezTo>
                  <a:pt x="265" y="234"/>
                  <a:pt x="213" y="301"/>
                  <a:pt x="113" y="336"/>
                </a:cubicBezTo>
                <a:lnTo>
                  <a:pt x="0" y="3"/>
                </a:lnTo>
                <a:lnTo>
                  <a:pt x="13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2" name="Freeform: Shape 491"/>
          <p:cNvSpPr/>
          <p:nvPr/>
        </p:nvSpPr>
        <p:spPr>
          <a:xfrm>
            <a:off x="977184" y="986688"/>
            <a:ext cx="21600" cy="22032"/>
          </a:xfrm>
          <a:custGeom>
            <a:avLst/>
            <a:gdLst/>
            <a:ahLst/>
            <a:cxnLst/>
            <a:rect l="0" t="0" r="r" b="b"/>
            <a:pathLst>
              <a:path w="50" h="51">
                <a:moveTo>
                  <a:pt x="20" y="51"/>
                </a:moveTo>
                <a:cubicBezTo>
                  <a:pt x="14" y="51"/>
                  <a:pt x="9" y="50"/>
                  <a:pt x="5" y="46"/>
                </a:cubicBezTo>
                <a:cubicBezTo>
                  <a:pt x="-2" y="37"/>
                  <a:pt x="-2" y="24"/>
                  <a:pt x="5" y="17"/>
                </a:cubicBezTo>
                <a:lnTo>
                  <a:pt x="16" y="6"/>
                </a:lnTo>
                <a:cubicBezTo>
                  <a:pt x="24" y="-2"/>
                  <a:pt x="36" y="-2"/>
                  <a:pt x="44" y="6"/>
                </a:cubicBezTo>
                <a:cubicBezTo>
                  <a:pt x="51" y="13"/>
                  <a:pt x="51" y="26"/>
                  <a:pt x="44" y="33"/>
                </a:cubicBezTo>
                <a:lnTo>
                  <a:pt x="33" y="46"/>
                </a:lnTo>
                <a:cubicBezTo>
                  <a:pt x="29" y="50"/>
                  <a:pt x="24" y="51"/>
                  <a:pt x="20" y="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Freeform: Shape 492"/>
          <p:cNvSpPr/>
          <p:nvPr/>
        </p:nvSpPr>
        <p:spPr>
          <a:xfrm>
            <a:off x="1030752" y="845856"/>
            <a:ext cx="100656" cy="104544"/>
          </a:xfrm>
          <a:custGeom>
            <a:avLst/>
            <a:gdLst/>
            <a:ahLst/>
            <a:cxnLst/>
            <a:rect l="0" t="0" r="r" b="b"/>
            <a:pathLst>
              <a:path w="233" h="242">
                <a:moveTo>
                  <a:pt x="4" y="140"/>
                </a:moveTo>
                <a:cubicBezTo>
                  <a:pt x="-4" y="181"/>
                  <a:pt x="4" y="233"/>
                  <a:pt x="4" y="233"/>
                </a:cubicBezTo>
                <a:lnTo>
                  <a:pt x="140" y="85"/>
                </a:lnTo>
                <a:cubicBezTo>
                  <a:pt x="145" y="57"/>
                  <a:pt x="130" y="7"/>
                  <a:pt x="107" y="1"/>
                </a:cubicBezTo>
                <a:cubicBezTo>
                  <a:pt x="84" y="-5"/>
                  <a:pt x="28" y="17"/>
                  <a:pt x="4" y="140"/>
                </a:cubicBezTo>
                <a:moveTo>
                  <a:pt x="100" y="239"/>
                </a:moveTo>
                <a:cubicBezTo>
                  <a:pt x="61" y="247"/>
                  <a:pt x="10" y="239"/>
                  <a:pt x="10" y="239"/>
                </a:cubicBezTo>
                <a:lnTo>
                  <a:pt x="152" y="99"/>
                </a:lnTo>
                <a:cubicBezTo>
                  <a:pt x="180" y="93"/>
                  <a:pt x="227" y="110"/>
                  <a:pt x="233" y="133"/>
                </a:cubicBezTo>
                <a:cubicBezTo>
                  <a:pt x="239" y="157"/>
                  <a:pt x="218" y="214"/>
                  <a:pt x="100" y="239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Freeform: Shape 493"/>
          <p:cNvSpPr/>
          <p:nvPr/>
        </p:nvSpPr>
        <p:spPr>
          <a:xfrm>
            <a:off x="984096" y="872640"/>
            <a:ext cx="123984" cy="128304"/>
          </a:xfrm>
          <a:custGeom>
            <a:avLst/>
            <a:gdLst/>
            <a:ahLst/>
            <a:cxnLst/>
            <a:rect l="0" t="0" r="r" b="b"/>
            <a:pathLst>
              <a:path w="287" h="297">
                <a:moveTo>
                  <a:pt x="280" y="26"/>
                </a:moveTo>
                <a:lnTo>
                  <a:pt x="57" y="287"/>
                </a:lnTo>
                <a:cubicBezTo>
                  <a:pt x="50" y="295"/>
                  <a:pt x="25" y="305"/>
                  <a:pt x="9" y="288"/>
                </a:cubicBezTo>
                <a:cubicBezTo>
                  <a:pt x="-7" y="272"/>
                  <a:pt x="1" y="247"/>
                  <a:pt x="8" y="240"/>
                </a:cubicBezTo>
                <a:lnTo>
                  <a:pt x="261" y="7"/>
                </a:lnTo>
                <a:cubicBezTo>
                  <a:pt x="261" y="7"/>
                  <a:pt x="274" y="-6"/>
                  <a:pt x="283" y="4"/>
                </a:cubicBezTo>
                <a:cubicBezTo>
                  <a:pt x="292" y="13"/>
                  <a:pt x="280" y="26"/>
                  <a:pt x="280" y="26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" name="TextBox 494"/>
          <p:cNvSpPr txBox="1"/>
          <p:nvPr/>
        </p:nvSpPr>
        <p:spPr>
          <a:xfrm>
            <a:off x="1146961" y="794449"/>
            <a:ext cx="3642279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Why Kubernetes Matters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800064" y="1406161"/>
            <a:ext cx="27871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The Docker Problem at Scale: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870481" y="1940112"/>
            <a:ext cx="253274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Single Developer (Docker Works Great):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TextBox 497"/>
          <p:cNvSpPr txBox="1"/>
          <p:nvPr/>
        </p:nvSpPr>
        <p:spPr>
          <a:xfrm>
            <a:off x="870480" y="2134512"/>
            <a:ext cx="239007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docker run -p 3001:3000 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870481" y="2317248"/>
            <a:ext cx="265777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docker run -p 3002:3001 subtract-service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870480" y="2511648"/>
            <a:ext cx="907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# Works fine!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870480" y="2888784"/>
            <a:ext cx="221214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Production (100s of Requests/sec):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TextBox 501"/>
          <p:cNvSpPr txBox="1"/>
          <p:nvPr/>
        </p:nvSpPr>
        <p:spPr>
          <a:xfrm>
            <a:off x="870480" y="3083184"/>
            <a:ext cx="304570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scale? How to restart failed containers?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870480" y="3265920"/>
            <a:ext cx="329096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update without downtime? Load balancing?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TextBox 503"/>
          <p:cNvSpPr txBox="1"/>
          <p:nvPr/>
        </p:nvSpPr>
        <p:spPr>
          <a:xfrm>
            <a:off x="870481" y="3460320"/>
            <a:ext cx="28453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How to manage secrets, networks, storage?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Freeform: Shape 504"/>
          <p:cNvSpPr/>
          <p:nvPr/>
        </p:nvSpPr>
        <p:spPr>
          <a:xfrm>
            <a:off x="1057104" y="3651696"/>
            <a:ext cx="126576" cy="126144"/>
          </a:xfrm>
          <a:custGeom>
            <a:avLst/>
            <a:gdLst/>
            <a:ahLst/>
            <a:cxnLst/>
            <a:rect l="0" t="0" r="r" b="b"/>
            <a:pathLst>
              <a:path w="293" h="292">
                <a:moveTo>
                  <a:pt x="179" y="146"/>
                </a:moveTo>
                <a:lnTo>
                  <a:pt x="286" y="38"/>
                </a:lnTo>
                <a:cubicBezTo>
                  <a:pt x="295" y="29"/>
                  <a:pt x="295" y="15"/>
                  <a:pt x="286" y="6"/>
                </a:cubicBezTo>
                <a:cubicBezTo>
                  <a:pt x="278" y="-2"/>
                  <a:pt x="264" y="-2"/>
                  <a:pt x="255" y="6"/>
                </a:cubicBezTo>
                <a:lnTo>
                  <a:pt x="147" y="114"/>
                </a:lnTo>
                <a:lnTo>
                  <a:pt x="40" y="6"/>
                </a:lnTo>
                <a:cubicBezTo>
                  <a:pt x="31" y="-2"/>
                  <a:pt x="16" y="-2"/>
                  <a:pt x="7" y="6"/>
                </a:cubicBezTo>
                <a:cubicBezTo>
                  <a:pt x="-1" y="15"/>
                  <a:pt x="-1" y="29"/>
                  <a:pt x="7" y="38"/>
                </a:cubicBezTo>
                <a:lnTo>
                  <a:pt x="116" y="146"/>
                </a:lnTo>
                <a:lnTo>
                  <a:pt x="7" y="255"/>
                </a:lnTo>
                <a:cubicBezTo>
                  <a:pt x="-2" y="263"/>
                  <a:pt x="-2" y="277"/>
                  <a:pt x="7" y="286"/>
                </a:cubicBezTo>
                <a:cubicBezTo>
                  <a:pt x="11" y="290"/>
                  <a:pt x="17" y="292"/>
                  <a:pt x="23" y="292"/>
                </a:cubicBezTo>
                <a:cubicBezTo>
                  <a:pt x="29" y="292"/>
                  <a:pt x="35" y="290"/>
                  <a:pt x="39" y="286"/>
                </a:cubicBezTo>
                <a:lnTo>
                  <a:pt x="147" y="178"/>
                </a:lnTo>
                <a:lnTo>
                  <a:pt x="255" y="286"/>
                </a:lnTo>
                <a:cubicBezTo>
                  <a:pt x="260" y="290"/>
                  <a:pt x="265" y="292"/>
                  <a:pt x="271" y="292"/>
                </a:cubicBezTo>
                <a:cubicBezTo>
                  <a:pt x="277" y="292"/>
                  <a:pt x="282" y="290"/>
                  <a:pt x="286" y="286"/>
                </a:cubicBezTo>
                <a:cubicBezTo>
                  <a:pt x="295" y="277"/>
                  <a:pt x="295" y="263"/>
                  <a:pt x="286" y="254"/>
                </a:cubicBezTo>
                <a:lnTo>
                  <a:pt x="179" y="146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870480" y="365472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1201393" y="3654720"/>
            <a:ext cx="172803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Docker alone is insufficient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800064" y="4091905"/>
            <a:ext cx="224362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Kubernetes Solves This: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870481" y="4638816"/>
            <a:ext cx="400590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┌─────────────────────────────────────────────────┐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870480" y="483321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947808" y="4820256"/>
            <a:ext cx="245419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Kubernetes Cluster 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5088528" y="483321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TextBox 512"/>
          <p:cNvSpPr txBox="1"/>
          <p:nvPr/>
        </p:nvSpPr>
        <p:spPr>
          <a:xfrm>
            <a:off x="870480" y="50159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TextBox 513"/>
          <p:cNvSpPr txBox="1"/>
          <p:nvPr/>
        </p:nvSpPr>
        <p:spPr>
          <a:xfrm>
            <a:off x="947808" y="50034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1116720" y="5015952"/>
            <a:ext cx="35346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┌───────────────────────────────────────────┐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4600800" y="50034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4769712" y="50159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TextBox 517"/>
          <p:cNvSpPr txBox="1"/>
          <p:nvPr/>
        </p:nvSpPr>
        <p:spPr>
          <a:xfrm>
            <a:off x="870480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947808" y="51978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TextBox 519"/>
          <p:cNvSpPr txBox="1"/>
          <p:nvPr/>
        </p:nvSpPr>
        <p:spPr>
          <a:xfrm>
            <a:off x="1116720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1194481" y="5197824"/>
            <a:ext cx="276197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Automatic Scaling, Recovery, Networking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4828032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TextBox 522"/>
          <p:cNvSpPr txBox="1"/>
          <p:nvPr/>
        </p:nvSpPr>
        <p:spPr>
          <a:xfrm>
            <a:off x="4905360" y="5197824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5074272" y="52103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TextBox 524"/>
          <p:cNvSpPr txBox="1"/>
          <p:nvPr/>
        </p:nvSpPr>
        <p:spPr>
          <a:xfrm>
            <a:off x="870480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TextBox 525"/>
          <p:cNvSpPr txBox="1"/>
          <p:nvPr/>
        </p:nvSpPr>
        <p:spPr>
          <a:xfrm>
            <a:off x="947808" y="5391792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TextBox 526"/>
          <p:cNvSpPr txBox="1"/>
          <p:nvPr/>
        </p:nvSpPr>
        <p:spPr>
          <a:xfrm>
            <a:off x="1116720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TextBox 527"/>
          <p:cNvSpPr txBox="1"/>
          <p:nvPr/>
        </p:nvSpPr>
        <p:spPr>
          <a:xfrm>
            <a:off x="1194481" y="5391792"/>
            <a:ext cx="278601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Load Balancing, Health Checks, Updates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4828032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TextBox 529"/>
          <p:cNvSpPr txBox="1"/>
          <p:nvPr/>
        </p:nvSpPr>
        <p:spPr>
          <a:xfrm>
            <a:off x="4905360" y="5391792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5074272" y="540475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870480" y="55874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TextBox 532"/>
          <p:cNvSpPr txBox="1"/>
          <p:nvPr/>
        </p:nvSpPr>
        <p:spPr>
          <a:xfrm>
            <a:off x="947808" y="557496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TextBox 533"/>
          <p:cNvSpPr txBox="1"/>
          <p:nvPr/>
        </p:nvSpPr>
        <p:spPr>
          <a:xfrm>
            <a:off x="1116720" y="5587488"/>
            <a:ext cx="35346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└───────────────────────────────────────────┘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TextBox 534"/>
          <p:cNvSpPr txBox="1"/>
          <p:nvPr/>
        </p:nvSpPr>
        <p:spPr>
          <a:xfrm>
            <a:off x="4600800" y="5574960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4769712" y="5587488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870481" y="5781888"/>
            <a:ext cx="400590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 dirty="0">
                <a:solidFill>
                  <a:srgbClr val="FFF8E1"/>
                </a:solidFill>
                <a:latin typeface="Consolas"/>
                <a:ea typeface="Consolas"/>
              </a:rPr>
              <a:t>└─────────────────────────────────────────────────┘</a:t>
            </a:r>
            <a:endParaRPr lang="en-IN" sz="1104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870480" y="5952096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1039392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1116721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2131056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TextBox 541"/>
          <p:cNvSpPr txBox="1"/>
          <p:nvPr/>
        </p:nvSpPr>
        <p:spPr>
          <a:xfrm>
            <a:off x="2208385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TextBox 542"/>
          <p:cNvSpPr txBox="1"/>
          <p:nvPr/>
        </p:nvSpPr>
        <p:spPr>
          <a:xfrm>
            <a:off x="3222288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3300049" y="59520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4313952" y="59646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TextBox 545"/>
          <p:cNvSpPr txBox="1"/>
          <p:nvPr/>
        </p:nvSpPr>
        <p:spPr>
          <a:xfrm>
            <a:off x="870480" y="6146496"/>
            <a:ext cx="8015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1039392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TextBox 547"/>
          <p:cNvSpPr txBox="1"/>
          <p:nvPr/>
        </p:nvSpPr>
        <p:spPr>
          <a:xfrm>
            <a:off x="1116721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2131056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TextBox 549"/>
          <p:cNvSpPr txBox="1"/>
          <p:nvPr/>
        </p:nvSpPr>
        <p:spPr>
          <a:xfrm>
            <a:off x="2208385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3222288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300049" y="6146496"/>
            <a:ext cx="48090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4313952" y="6159024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870481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TextBox 554"/>
          <p:cNvSpPr txBox="1"/>
          <p:nvPr/>
        </p:nvSpPr>
        <p:spPr>
          <a:xfrm>
            <a:off x="1412208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TextBox 555"/>
          <p:cNvSpPr txBox="1"/>
          <p:nvPr/>
        </p:nvSpPr>
        <p:spPr>
          <a:xfrm>
            <a:off x="1750465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TextBox 556"/>
          <p:cNvSpPr txBox="1"/>
          <p:nvPr/>
        </p:nvSpPr>
        <p:spPr>
          <a:xfrm>
            <a:off x="2292192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TextBox 557"/>
          <p:cNvSpPr txBox="1"/>
          <p:nvPr/>
        </p:nvSpPr>
        <p:spPr>
          <a:xfrm>
            <a:off x="2630449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3172176" y="634046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TextBox 559"/>
          <p:cNvSpPr txBox="1"/>
          <p:nvPr/>
        </p:nvSpPr>
        <p:spPr>
          <a:xfrm>
            <a:off x="3510433" y="6353424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┌─────┐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TextBox 560"/>
          <p:cNvSpPr txBox="1"/>
          <p:nvPr/>
        </p:nvSpPr>
        <p:spPr>
          <a:xfrm>
            <a:off x="870480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TextBox 561"/>
          <p:cNvSpPr txBox="1"/>
          <p:nvPr/>
        </p:nvSpPr>
        <p:spPr>
          <a:xfrm>
            <a:off x="947808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TextBox 562"/>
          <p:cNvSpPr txBox="1"/>
          <p:nvPr/>
        </p:nvSpPr>
        <p:spPr>
          <a:xfrm>
            <a:off x="1370304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TextBox 563"/>
          <p:cNvSpPr txBox="1"/>
          <p:nvPr/>
        </p:nvSpPr>
        <p:spPr>
          <a:xfrm>
            <a:off x="1447632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TextBox 564"/>
          <p:cNvSpPr txBox="1"/>
          <p:nvPr/>
        </p:nvSpPr>
        <p:spPr>
          <a:xfrm>
            <a:off x="1785888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1863216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2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2285712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2363040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2701296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2778624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3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3201120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TextBox 571"/>
          <p:cNvSpPr txBox="1"/>
          <p:nvPr/>
        </p:nvSpPr>
        <p:spPr>
          <a:xfrm>
            <a:off x="3278448" y="65236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3616704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TextBox 573"/>
          <p:cNvSpPr txBox="1"/>
          <p:nvPr/>
        </p:nvSpPr>
        <p:spPr>
          <a:xfrm>
            <a:off x="3694032" y="6523632"/>
            <a:ext cx="3702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Pod 4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4116528" y="65361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870480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947808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Add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370304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TextBox 578"/>
          <p:cNvSpPr txBox="1"/>
          <p:nvPr/>
        </p:nvSpPr>
        <p:spPr>
          <a:xfrm>
            <a:off x="1447632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TextBox 579"/>
          <p:cNvSpPr txBox="1"/>
          <p:nvPr/>
        </p:nvSpPr>
        <p:spPr>
          <a:xfrm>
            <a:off x="1785888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TextBox 580"/>
          <p:cNvSpPr txBox="1"/>
          <p:nvPr/>
        </p:nvSpPr>
        <p:spPr>
          <a:xfrm>
            <a:off x="1863216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Add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TextBox 581"/>
          <p:cNvSpPr txBox="1"/>
          <p:nvPr/>
        </p:nvSpPr>
        <p:spPr>
          <a:xfrm>
            <a:off x="2285712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TextBox 582"/>
          <p:cNvSpPr txBox="1"/>
          <p:nvPr/>
        </p:nvSpPr>
        <p:spPr>
          <a:xfrm>
            <a:off x="2363040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TextBox 583"/>
          <p:cNvSpPr txBox="1"/>
          <p:nvPr/>
        </p:nvSpPr>
        <p:spPr>
          <a:xfrm>
            <a:off x="2701296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TextBox 584"/>
          <p:cNvSpPr txBox="1"/>
          <p:nvPr/>
        </p:nvSpPr>
        <p:spPr>
          <a:xfrm>
            <a:off x="2778624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Sub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3201120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TextBox 586"/>
          <p:cNvSpPr txBox="1"/>
          <p:nvPr/>
        </p:nvSpPr>
        <p:spPr>
          <a:xfrm>
            <a:off x="3278448" y="671803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TextBox 587"/>
          <p:cNvSpPr txBox="1"/>
          <p:nvPr/>
        </p:nvSpPr>
        <p:spPr>
          <a:xfrm>
            <a:off x="3616704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3694032" y="6718032"/>
            <a:ext cx="3318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Sub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TextBox 589"/>
          <p:cNvSpPr txBox="1"/>
          <p:nvPr/>
        </p:nvSpPr>
        <p:spPr>
          <a:xfrm>
            <a:off x="4116528" y="673056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870480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947808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1370304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1447632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TextBox 594"/>
          <p:cNvSpPr txBox="1"/>
          <p:nvPr/>
        </p:nvSpPr>
        <p:spPr>
          <a:xfrm>
            <a:off x="1785888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863216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TextBox 596"/>
          <p:cNvSpPr txBox="1"/>
          <p:nvPr/>
        </p:nvSpPr>
        <p:spPr>
          <a:xfrm>
            <a:off x="2285712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TextBox 597"/>
          <p:cNvSpPr txBox="1"/>
          <p:nvPr/>
        </p:nvSpPr>
        <p:spPr>
          <a:xfrm>
            <a:off x="2363040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TextBox 598"/>
          <p:cNvSpPr txBox="1"/>
          <p:nvPr/>
        </p:nvSpPr>
        <p:spPr>
          <a:xfrm>
            <a:off x="2701296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TextBox 599"/>
          <p:cNvSpPr txBox="1"/>
          <p:nvPr/>
        </p:nvSpPr>
        <p:spPr>
          <a:xfrm>
            <a:off x="2778624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3201120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601"/>
          <p:cNvSpPr txBox="1"/>
          <p:nvPr/>
        </p:nvSpPr>
        <p:spPr>
          <a:xfrm>
            <a:off x="3278448" y="69007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TextBox 602"/>
          <p:cNvSpPr txBox="1"/>
          <p:nvPr/>
        </p:nvSpPr>
        <p:spPr>
          <a:xfrm>
            <a:off x="3616704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TextBox 603"/>
          <p:cNvSpPr txBox="1"/>
          <p:nvPr/>
        </p:nvSpPr>
        <p:spPr>
          <a:xfrm>
            <a:off x="3694032" y="6900768"/>
            <a:ext cx="31579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Svc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4116528" y="691329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│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TextBox 605"/>
          <p:cNvSpPr txBox="1"/>
          <p:nvPr/>
        </p:nvSpPr>
        <p:spPr>
          <a:xfrm>
            <a:off x="870481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412208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TextBox 607"/>
          <p:cNvSpPr txBox="1"/>
          <p:nvPr/>
        </p:nvSpPr>
        <p:spPr>
          <a:xfrm>
            <a:off x="1750465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2292192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TextBox 609"/>
          <p:cNvSpPr txBox="1"/>
          <p:nvPr/>
        </p:nvSpPr>
        <p:spPr>
          <a:xfrm>
            <a:off x="2630449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3172176" y="709516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TextBox 611"/>
          <p:cNvSpPr txBox="1"/>
          <p:nvPr/>
        </p:nvSpPr>
        <p:spPr>
          <a:xfrm>
            <a:off x="3510433" y="7107696"/>
            <a:ext cx="54983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└─────┘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8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Freeform: Shape 619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Freeform: Shape 620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Freeform: Shape 62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Freeform: Shape 622"/>
          <p:cNvSpPr/>
          <p:nvPr/>
        </p:nvSpPr>
        <p:spPr>
          <a:xfrm>
            <a:off x="811296" y="1885680"/>
            <a:ext cx="1474848" cy="366336"/>
          </a:xfrm>
          <a:custGeom>
            <a:avLst/>
            <a:gdLst/>
            <a:ahLst/>
            <a:cxnLst/>
            <a:rect l="0" t="0" r="r" b="b"/>
            <a:pathLst>
              <a:path w="3414" h="848">
                <a:moveTo>
                  <a:pt x="0" y="0"/>
                </a:moveTo>
                <a:lnTo>
                  <a:pt x="3414" y="0"/>
                </a:lnTo>
                <a:lnTo>
                  <a:pt x="341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Freeform: Shape 623"/>
          <p:cNvSpPr/>
          <p:nvPr/>
        </p:nvSpPr>
        <p:spPr>
          <a:xfrm>
            <a:off x="2285712" y="1885680"/>
            <a:ext cx="3658176" cy="366336"/>
          </a:xfrm>
          <a:custGeom>
            <a:avLst/>
            <a:gdLst/>
            <a:ahLst/>
            <a:cxnLst/>
            <a:rect l="0" t="0" r="r" b="b"/>
            <a:pathLst>
              <a:path w="8468" h="848">
                <a:moveTo>
                  <a:pt x="0" y="0"/>
                </a:moveTo>
                <a:lnTo>
                  <a:pt x="8468" y="0"/>
                </a:lnTo>
                <a:lnTo>
                  <a:pt x="84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Freeform: Shape 624"/>
          <p:cNvSpPr/>
          <p:nvPr/>
        </p:nvSpPr>
        <p:spPr>
          <a:xfrm>
            <a:off x="811296" y="2251584"/>
            <a:ext cx="1474848" cy="365904"/>
          </a:xfrm>
          <a:custGeom>
            <a:avLst/>
            <a:gdLst/>
            <a:ahLst/>
            <a:cxnLst/>
            <a:rect l="0" t="0" r="r" b="b"/>
            <a:pathLst>
              <a:path w="3414" h="847">
                <a:moveTo>
                  <a:pt x="0" y="0"/>
                </a:moveTo>
                <a:lnTo>
                  <a:pt x="3414" y="0"/>
                </a:lnTo>
                <a:lnTo>
                  <a:pt x="341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Freeform: Shape 625"/>
          <p:cNvSpPr/>
          <p:nvPr/>
        </p:nvSpPr>
        <p:spPr>
          <a:xfrm>
            <a:off x="2285712" y="2251584"/>
            <a:ext cx="3658176" cy="365904"/>
          </a:xfrm>
          <a:custGeom>
            <a:avLst/>
            <a:gdLst/>
            <a:ahLst/>
            <a:cxnLst/>
            <a:rect l="0" t="0" r="r" b="b"/>
            <a:pathLst>
              <a:path w="8468" h="847">
                <a:moveTo>
                  <a:pt x="0" y="0"/>
                </a:moveTo>
                <a:lnTo>
                  <a:pt x="8468" y="0"/>
                </a:lnTo>
                <a:lnTo>
                  <a:pt x="846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Freeform: Shape 626"/>
          <p:cNvSpPr/>
          <p:nvPr/>
        </p:nvSpPr>
        <p:spPr>
          <a:xfrm>
            <a:off x="811296" y="2971728"/>
            <a:ext cx="1474848" cy="365904"/>
          </a:xfrm>
          <a:custGeom>
            <a:avLst/>
            <a:gdLst/>
            <a:ahLst/>
            <a:cxnLst/>
            <a:rect l="0" t="0" r="r" b="b"/>
            <a:pathLst>
              <a:path w="3414" h="847">
                <a:moveTo>
                  <a:pt x="0" y="0"/>
                </a:moveTo>
                <a:lnTo>
                  <a:pt x="3414" y="0"/>
                </a:lnTo>
                <a:lnTo>
                  <a:pt x="341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Freeform: Shape 627"/>
          <p:cNvSpPr/>
          <p:nvPr/>
        </p:nvSpPr>
        <p:spPr>
          <a:xfrm>
            <a:off x="2285712" y="2971728"/>
            <a:ext cx="3658176" cy="365904"/>
          </a:xfrm>
          <a:custGeom>
            <a:avLst/>
            <a:gdLst/>
            <a:ahLst/>
            <a:cxnLst/>
            <a:rect l="0" t="0" r="r" b="b"/>
            <a:pathLst>
              <a:path w="8468" h="847">
                <a:moveTo>
                  <a:pt x="0" y="0"/>
                </a:moveTo>
                <a:lnTo>
                  <a:pt x="8468" y="0"/>
                </a:lnTo>
                <a:lnTo>
                  <a:pt x="846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Freeform: Shape 628"/>
          <p:cNvSpPr/>
          <p:nvPr/>
        </p:nvSpPr>
        <p:spPr>
          <a:xfrm>
            <a:off x="811296" y="3703104"/>
            <a:ext cx="1474848" cy="366336"/>
          </a:xfrm>
          <a:custGeom>
            <a:avLst/>
            <a:gdLst/>
            <a:ahLst/>
            <a:cxnLst/>
            <a:rect l="0" t="0" r="r" b="b"/>
            <a:pathLst>
              <a:path w="3414" h="848">
                <a:moveTo>
                  <a:pt x="0" y="0"/>
                </a:moveTo>
                <a:lnTo>
                  <a:pt x="3414" y="0"/>
                </a:lnTo>
                <a:lnTo>
                  <a:pt x="341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Freeform: Shape 629"/>
          <p:cNvSpPr/>
          <p:nvPr/>
        </p:nvSpPr>
        <p:spPr>
          <a:xfrm>
            <a:off x="2285712" y="3703104"/>
            <a:ext cx="3658176" cy="366336"/>
          </a:xfrm>
          <a:custGeom>
            <a:avLst/>
            <a:gdLst/>
            <a:ahLst/>
            <a:cxnLst/>
            <a:rect l="0" t="0" r="r" b="b"/>
            <a:pathLst>
              <a:path w="8468" h="848">
                <a:moveTo>
                  <a:pt x="0" y="0"/>
                </a:moveTo>
                <a:lnTo>
                  <a:pt x="8468" y="0"/>
                </a:lnTo>
                <a:lnTo>
                  <a:pt x="84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Freeform: Shape 630"/>
          <p:cNvSpPr/>
          <p:nvPr/>
        </p:nvSpPr>
        <p:spPr>
          <a:xfrm>
            <a:off x="800064" y="188568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" name="Freeform: Shape 631"/>
          <p:cNvSpPr/>
          <p:nvPr/>
        </p:nvSpPr>
        <p:spPr>
          <a:xfrm>
            <a:off x="800064" y="1885680"/>
            <a:ext cx="1486080" cy="12096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" name="Freeform: Shape 632"/>
          <p:cNvSpPr/>
          <p:nvPr/>
        </p:nvSpPr>
        <p:spPr>
          <a:xfrm>
            <a:off x="2274480" y="188568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Freeform: Shape 633"/>
          <p:cNvSpPr/>
          <p:nvPr/>
        </p:nvSpPr>
        <p:spPr>
          <a:xfrm>
            <a:off x="2285712" y="1885680"/>
            <a:ext cx="3669408" cy="12096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Freeform: Shape 634"/>
          <p:cNvSpPr/>
          <p:nvPr/>
        </p:nvSpPr>
        <p:spPr>
          <a:xfrm>
            <a:off x="5943456" y="188568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Freeform: Shape 635"/>
          <p:cNvSpPr/>
          <p:nvPr/>
        </p:nvSpPr>
        <p:spPr>
          <a:xfrm>
            <a:off x="800064" y="2239920"/>
            <a:ext cx="1486080" cy="12096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" name="Freeform: Shape 636"/>
          <p:cNvSpPr/>
          <p:nvPr/>
        </p:nvSpPr>
        <p:spPr>
          <a:xfrm>
            <a:off x="2285712" y="2239920"/>
            <a:ext cx="3669408" cy="12096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Freeform: Shape 637"/>
          <p:cNvSpPr/>
          <p:nvPr/>
        </p:nvSpPr>
        <p:spPr>
          <a:xfrm>
            <a:off x="800064" y="2251584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Freeform: Shape 638"/>
          <p:cNvSpPr/>
          <p:nvPr/>
        </p:nvSpPr>
        <p:spPr>
          <a:xfrm>
            <a:off x="2274480" y="2251584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0" name="Freeform: Shape 639"/>
          <p:cNvSpPr/>
          <p:nvPr/>
        </p:nvSpPr>
        <p:spPr>
          <a:xfrm>
            <a:off x="5943456" y="2251584"/>
            <a:ext cx="11664" cy="365904"/>
          </a:xfrm>
          <a:custGeom>
            <a:avLst/>
            <a:gdLst/>
            <a:ahLst/>
            <a:cxn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1" name="Freeform: Shape 640"/>
          <p:cNvSpPr/>
          <p:nvPr/>
        </p:nvSpPr>
        <p:spPr>
          <a:xfrm>
            <a:off x="800064" y="2617056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Freeform: Shape 641"/>
          <p:cNvSpPr/>
          <p:nvPr/>
        </p:nvSpPr>
        <p:spPr>
          <a:xfrm>
            <a:off x="800064" y="2605824"/>
            <a:ext cx="1486080" cy="11664"/>
          </a:xfrm>
          <a:custGeom>
            <a:avLst/>
            <a:gdLst/>
            <a:ahLst/>
            <a:cxn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Freeform: Shape 642"/>
          <p:cNvSpPr/>
          <p:nvPr/>
        </p:nvSpPr>
        <p:spPr>
          <a:xfrm>
            <a:off x="2274480" y="2617056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Freeform: Shape 643"/>
          <p:cNvSpPr/>
          <p:nvPr/>
        </p:nvSpPr>
        <p:spPr>
          <a:xfrm>
            <a:off x="2285712" y="2605824"/>
            <a:ext cx="3669408" cy="11664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Freeform: Shape 644"/>
          <p:cNvSpPr/>
          <p:nvPr/>
        </p:nvSpPr>
        <p:spPr>
          <a:xfrm>
            <a:off x="5943456" y="2617056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Freeform: Shape 645"/>
          <p:cNvSpPr/>
          <p:nvPr/>
        </p:nvSpPr>
        <p:spPr>
          <a:xfrm>
            <a:off x="800064" y="298296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7" name="Freeform: Shape 646"/>
          <p:cNvSpPr/>
          <p:nvPr/>
        </p:nvSpPr>
        <p:spPr>
          <a:xfrm>
            <a:off x="800064" y="2971728"/>
            <a:ext cx="1486080" cy="11664"/>
          </a:xfrm>
          <a:custGeom>
            <a:avLst/>
            <a:gdLst/>
            <a:ahLst/>
            <a:cxn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Freeform: Shape 647"/>
          <p:cNvSpPr/>
          <p:nvPr/>
        </p:nvSpPr>
        <p:spPr>
          <a:xfrm>
            <a:off x="2274480" y="298296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Freeform: Shape 648"/>
          <p:cNvSpPr/>
          <p:nvPr/>
        </p:nvSpPr>
        <p:spPr>
          <a:xfrm>
            <a:off x="2285712" y="2971728"/>
            <a:ext cx="3669408" cy="11664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Freeform: Shape 649"/>
          <p:cNvSpPr/>
          <p:nvPr/>
        </p:nvSpPr>
        <p:spPr>
          <a:xfrm>
            <a:off x="5943456" y="2982960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Freeform: Shape 650"/>
          <p:cNvSpPr/>
          <p:nvPr/>
        </p:nvSpPr>
        <p:spPr>
          <a:xfrm>
            <a:off x="800064" y="3348864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2" name="Freeform: Shape 651"/>
          <p:cNvSpPr/>
          <p:nvPr/>
        </p:nvSpPr>
        <p:spPr>
          <a:xfrm>
            <a:off x="800064" y="3337200"/>
            <a:ext cx="1486080" cy="12096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Freeform: Shape 652"/>
          <p:cNvSpPr/>
          <p:nvPr/>
        </p:nvSpPr>
        <p:spPr>
          <a:xfrm>
            <a:off x="2274480" y="3348864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Freeform: Shape 653"/>
          <p:cNvSpPr/>
          <p:nvPr/>
        </p:nvSpPr>
        <p:spPr>
          <a:xfrm>
            <a:off x="2285712" y="3337200"/>
            <a:ext cx="3669408" cy="12096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5" name="Freeform: Shape 654"/>
          <p:cNvSpPr/>
          <p:nvPr/>
        </p:nvSpPr>
        <p:spPr>
          <a:xfrm>
            <a:off x="5943456" y="3348864"/>
            <a:ext cx="11664" cy="354672"/>
          </a:xfrm>
          <a:custGeom>
            <a:avLst/>
            <a:gdLst/>
            <a:ahLst/>
            <a:cxnLst/>
            <a:rect l="0" t="0" r="r" b="b"/>
            <a:pathLst>
              <a:path w="27" h="821">
                <a:moveTo>
                  <a:pt x="0" y="0"/>
                </a:moveTo>
                <a:lnTo>
                  <a:pt x="27" y="0"/>
                </a:lnTo>
                <a:lnTo>
                  <a:pt x="27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Freeform: Shape 655"/>
          <p:cNvSpPr/>
          <p:nvPr/>
        </p:nvSpPr>
        <p:spPr>
          <a:xfrm>
            <a:off x="800064" y="3703104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7" name="Freeform: Shape 656"/>
          <p:cNvSpPr/>
          <p:nvPr/>
        </p:nvSpPr>
        <p:spPr>
          <a:xfrm>
            <a:off x="800064" y="3691872"/>
            <a:ext cx="1486080" cy="11664"/>
          </a:xfrm>
          <a:custGeom>
            <a:avLst/>
            <a:gdLst/>
            <a:ahLst/>
            <a:cxnLst/>
            <a:rect l="0" t="0" r="r" b="b"/>
            <a:pathLst>
              <a:path w="3440" h="27">
                <a:moveTo>
                  <a:pt x="0" y="0"/>
                </a:moveTo>
                <a:lnTo>
                  <a:pt x="3440" y="0"/>
                </a:lnTo>
                <a:lnTo>
                  <a:pt x="34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Freeform: Shape 657"/>
          <p:cNvSpPr/>
          <p:nvPr/>
        </p:nvSpPr>
        <p:spPr>
          <a:xfrm>
            <a:off x="2274480" y="3703104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Freeform: Shape 658"/>
          <p:cNvSpPr/>
          <p:nvPr/>
        </p:nvSpPr>
        <p:spPr>
          <a:xfrm>
            <a:off x="2285712" y="3691872"/>
            <a:ext cx="3669408" cy="11664"/>
          </a:xfrm>
          <a:custGeom>
            <a:avLst/>
            <a:gdLst/>
            <a:ahLst/>
            <a:cxnLst/>
            <a:rect l="0" t="0" r="r" b="b"/>
            <a:pathLst>
              <a:path w="8494" h="27">
                <a:moveTo>
                  <a:pt x="0" y="0"/>
                </a:moveTo>
                <a:lnTo>
                  <a:pt x="8494" y="0"/>
                </a:lnTo>
                <a:lnTo>
                  <a:pt x="8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Freeform: Shape 659"/>
          <p:cNvSpPr/>
          <p:nvPr/>
        </p:nvSpPr>
        <p:spPr>
          <a:xfrm>
            <a:off x="5943456" y="3703104"/>
            <a:ext cx="11664" cy="366336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1" name="Freeform: Shape 660"/>
          <p:cNvSpPr/>
          <p:nvPr/>
        </p:nvSpPr>
        <p:spPr>
          <a:xfrm>
            <a:off x="800064" y="4057344"/>
            <a:ext cx="1486080" cy="12096"/>
          </a:xfrm>
          <a:custGeom>
            <a:avLst/>
            <a:gdLst/>
            <a:ahLst/>
            <a:cxnLst/>
            <a:rect l="0" t="0" r="r" b="b"/>
            <a:pathLst>
              <a:path w="3440" h="28">
                <a:moveTo>
                  <a:pt x="0" y="0"/>
                </a:moveTo>
                <a:lnTo>
                  <a:pt x="3440" y="0"/>
                </a:lnTo>
                <a:lnTo>
                  <a:pt x="34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Freeform: Shape 661"/>
          <p:cNvSpPr/>
          <p:nvPr/>
        </p:nvSpPr>
        <p:spPr>
          <a:xfrm>
            <a:off x="2285712" y="4057344"/>
            <a:ext cx="3669408" cy="12096"/>
          </a:xfrm>
          <a:custGeom>
            <a:avLst/>
            <a:gdLst/>
            <a:ahLst/>
            <a:cxnLst/>
            <a:rect l="0" t="0" r="r" b="b"/>
            <a:pathLst>
              <a:path w="8494" h="28">
                <a:moveTo>
                  <a:pt x="0" y="0"/>
                </a:moveTo>
                <a:lnTo>
                  <a:pt x="8494" y="0"/>
                </a:lnTo>
                <a:lnTo>
                  <a:pt x="8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3" name="Freeform: Shape 662"/>
          <p:cNvSpPr/>
          <p:nvPr/>
        </p:nvSpPr>
        <p:spPr>
          <a:xfrm>
            <a:off x="800064" y="4708800"/>
            <a:ext cx="13030416" cy="3520800"/>
          </a:xfrm>
          <a:custGeom>
            <a:avLst/>
            <a:gdLst/>
            <a:ahLst/>
            <a:cxnLst/>
            <a:rect l="0" t="0" r="r" b="b"/>
            <a:pathLst>
              <a:path w="30163" h="8150">
                <a:moveTo>
                  <a:pt x="0" y="0"/>
                </a:moveTo>
                <a:lnTo>
                  <a:pt x="30163" y="0"/>
                </a:lnTo>
                <a:lnTo>
                  <a:pt x="30163" y="8150"/>
                </a:lnTo>
                <a:lnTo>
                  <a:pt x="0" y="815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Freeform: Shape 663"/>
          <p:cNvSpPr/>
          <p:nvPr/>
        </p:nvSpPr>
        <p:spPr>
          <a:xfrm>
            <a:off x="842400" y="931392"/>
            <a:ext cx="206928" cy="214704"/>
          </a:xfrm>
          <a:custGeom>
            <a:avLst/>
            <a:gdLst/>
            <a:ahLst/>
            <a:cxnLst/>
            <a:rect l="0" t="0" r="r" b="b"/>
            <a:pathLst>
              <a:path w="479" h="497">
                <a:moveTo>
                  <a:pt x="0" y="140"/>
                </a:moveTo>
                <a:lnTo>
                  <a:pt x="153" y="0"/>
                </a:lnTo>
                <a:lnTo>
                  <a:pt x="460" y="20"/>
                </a:lnTo>
                <a:lnTo>
                  <a:pt x="479" y="338"/>
                </a:lnTo>
                <a:lnTo>
                  <a:pt x="345" y="497"/>
                </a:lnTo>
                <a:cubicBezTo>
                  <a:pt x="345" y="497"/>
                  <a:pt x="345" y="378"/>
                  <a:pt x="230" y="259"/>
                </a:cubicBezTo>
                <a:cubicBezTo>
                  <a:pt x="115" y="140"/>
                  <a:pt x="0" y="140"/>
                  <a:pt x="0" y="140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" name="Freeform: Shape 664"/>
          <p:cNvSpPr/>
          <p:nvPr/>
        </p:nvSpPr>
        <p:spPr>
          <a:xfrm>
            <a:off x="842400" y="1027296"/>
            <a:ext cx="116208" cy="118800"/>
          </a:xfrm>
          <a:custGeom>
            <a:avLst/>
            <a:gdLst/>
            <a:ahLst/>
            <a:cxnLst/>
            <a:rect l="0" t="0" r="r" b="b"/>
            <a:pathLst>
              <a:path w="269" h="275">
                <a:moveTo>
                  <a:pt x="0" y="275"/>
                </a:moveTo>
                <a:cubicBezTo>
                  <a:pt x="0" y="275"/>
                  <a:pt x="-1" y="116"/>
                  <a:pt x="57" y="56"/>
                </a:cubicBezTo>
                <a:cubicBezTo>
                  <a:pt x="115" y="-4"/>
                  <a:pt x="269" y="0"/>
                  <a:pt x="269" y="0"/>
                </a:cubicBezTo>
                <a:cubicBezTo>
                  <a:pt x="269" y="0"/>
                  <a:pt x="269" y="155"/>
                  <a:pt x="211" y="214"/>
                </a:cubicBezTo>
                <a:cubicBezTo>
                  <a:pt x="154" y="275"/>
                  <a:pt x="0" y="275"/>
                  <a:pt x="0" y="27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Freeform: Shape 665"/>
          <p:cNvSpPr/>
          <p:nvPr/>
        </p:nvSpPr>
        <p:spPr>
          <a:xfrm>
            <a:off x="875232" y="1042848"/>
            <a:ext cx="66528" cy="69120"/>
          </a:xfrm>
          <a:custGeom>
            <a:avLst/>
            <a:gdLst/>
            <a:ahLst/>
            <a:cxnLst/>
            <a:rect l="0" t="0" r="r" b="b"/>
            <a:pathLst>
              <a:path w="154" h="160">
                <a:moveTo>
                  <a:pt x="154" y="80"/>
                </a:moveTo>
                <a:cubicBezTo>
                  <a:pt x="154" y="91"/>
                  <a:pt x="152" y="101"/>
                  <a:pt x="149" y="111"/>
                </a:cubicBezTo>
                <a:cubicBezTo>
                  <a:pt x="145" y="120"/>
                  <a:pt x="139" y="129"/>
                  <a:pt x="132" y="136"/>
                </a:cubicBezTo>
                <a:cubicBezTo>
                  <a:pt x="125" y="144"/>
                  <a:pt x="117" y="150"/>
                  <a:pt x="107" y="154"/>
                </a:cubicBezTo>
                <a:cubicBezTo>
                  <a:pt x="98" y="158"/>
                  <a:pt x="88" y="160"/>
                  <a:pt x="78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8" y="2"/>
                  <a:pt x="68" y="0"/>
                  <a:pt x="78" y="0"/>
                </a:cubicBezTo>
                <a:cubicBezTo>
                  <a:pt x="88" y="0"/>
                  <a:pt x="98" y="2"/>
                  <a:pt x="107" y="6"/>
                </a:cubicBezTo>
                <a:cubicBezTo>
                  <a:pt x="117" y="10"/>
                  <a:pt x="125" y="16"/>
                  <a:pt x="132" y="23"/>
                </a:cubicBezTo>
                <a:cubicBezTo>
                  <a:pt x="139" y="31"/>
                  <a:pt x="145" y="40"/>
                  <a:pt x="149" y="50"/>
                </a:cubicBezTo>
                <a:cubicBezTo>
                  <a:pt x="152" y="60"/>
                  <a:pt x="154" y="70"/>
                  <a:pt x="154" y="8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Freeform: Shape 666"/>
          <p:cNvSpPr/>
          <p:nvPr/>
        </p:nvSpPr>
        <p:spPr>
          <a:xfrm>
            <a:off x="906768" y="845424"/>
            <a:ext cx="225072" cy="233712"/>
          </a:xfrm>
          <a:custGeom>
            <a:avLst/>
            <a:gdLst/>
            <a:ahLst/>
            <a:cxnLst/>
            <a:rect l="0" t="0" r="r" b="b"/>
            <a:pathLst>
              <a:path w="521" h="541">
                <a:moveTo>
                  <a:pt x="521" y="0"/>
                </a:moveTo>
                <a:cubicBezTo>
                  <a:pt x="521" y="0"/>
                  <a:pt x="330" y="0"/>
                  <a:pt x="99" y="199"/>
                </a:cubicBezTo>
                <a:cubicBezTo>
                  <a:pt x="-15" y="298"/>
                  <a:pt x="-15" y="478"/>
                  <a:pt x="23" y="517"/>
                </a:cubicBezTo>
                <a:cubicBezTo>
                  <a:pt x="61" y="557"/>
                  <a:pt x="233" y="557"/>
                  <a:pt x="330" y="437"/>
                </a:cubicBezTo>
                <a:cubicBezTo>
                  <a:pt x="521" y="199"/>
                  <a:pt x="521" y="0"/>
                  <a:pt x="521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Freeform: Shape 667"/>
          <p:cNvSpPr/>
          <p:nvPr/>
        </p:nvSpPr>
        <p:spPr>
          <a:xfrm>
            <a:off x="1026864" y="888624"/>
            <a:ext cx="63504" cy="65664"/>
          </a:xfrm>
          <a:custGeom>
            <a:avLst/>
            <a:gdLst/>
            <a:ahLst/>
            <a:cxnLst/>
            <a:rect l="0" t="0" r="r" b="b"/>
            <a:pathLst>
              <a:path w="147" h="152">
                <a:moveTo>
                  <a:pt x="71" y="0"/>
                </a:moveTo>
                <a:cubicBezTo>
                  <a:pt x="40" y="0"/>
                  <a:pt x="12" y="19"/>
                  <a:pt x="0" y="46"/>
                </a:cubicBezTo>
                <a:cubicBezTo>
                  <a:pt x="10" y="42"/>
                  <a:pt x="20" y="39"/>
                  <a:pt x="33" y="39"/>
                </a:cubicBezTo>
                <a:cubicBezTo>
                  <a:pt x="75" y="39"/>
                  <a:pt x="109" y="75"/>
                  <a:pt x="109" y="119"/>
                </a:cubicBezTo>
                <a:cubicBezTo>
                  <a:pt x="109" y="130"/>
                  <a:pt x="107" y="142"/>
                  <a:pt x="102" y="152"/>
                </a:cubicBezTo>
                <a:cubicBezTo>
                  <a:pt x="129" y="140"/>
                  <a:pt x="147" y="111"/>
                  <a:pt x="147" y="79"/>
                </a:cubicBezTo>
                <a:cubicBezTo>
                  <a:pt x="147" y="35"/>
                  <a:pt x="113" y="0"/>
                  <a:pt x="71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Freeform: Shape 668"/>
          <p:cNvSpPr/>
          <p:nvPr/>
        </p:nvSpPr>
        <p:spPr>
          <a:xfrm>
            <a:off x="900288" y="956448"/>
            <a:ext cx="124416" cy="129600"/>
          </a:xfrm>
          <a:custGeom>
            <a:avLst/>
            <a:gdLst/>
            <a:ahLst/>
            <a:cxnLst/>
            <a:rect l="0" t="0" r="r" b="b"/>
            <a:pathLst>
              <a:path w="288" h="300">
                <a:moveTo>
                  <a:pt x="0" y="300"/>
                </a:moveTo>
                <a:cubicBezTo>
                  <a:pt x="0" y="300"/>
                  <a:pt x="0" y="221"/>
                  <a:pt x="19" y="201"/>
                </a:cubicBezTo>
                <a:cubicBezTo>
                  <a:pt x="38" y="181"/>
                  <a:pt x="268" y="-18"/>
                  <a:pt x="287" y="1"/>
                </a:cubicBezTo>
                <a:cubicBezTo>
                  <a:pt x="307" y="21"/>
                  <a:pt x="115" y="260"/>
                  <a:pt x="96" y="280"/>
                </a:cubicBezTo>
                <a:cubicBezTo>
                  <a:pt x="77" y="300"/>
                  <a:pt x="0" y="300"/>
                  <a:pt x="0" y="300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TextBox 669"/>
          <p:cNvSpPr txBox="1"/>
          <p:nvPr/>
        </p:nvSpPr>
        <p:spPr>
          <a:xfrm>
            <a:off x="1146961" y="794449"/>
            <a:ext cx="3559501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Kubernetes Architecture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TextBox 670"/>
          <p:cNvSpPr txBox="1"/>
          <p:nvPr/>
        </p:nvSpPr>
        <p:spPr>
          <a:xfrm>
            <a:off x="800064" y="1406161"/>
            <a:ext cx="133652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Key Concepts: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TextBox 671"/>
          <p:cNvSpPr txBox="1"/>
          <p:nvPr/>
        </p:nvSpPr>
        <p:spPr>
          <a:xfrm>
            <a:off x="1105489" y="1931905"/>
            <a:ext cx="78707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FFF8E1"/>
                </a:solidFill>
                <a:latin typeface="SegoeUI"/>
                <a:ea typeface="SegoeUI"/>
              </a:rPr>
              <a:t>Concept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TextBox 672"/>
          <p:cNvSpPr txBox="1"/>
          <p:nvPr/>
        </p:nvSpPr>
        <p:spPr>
          <a:xfrm>
            <a:off x="3680641" y="1931905"/>
            <a:ext cx="77905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FFF8E1"/>
                </a:solidFill>
                <a:latin typeface="SegoeUI"/>
                <a:ea typeface="SegoeUI"/>
              </a:rPr>
              <a:t>Purpose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TextBox 673"/>
          <p:cNvSpPr txBox="1"/>
          <p:nvPr/>
        </p:nvSpPr>
        <p:spPr>
          <a:xfrm>
            <a:off x="892080" y="2297377"/>
            <a:ext cx="3674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Pod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TextBox 674"/>
          <p:cNvSpPr txBox="1"/>
          <p:nvPr/>
        </p:nvSpPr>
        <p:spPr>
          <a:xfrm>
            <a:off x="2370385" y="2297377"/>
            <a:ext cx="275235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Smallest unit (wraps container)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TextBox 675"/>
          <p:cNvSpPr txBox="1"/>
          <p:nvPr/>
        </p:nvSpPr>
        <p:spPr>
          <a:xfrm>
            <a:off x="892080" y="2663281"/>
            <a:ext cx="117500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Deployment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2370385" y="2663281"/>
            <a:ext cx="227036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Manages replicas of Pods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TextBox 677"/>
          <p:cNvSpPr txBox="1"/>
          <p:nvPr/>
        </p:nvSpPr>
        <p:spPr>
          <a:xfrm>
            <a:off x="892081" y="3017521"/>
            <a:ext cx="73738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Ser vice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TextBox 678"/>
          <p:cNvSpPr txBox="1"/>
          <p:nvPr/>
        </p:nvSpPr>
        <p:spPr>
          <a:xfrm>
            <a:off x="2370384" y="3017521"/>
            <a:ext cx="222484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Exposes Pods to network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TextBox 679"/>
          <p:cNvSpPr txBox="1"/>
          <p:nvPr/>
        </p:nvSpPr>
        <p:spPr>
          <a:xfrm>
            <a:off x="892080" y="3383425"/>
            <a:ext cx="10976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Namespace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2370385" y="3383425"/>
            <a:ext cx="243791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Virtual clusters (separation)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TextBox 681"/>
          <p:cNvSpPr txBox="1"/>
          <p:nvPr/>
        </p:nvSpPr>
        <p:spPr>
          <a:xfrm>
            <a:off x="892080" y="3749329"/>
            <a:ext cx="51937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Node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TextBox 682"/>
          <p:cNvSpPr txBox="1"/>
          <p:nvPr/>
        </p:nvSpPr>
        <p:spPr>
          <a:xfrm>
            <a:off x="2370385" y="3749329"/>
            <a:ext cx="303070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Physical/virtual machine in cluster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TextBox 683"/>
          <p:cNvSpPr txBox="1"/>
          <p:nvPr/>
        </p:nvSpPr>
        <p:spPr>
          <a:xfrm>
            <a:off x="800064" y="4275073"/>
            <a:ext cx="2700226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Deployment YAML Example: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TextBox 684"/>
          <p:cNvSpPr txBox="1"/>
          <p:nvPr/>
        </p:nvSpPr>
        <p:spPr>
          <a:xfrm>
            <a:off x="870480" y="4809024"/>
            <a:ext cx="124393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apiVersion: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apps/v1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TextBox 685"/>
          <p:cNvSpPr txBox="1"/>
          <p:nvPr/>
        </p:nvSpPr>
        <p:spPr>
          <a:xfrm>
            <a:off x="870480" y="5003424"/>
            <a:ext cx="109645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kind: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Deployment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TextBox 686"/>
          <p:cNvSpPr txBox="1"/>
          <p:nvPr/>
        </p:nvSpPr>
        <p:spPr>
          <a:xfrm>
            <a:off x="870480" y="5186160"/>
            <a:ext cx="63158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metadata: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TextBox 687"/>
          <p:cNvSpPr txBox="1"/>
          <p:nvPr/>
        </p:nvSpPr>
        <p:spPr>
          <a:xfrm>
            <a:off x="870480" y="5380560"/>
            <a:ext cx="124393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name: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TextBox 688"/>
          <p:cNvSpPr txBox="1"/>
          <p:nvPr/>
        </p:nvSpPr>
        <p:spPr>
          <a:xfrm>
            <a:off x="870480" y="5574960"/>
            <a:ext cx="33823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spec: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TextBox 689"/>
          <p:cNvSpPr txBox="1"/>
          <p:nvPr/>
        </p:nvSpPr>
        <p:spPr>
          <a:xfrm>
            <a:off x="870481" y="5757696"/>
            <a:ext cx="72616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replicas: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3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TextBox 690"/>
          <p:cNvSpPr txBox="1"/>
          <p:nvPr/>
        </p:nvSpPr>
        <p:spPr>
          <a:xfrm>
            <a:off x="870480" y="5952096"/>
            <a:ext cx="61555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selector: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TextBox 691"/>
          <p:cNvSpPr txBox="1"/>
          <p:nvPr/>
        </p:nvSpPr>
        <p:spPr>
          <a:xfrm>
            <a:off x="870480" y="6134832"/>
            <a:ext cx="100348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matchLabels: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870480" y="6329232"/>
            <a:ext cx="128560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app: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TextBox 693"/>
          <p:cNvSpPr txBox="1"/>
          <p:nvPr/>
        </p:nvSpPr>
        <p:spPr>
          <a:xfrm>
            <a:off x="870481" y="6523632"/>
            <a:ext cx="66524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template: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TextBox 694"/>
          <p:cNvSpPr txBox="1"/>
          <p:nvPr/>
        </p:nvSpPr>
        <p:spPr>
          <a:xfrm>
            <a:off x="870480" y="6706368"/>
            <a:ext cx="79188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metadata: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TextBox 695"/>
          <p:cNvSpPr txBox="1"/>
          <p:nvPr/>
        </p:nvSpPr>
        <p:spPr>
          <a:xfrm>
            <a:off x="870481" y="6900768"/>
            <a:ext cx="65081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labels: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TextBox 696"/>
          <p:cNvSpPr txBox="1"/>
          <p:nvPr/>
        </p:nvSpPr>
        <p:spPr>
          <a:xfrm>
            <a:off x="870480" y="7083504"/>
            <a:ext cx="136575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app: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TextBox 697"/>
          <p:cNvSpPr txBox="1"/>
          <p:nvPr/>
        </p:nvSpPr>
        <p:spPr>
          <a:xfrm>
            <a:off x="870480" y="7277904"/>
            <a:ext cx="49853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spec: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TextBox 698"/>
          <p:cNvSpPr txBox="1"/>
          <p:nvPr/>
        </p:nvSpPr>
        <p:spPr>
          <a:xfrm>
            <a:off x="870480" y="7472304"/>
            <a:ext cx="9329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containers: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TextBox 699"/>
          <p:cNvSpPr txBox="1"/>
          <p:nvPr/>
        </p:nvSpPr>
        <p:spPr>
          <a:xfrm>
            <a:off x="870480" y="7655040"/>
            <a:ext cx="149079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-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name: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add-service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TextBox 700"/>
          <p:cNvSpPr txBox="1"/>
          <p:nvPr/>
        </p:nvSpPr>
        <p:spPr>
          <a:xfrm>
            <a:off x="870480" y="7849440"/>
            <a:ext cx="355385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image: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youruser/calculator-microservices-add:latest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TextBox 701"/>
          <p:cNvSpPr txBox="1"/>
          <p:nvPr/>
        </p:nvSpPr>
        <p:spPr>
          <a:xfrm>
            <a:off x="870481" y="8043840"/>
            <a:ext cx="67486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ports: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TextBox 702"/>
          <p:cNvSpPr txBox="1"/>
          <p:nvPr/>
        </p:nvSpPr>
        <p:spPr>
          <a:xfrm>
            <a:off x="14243472" y="7712929"/>
            <a:ext cx="86562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9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Freeform: Shape 70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Freeform: Shape 704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Freeform: Shape 705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Freeform: Shape 706"/>
          <p:cNvSpPr/>
          <p:nvPr/>
        </p:nvSpPr>
        <p:spPr>
          <a:xfrm>
            <a:off x="800064" y="1839888"/>
            <a:ext cx="13030416" cy="6218640"/>
          </a:xfrm>
          <a:custGeom>
            <a:avLst/>
            <a:gdLst/>
            <a:ahLst/>
            <a:cxnLst/>
            <a:rect l="0" t="0" r="r" b="b"/>
            <a:pathLst>
              <a:path w="30163" h="14395">
                <a:moveTo>
                  <a:pt x="0" y="0"/>
                </a:moveTo>
                <a:lnTo>
                  <a:pt x="30163" y="0"/>
                </a:lnTo>
                <a:lnTo>
                  <a:pt x="30163" y="14395"/>
                </a:lnTo>
                <a:lnTo>
                  <a:pt x="0" y="14395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Freeform: Shape 707"/>
          <p:cNvSpPr/>
          <p:nvPr/>
        </p:nvSpPr>
        <p:spPr>
          <a:xfrm>
            <a:off x="834192" y="845424"/>
            <a:ext cx="297648" cy="309312"/>
          </a:xfrm>
          <a:custGeom>
            <a:avLst/>
            <a:gdLst/>
            <a:ahLst/>
            <a:cxnLst/>
            <a:rect l="0" t="0" r="r" b="b"/>
            <a:pathLst>
              <a:path w="689" h="716">
                <a:moveTo>
                  <a:pt x="689" y="358"/>
                </a:moveTo>
                <a:cubicBezTo>
                  <a:pt x="689" y="381"/>
                  <a:pt x="687" y="404"/>
                  <a:pt x="682" y="427"/>
                </a:cubicBezTo>
                <a:cubicBezTo>
                  <a:pt x="678" y="450"/>
                  <a:pt x="671" y="473"/>
                  <a:pt x="663" y="494"/>
                </a:cubicBezTo>
                <a:cubicBezTo>
                  <a:pt x="654" y="516"/>
                  <a:pt x="643" y="537"/>
                  <a:pt x="631" y="557"/>
                </a:cubicBezTo>
                <a:cubicBezTo>
                  <a:pt x="618" y="577"/>
                  <a:pt x="604" y="595"/>
                  <a:pt x="588" y="611"/>
                </a:cubicBezTo>
                <a:cubicBezTo>
                  <a:pt x="572" y="628"/>
                  <a:pt x="555" y="643"/>
                  <a:pt x="536" y="656"/>
                </a:cubicBezTo>
                <a:cubicBezTo>
                  <a:pt x="517" y="669"/>
                  <a:pt x="497" y="680"/>
                  <a:pt x="477" y="689"/>
                </a:cubicBezTo>
                <a:cubicBezTo>
                  <a:pt x="455" y="698"/>
                  <a:pt x="433" y="704"/>
                  <a:pt x="411" y="709"/>
                </a:cubicBezTo>
                <a:cubicBezTo>
                  <a:pt x="389" y="714"/>
                  <a:pt x="367" y="716"/>
                  <a:pt x="344" y="716"/>
                </a:cubicBezTo>
                <a:cubicBezTo>
                  <a:pt x="321" y="716"/>
                  <a:pt x="299" y="714"/>
                  <a:pt x="277" y="709"/>
                </a:cubicBezTo>
                <a:cubicBezTo>
                  <a:pt x="255" y="704"/>
                  <a:pt x="233" y="698"/>
                  <a:pt x="212" y="689"/>
                </a:cubicBezTo>
                <a:cubicBezTo>
                  <a:pt x="191" y="680"/>
                  <a:pt x="172" y="669"/>
                  <a:pt x="153" y="656"/>
                </a:cubicBezTo>
                <a:cubicBezTo>
                  <a:pt x="134" y="643"/>
                  <a:pt x="117" y="628"/>
                  <a:pt x="101" y="611"/>
                </a:cubicBezTo>
                <a:cubicBezTo>
                  <a:pt x="85" y="595"/>
                  <a:pt x="70" y="577"/>
                  <a:pt x="58" y="557"/>
                </a:cubicBezTo>
                <a:cubicBezTo>
                  <a:pt x="45" y="537"/>
                  <a:pt x="35" y="516"/>
                  <a:pt x="26" y="494"/>
                </a:cubicBezTo>
                <a:cubicBezTo>
                  <a:pt x="17" y="473"/>
                  <a:pt x="11" y="450"/>
                  <a:pt x="7" y="427"/>
                </a:cubicBezTo>
                <a:cubicBezTo>
                  <a:pt x="2" y="404"/>
                  <a:pt x="0" y="381"/>
                  <a:pt x="0" y="358"/>
                </a:cubicBezTo>
                <a:cubicBezTo>
                  <a:pt x="0" y="334"/>
                  <a:pt x="2" y="311"/>
                  <a:pt x="7" y="288"/>
                </a:cubicBezTo>
                <a:cubicBezTo>
                  <a:pt x="11" y="265"/>
                  <a:pt x="17" y="243"/>
                  <a:pt x="26" y="221"/>
                </a:cubicBezTo>
                <a:cubicBezTo>
                  <a:pt x="35" y="199"/>
                  <a:pt x="45" y="179"/>
                  <a:pt x="58" y="159"/>
                </a:cubicBezTo>
                <a:cubicBezTo>
                  <a:pt x="70" y="140"/>
                  <a:pt x="85" y="122"/>
                  <a:pt x="101" y="105"/>
                </a:cubicBezTo>
                <a:cubicBezTo>
                  <a:pt x="117" y="88"/>
                  <a:pt x="134" y="74"/>
                  <a:pt x="153" y="61"/>
                </a:cubicBezTo>
                <a:cubicBezTo>
                  <a:pt x="172" y="48"/>
                  <a:pt x="191" y="37"/>
                  <a:pt x="212" y="28"/>
                </a:cubicBezTo>
                <a:cubicBezTo>
                  <a:pt x="233" y="19"/>
                  <a:pt x="255" y="12"/>
                  <a:pt x="277" y="7"/>
                </a:cubicBezTo>
                <a:cubicBezTo>
                  <a:pt x="299" y="3"/>
                  <a:pt x="321" y="0"/>
                  <a:pt x="344" y="0"/>
                </a:cubicBezTo>
                <a:cubicBezTo>
                  <a:pt x="367" y="0"/>
                  <a:pt x="389" y="3"/>
                  <a:pt x="411" y="7"/>
                </a:cubicBezTo>
                <a:cubicBezTo>
                  <a:pt x="433" y="12"/>
                  <a:pt x="455" y="19"/>
                  <a:pt x="477" y="28"/>
                </a:cubicBezTo>
                <a:cubicBezTo>
                  <a:pt x="497" y="37"/>
                  <a:pt x="517" y="48"/>
                  <a:pt x="536" y="61"/>
                </a:cubicBezTo>
                <a:cubicBezTo>
                  <a:pt x="555" y="74"/>
                  <a:pt x="572" y="88"/>
                  <a:pt x="588" y="105"/>
                </a:cubicBezTo>
                <a:cubicBezTo>
                  <a:pt x="604" y="122"/>
                  <a:pt x="618" y="140"/>
                  <a:pt x="631" y="159"/>
                </a:cubicBezTo>
                <a:cubicBezTo>
                  <a:pt x="643" y="179"/>
                  <a:pt x="654" y="199"/>
                  <a:pt x="663" y="221"/>
                </a:cubicBezTo>
                <a:cubicBezTo>
                  <a:pt x="671" y="243"/>
                  <a:pt x="678" y="265"/>
                  <a:pt x="682" y="288"/>
                </a:cubicBezTo>
                <a:cubicBezTo>
                  <a:pt x="687" y="311"/>
                  <a:pt x="689" y="334"/>
                  <a:pt x="689" y="3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Freeform: Shape 708"/>
          <p:cNvSpPr/>
          <p:nvPr/>
        </p:nvSpPr>
        <p:spPr>
          <a:xfrm>
            <a:off x="871344" y="884304"/>
            <a:ext cx="223344" cy="231552"/>
          </a:xfrm>
          <a:custGeom>
            <a:avLst/>
            <a:gdLst/>
            <a:ahLst/>
            <a:cxnLst/>
            <a:rect l="0" t="0" r="r" b="b"/>
            <a:pathLst>
              <a:path w="517" h="536">
                <a:moveTo>
                  <a:pt x="517" y="268"/>
                </a:moveTo>
                <a:cubicBezTo>
                  <a:pt x="517" y="285"/>
                  <a:pt x="515" y="303"/>
                  <a:pt x="512" y="320"/>
                </a:cubicBezTo>
                <a:cubicBezTo>
                  <a:pt x="509" y="337"/>
                  <a:pt x="504" y="354"/>
                  <a:pt x="497" y="371"/>
                </a:cubicBezTo>
                <a:cubicBezTo>
                  <a:pt x="491" y="387"/>
                  <a:pt x="483" y="403"/>
                  <a:pt x="473" y="417"/>
                </a:cubicBezTo>
                <a:cubicBezTo>
                  <a:pt x="464" y="432"/>
                  <a:pt x="453" y="446"/>
                  <a:pt x="441" y="458"/>
                </a:cubicBezTo>
                <a:cubicBezTo>
                  <a:pt x="429" y="470"/>
                  <a:pt x="416" y="482"/>
                  <a:pt x="402" y="491"/>
                </a:cubicBezTo>
                <a:cubicBezTo>
                  <a:pt x="388" y="501"/>
                  <a:pt x="373" y="509"/>
                  <a:pt x="358" y="516"/>
                </a:cubicBezTo>
                <a:cubicBezTo>
                  <a:pt x="342" y="523"/>
                  <a:pt x="326" y="528"/>
                  <a:pt x="309" y="531"/>
                </a:cubicBezTo>
                <a:cubicBezTo>
                  <a:pt x="292" y="535"/>
                  <a:pt x="275" y="536"/>
                  <a:pt x="258" y="536"/>
                </a:cubicBezTo>
                <a:cubicBezTo>
                  <a:pt x="241" y="536"/>
                  <a:pt x="224" y="535"/>
                  <a:pt x="208" y="531"/>
                </a:cubicBezTo>
                <a:cubicBezTo>
                  <a:pt x="191" y="528"/>
                  <a:pt x="175" y="523"/>
                  <a:pt x="159" y="516"/>
                </a:cubicBezTo>
                <a:cubicBezTo>
                  <a:pt x="144" y="509"/>
                  <a:pt x="129" y="501"/>
                  <a:pt x="115" y="491"/>
                </a:cubicBezTo>
                <a:cubicBezTo>
                  <a:pt x="101" y="482"/>
                  <a:pt x="87" y="470"/>
                  <a:pt x="76" y="458"/>
                </a:cubicBezTo>
                <a:cubicBezTo>
                  <a:pt x="64" y="446"/>
                  <a:pt x="53" y="432"/>
                  <a:pt x="43" y="417"/>
                </a:cubicBezTo>
                <a:cubicBezTo>
                  <a:pt x="34" y="403"/>
                  <a:pt x="26" y="387"/>
                  <a:pt x="20" y="371"/>
                </a:cubicBezTo>
                <a:cubicBezTo>
                  <a:pt x="13" y="354"/>
                  <a:pt x="8" y="337"/>
                  <a:pt x="5" y="320"/>
                </a:cubicBezTo>
                <a:cubicBezTo>
                  <a:pt x="2" y="303"/>
                  <a:pt x="0" y="285"/>
                  <a:pt x="0" y="268"/>
                </a:cubicBezTo>
                <a:cubicBezTo>
                  <a:pt x="0" y="250"/>
                  <a:pt x="2" y="233"/>
                  <a:pt x="5" y="215"/>
                </a:cubicBezTo>
                <a:cubicBezTo>
                  <a:pt x="8" y="198"/>
                  <a:pt x="13" y="181"/>
                  <a:pt x="20" y="165"/>
                </a:cubicBezTo>
                <a:cubicBezTo>
                  <a:pt x="26" y="149"/>
                  <a:pt x="34" y="133"/>
                  <a:pt x="43" y="119"/>
                </a:cubicBezTo>
                <a:cubicBezTo>
                  <a:pt x="53" y="104"/>
                  <a:pt x="64" y="91"/>
                  <a:pt x="76" y="78"/>
                </a:cubicBezTo>
                <a:cubicBezTo>
                  <a:pt x="87" y="66"/>
                  <a:pt x="101" y="55"/>
                  <a:pt x="115" y="45"/>
                </a:cubicBezTo>
                <a:cubicBezTo>
                  <a:pt x="129" y="35"/>
                  <a:pt x="144" y="27"/>
                  <a:pt x="159" y="20"/>
                </a:cubicBezTo>
                <a:cubicBezTo>
                  <a:pt x="175" y="13"/>
                  <a:pt x="191" y="8"/>
                  <a:pt x="208" y="5"/>
                </a:cubicBezTo>
                <a:cubicBezTo>
                  <a:pt x="224" y="1"/>
                  <a:pt x="241" y="0"/>
                  <a:pt x="258" y="0"/>
                </a:cubicBezTo>
                <a:cubicBezTo>
                  <a:pt x="275" y="0"/>
                  <a:pt x="292" y="1"/>
                  <a:pt x="309" y="5"/>
                </a:cubicBezTo>
                <a:cubicBezTo>
                  <a:pt x="326" y="8"/>
                  <a:pt x="342" y="13"/>
                  <a:pt x="358" y="20"/>
                </a:cubicBezTo>
                <a:cubicBezTo>
                  <a:pt x="373" y="27"/>
                  <a:pt x="388" y="35"/>
                  <a:pt x="402" y="45"/>
                </a:cubicBezTo>
                <a:cubicBezTo>
                  <a:pt x="416" y="55"/>
                  <a:pt x="429" y="66"/>
                  <a:pt x="441" y="78"/>
                </a:cubicBezTo>
                <a:cubicBezTo>
                  <a:pt x="453" y="91"/>
                  <a:pt x="464" y="104"/>
                  <a:pt x="473" y="119"/>
                </a:cubicBezTo>
                <a:cubicBezTo>
                  <a:pt x="483" y="133"/>
                  <a:pt x="491" y="149"/>
                  <a:pt x="497" y="165"/>
                </a:cubicBezTo>
                <a:cubicBezTo>
                  <a:pt x="504" y="181"/>
                  <a:pt x="509" y="198"/>
                  <a:pt x="512" y="215"/>
                </a:cubicBezTo>
                <a:cubicBezTo>
                  <a:pt x="515" y="233"/>
                  <a:pt x="517" y="250"/>
                  <a:pt x="517" y="2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Freeform: Shape 709"/>
          <p:cNvSpPr/>
          <p:nvPr/>
        </p:nvSpPr>
        <p:spPr>
          <a:xfrm>
            <a:off x="900288" y="914112"/>
            <a:ext cx="165456" cy="171936"/>
          </a:xfrm>
          <a:custGeom>
            <a:avLst/>
            <a:gdLst/>
            <a:ahLst/>
            <a:cxnLst/>
            <a:rect l="0" t="0" r="r" b="b"/>
            <a:pathLst>
              <a:path w="383" h="398">
                <a:moveTo>
                  <a:pt x="383" y="200"/>
                </a:moveTo>
                <a:cubicBezTo>
                  <a:pt x="383" y="213"/>
                  <a:pt x="382" y="226"/>
                  <a:pt x="379" y="238"/>
                </a:cubicBezTo>
                <a:cubicBezTo>
                  <a:pt x="377" y="251"/>
                  <a:pt x="373" y="264"/>
                  <a:pt x="368" y="276"/>
                </a:cubicBezTo>
                <a:cubicBezTo>
                  <a:pt x="364" y="288"/>
                  <a:pt x="358" y="299"/>
                  <a:pt x="351" y="310"/>
                </a:cubicBezTo>
                <a:cubicBezTo>
                  <a:pt x="344" y="321"/>
                  <a:pt x="336" y="331"/>
                  <a:pt x="327" y="340"/>
                </a:cubicBezTo>
                <a:cubicBezTo>
                  <a:pt x="318" y="349"/>
                  <a:pt x="309" y="357"/>
                  <a:pt x="298" y="365"/>
                </a:cubicBezTo>
                <a:cubicBezTo>
                  <a:pt x="288" y="372"/>
                  <a:pt x="277" y="378"/>
                  <a:pt x="265" y="383"/>
                </a:cubicBezTo>
                <a:cubicBezTo>
                  <a:pt x="253" y="388"/>
                  <a:pt x="242" y="392"/>
                  <a:pt x="229" y="394"/>
                </a:cubicBezTo>
                <a:cubicBezTo>
                  <a:pt x="217" y="397"/>
                  <a:pt x="204" y="398"/>
                  <a:pt x="192" y="398"/>
                </a:cubicBezTo>
                <a:cubicBezTo>
                  <a:pt x="179" y="398"/>
                  <a:pt x="167" y="397"/>
                  <a:pt x="155" y="394"/>
                </a:cubicBezTo>
                <a:cubicBezTo>
                  <a:pt x="142" y="392"/>
                  <a:pt x="130" y="388"/>
                  <a:pt x="119" y="383"/>
                </a:cubicBezTo>
                <a:cubicBezTo>
                  <a:pt x="107" y="378"/>
                  <a:pt x="96" y="372"/>
                  <a:pt x="86" y="365"/>
                </a:cubicBezTo>
                <a:cubicBezTo>
                  <a:pt x="75" y="357"/>
                  <a:pt x="66" y="349"/>
                  <a:pt x="57" y="340"/>
                </a:cubicBezTo>
                <a:cubicBezTo>
                  <a:pt x="48" y="331"/>
                  <a:pt x="40" y="321"/>
                  <a:pt x="33" y="310"/>
                </a:cubicBezTo>
                <a:cubicBezTo>
                  <a:pt x="26" y="299"/>
                  <a:pt x="20" y="288"/>
                  <a:pt x="14" y="276"/>
                </a:cubicBezTo>
                <a:cubicBezTo>
                  <a:pt x="10" y="264"/>
                  <a:pt x="6" y="251"/>
                  <a:pt x="4" y="238"/>
                </a:cubicBezTo>
                <a:cubicBezTo>
                  <a:pt x="1" y="226"/>
                  <a:pt x="0" y="213"/>
                  <a:pt x="0" y="200"/>
                </a:cubicBez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4" y="124"/>
                </a:cubicBezTo>
                <a:cubicBezTo>
                  <a:pt x="20" y="112"/>
                  <a:pt x="26" y="100"/>
                  <a:pt x="33" y="89"/>
                </a:cubicBezTo>
                <a:cubicBezTo>
                  <a:pt x="40" y="79"/>
                  <a:pt x="48" y="69"/>
                  <a:pt x="57" y="58"/>
                </a:cubicBezTo>
                <a:cubicBezTo>
                  <a:pt x="66" y="49"/>
                  <a:pt x="75" y="41"/>
                  <a:pt x="86" y="34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0" y="10"/>
                  <a:pt x="142" y="7"/>
                  <a:pt x="155" y="4"/>
                </a:cubicBezTo>
                <a:cubicBezTo>
                  <a:pt x="167" y="1"/>
                  <a:pt x="179" y="0"/>
                  <a:pt x="192" y="0"/>
                </a:cubicBezTo>
                <a:cubicBezTo>
                  <a:pt x="204" y="0"/>
                  <a:pt x="217" y="1"/>
                  <a:pt x="229" y="4"/>
                </a:cubicBezTo>
                <a:cubicBezTo>
                  <a:pt x="242" y="7"/>
                  <a:pt x="253" y="10"/>
                  <a:pt x="265" y="15"/>
                </a:cubicBezTo>
                <a:cubicBezTo>
                  <a:pt x="277" y="20"/>
                  <a:pt x="288" y="26"/>
                  <a:pt x="298" y="34"/>
                </a:cubicBezTo>
                <a:cubicBezTo>
                  <a:pt x="309" y="41"/>
                  <a:pt x="318" y="49"/>
                  <a:pt x="327" y="58"/>
                </a:cubicBezTo>
                <a:cubicBezTo>
                  <a:pt x="336" y="69"/>
                  <a:pt x="344" y="79"/>
                  <a:pt x="351" y="89"/>
                </a:cubicBezTo>
                <a:cubicBezTo>
                  <a:pt x="358" y="100"/>
                  <a:pt x="364" y="112"/>
                  <a:pt x="368" y="124"/>
                </a:cubicBezTo>
                <a:cubicBezTo>
                  <a:pt x="373" y="136"/>
                  <a:pt x="377" y="148"/>
                  <a:pt x="379" y="161"/>
                </a:cubicBezTo>
                <a:cubicBezTo>
                  <a:pt x="382" y="174"/>
                  <a:pt x="383" y="187"/>
                  <a:pt x="383" y="20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Freeform: Shape 710"/>
          <p:cNvSpPr/>
          <p:nvPr/>
        </p:nvSpPr>
        <p:spPr>
          <a:xfrm>
            <a:off x="933120" y="948672"/>
            <a:ext cx="99792" cy="103248"/>
          </a:xfrm>
          <a:custGeom>
            <a:avLst/>
            <a:gdLst/>
            <a:ahLst/>
            <a:cxnLst/>
            <a:rect l="0" t="0" r="r" b="b"/>
            <a:pathLst>
              <a:path w="231" h="239">
                <a:moveTo>
                  <a:pt x="231" y="120"/>
                </a:moveTo>
                <a:cubicBezTo>
                  <a:pt x="231" y="135"/>
                  <a:pt x="228" y="151"/>
                  <a:pt x="222" y="165"/>
                </a:cubicBezTo>
                <a:cubicBezTo>
                  <a:pt x="216" y="180"/>
                  <a:pt x="208" y="193"/>
                  <a:pt x="197" y="204"/>
                </a:cubicBezTo>
                <a:cubicBezTo>
                  <a:pt x="186" y="215"/>
                  <a:pt x="174" y="224"/>
                  <a:pt x="160" y="230"/>
                </a:cubicBezTo>
                <a:cubicBezTo>
                  <a:pt x="146" y="236"/>
                  <a:pt x="131" y="239"/>
                  <a:pt x="116" y="239"/>
                </a:cubicBezTo>
                <a:cubicBezTo>
                  <a:pt x="101" y="239"/>
                  <a:pt x="86" y="236"/>
                  <a:pt x="72" y="230"/>
                </a:cubicBezTo>
                <a:cubicBezTo>
                  <a:pt x="58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8" y="15"/>
                  <a:pt x="72" y="9"/>
                </a:cubicBezTo>
                <a:cubicBezTo>
                  <a:pt x="86" y="3"/>
                  <a:pt x="101" y="0"/>
                  <a:pt x="116" y="0"/>
                </a:cubicBezTo>
                <a:cubicBezTo>
                  <a:pt x="131" y="0"/>
                  <a:pt x="146" y="3"/>
                  <a:pt x="160" y="9"/>
                </a:cubicBezTo>
                <a:cubicBezTo>
                  <a:pt x="174" y="15"/>
                  <a:pt x="186" y="23"/>
                  <a:pt x="197" y="34"/>
                </a:cubicBezTo>
                <a:cubicBezTo>
                  <a:pt x="208" y="46"/>
                  <a:pt x="216" y="58"/>
                  <a:pt x="222" y="74"/>
                </a:cubicBezTo>
                <a:cubicBezTo>
                  <a:pt x="228" y="89"/>
                  <a:pt x="231" y="104"/>
                  <a:pt x="231" y="1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Freeform: Shape 711"/>
          <p:cNvSpPr/>
          <p:nvPr/>
        </p:nvSpPr>
        <p:spPr>
          <a:xfrm>
            <a:off x="958176" y="974160"/>
            <a:ext cx="49680" cy="51840"/>
          </a:xfrm>
          <a:custGeom>
            <a:avLst/>
            <a:gdLst/>
            <a:ahLst/>
            <a:cxnLst/>
            <a:rect l="0" t="0" r="r" b="b"/>
            <a:pathLst>
              <a:path w="115" h="120">
                <a:moveTo>
                  <a:pt x="115" y="60"/>
                </a:moveTo>
                <a:cubicBezTo>
                  <a:pt x="115" y="68"/>
                  <a:pt x="114" y="76"/>
                  <a:pt x="111" y="83"/>
                </a:cubicBezTo>
                <a:cubicBezTo>
                  <a:pt x="108" y="91"/>
                  <a:pt x="104" y="97"/>
                  <a:pt x="98" y="103"/>
                </a:cubicBezTo>
                <a:cubicBezTo>
                  <a:pt x="93" y="108"/>
                  <a:pt x="87" y="113"/>
                  <a:pt x="80" y="116"/>
                </a:cubicBezTo>
                <a:cubicBezTo>
                  <a:pt x="73" y="119"/>
                  <a:pt x="66" y="120"/>
                  <a:pt x="58" y="120"/>
                </a:cubicBezTo>
                <a:cubicBezTo>
                  <a:pt x="50" y="120"/>
                  <a:pt x="43" y="119"/>
                  <a:pt x="36" y="116"/>
                </a:cubicBezTo>
                <a:cubicBezTo>
                  <a:pt x="29" y="113"/>
                  <a:pt x="23" y="108"/>
                  <a:pt x="17" y="103"/>
                </a:cubicBezTo>
                <a:cubicBezTo>
                  <a:pt x="12" y="97"/>
                  <a:pt x="8" y="91"/>
                  <a:pt x="4" y="83"/>
                </a:cubicBezTo>
                <a:cubicBezTo>
                  <a:pt x="1" y="76"/>
                  <a:pt x="0" y="68"/>
                  <a:pt x="0" y="60"/>
                </a:cubicBezTo>
                <a:cubicBezTo>
                  <a:pt x="0" y="52"/>
                  <a:pt x="1" y="44"/>
                  <a:pt x="4" y="37"/>
                </a:cubicBezTo>
                <a:cubicBezTo>
                  <a:pt x="8" y="30"/>
                  <a:pt x="12" y="23"/>
                  <a:pt x="17" y="18"/>
                </a:cubicBezTo>
                <a:cubicBezTo>
                  <a:pt x="23" y="12"/>
                  <a:pt x="29" y="8"/>
                  <a:pt x="36" y="5"/>
                </a:cubicBezTo>
                <a:cubicBezTo>
                  <a:pt x="43" y="2"/>
                  <a:pt x="50" y="0"/>
                  <a:pt x="58" y="0"/>
                </a:cubicBezTo>
                <a:cubicBezTo>
                  <a:pt x="66" y="0"/>
                  <a:pt x="73" y="2"/>
                  <a:pt x="80" y="5"/>
                </a:cubicBezTo>
                <a:cubicBezTo>
                  <a:pt x="87" y="8"/>
                  <a:pt x="93" y="12"/>
                  <a:pt x="98" y="18"/>
                </a:cubicBezTo>
                <a:cubicBezTo>
                  <a:pt x="104" y="23"/>
                  <a:pt x="108" y="30"/>
                  <a:pt x="111" y="37"/>
                </a:cubicBezTo>
                <a:cubicBezTo>
                  <a:pt x="114" y="44"/>
                  <a:pt x="115" y="52"/>
                  <a:pt x="115" y="6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Freeform: Shape 712"/>
          <p:cNvSpPr/>
          <p:nvPr/>
        </p:nvSpPr>
        <p:spPr>
          <a:xfrm>
            <a:off x="979344" y="1002240"/>
            <a:ext cx="114480" cy="145152"/>
          </a:xfrm>
          <a:custGeom>
            <a:avLst/>
            <a:gdLst/>
            <a:ahLst/>
            <a:cxnLst/>
            <a:rect l="0" t="0" r="r" b="b"/>
            <a:pathLst>
              <a:path w="265" h="336">
                <a:moveTo>
                  <a:pt x="13" y="0"/>
                </a:moveTo>
                <a:lnTo>
                  <a:pt x="265" y="234"/>
                </a:lnTo>
                <a:cubicBezTo>
                  <a:pt x="265" y="234"/>
                  <a:pt x="213" y="301"/>
                  <a:pt x="113" y="336"/>
                </a:cubicBezTo>
                <a:lnTo>
                  <a:pt x="0" y="3"/>
                </a:lnTo>
                <a:lnTo>
                  <a:pt x="13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Freeform: Shape 713"/>
          <p:cNvSpPr/>
          <p:nvPr/>
        </p:nvSpPr>
        <p:spPr>
          <a:xfrm>
            <a:off x="977184" y="986688"/>
            <a:ext cx="21600" cy="22032"/>
          </a:xfrm>
          <a:custGeom>
            <a:avLst/>
            <a:gdLst/>
            <a:ahLst/>
            <a:cxnLst/>
            <a:rect l="0" t="0" r="r" b="b"/>
            <a:pathLst>
              <a:path w="50" h="51">
                <a:moveTo>
                  <a:pt x="20" y="51"/>
                </a:moveTo>
                <a:cubicBezTo>
                  <a:pt x="14" y="51"/>
                  <a:pt x="9" y="50"/>
                  <a:pt x="5" y="46"/>
                </a:cubicBezTo>
                <a:cubicBezTo>
                  <a:pt x="-2" y="37"/>
                  <a:pt x="-2" y="24"/>
                  <a:pt x="5" y="17"/>
                </a:cubicBezTo>
                <a:lnTo>
                  <a:pt x="16" y="6"/>
                </a:lnTo>
                <a:cubicBezTo>
                  <a:pt x="24" y="-2"/>
                  <a:pt x="36" y="-2"/>
                  <a:pt x="44" y="6"/>
                </a:cubicBezTo>
                <a:cubicBezTo>
                  <a:pt x="51" y="13"/>
                  <a:pt x="51" y="26"/>
                  <a:pt x="44" y="33"/>
                </a:cubicBezTo>
                <a:lnTo>
                  <a:pt x="33" y="46"/>
                </a:lnTo>
                <a:cubicBezTo>
                  <a:pt x="29" y="50"/>
                  <a:pt x="24" y="51"/>
                  <a:pt x="20" y="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Freeform: Shape 714"/>
          <p:cNvSpPr/>
          <p:nvPr/>
        </p:nvSpPr>
        <p:spPr>
          <a:xfrm>
            <a:off x="1030752" y="845856"/>
            <a:ext cx="100656" cy="104544"/>
          </a:xfrm>
          <a:custGeom>
            <a:avLst/>
            <a:gdLst/>
            <a:ahLst/>
            <a:cxnLst/>
            <a:rect l="0" t="0" r="r" b="b"/>
            <a:pathLst>
              <a:path w="233" h="242">
                <a:moveTo>
                  <a:pt x="4" y="140"/>
                </a:moveTo>
                <a:cubicBezTo>
                  <a:pt x="-4" y="181"/>
                  <a:pt x="4" y="233"/>
                  <a:pt x="4" y="233"/>
                </a:cubicBezTo>
                <a:lnTo>
                  <a:pt x="140" y="85"/>
                </a:lnTo>
                <a:cubicBezTo>
                  <a:pt x="145" y="57"/>
                  <a:pt x="130" y="7"/>
                  <a:pt x="107" y="1"/>
                </a:cubicBezTo>
                <a:cubicBezTo>
                  <a:pt x="84" y="-5"/>
                  <a:pt x="28" y="17"/>
                  <a:pt x="4" y="140"/>
                </a:cubicBezTo>
                <a:moveTo>
                  <a:pt x="100" y="239"/>
                </a:moveTo>
                <a:cubicBezTo>
                  <a:pt x="61" y="247"/>
                  <a:pt x="10" y="239"/>
                  <a:pt x="10" y="239"/>
                </a:cubicBezTo>
                <a:lnTo>
                  <a:pt x="152" y="99"/>
                </a:lnTo>
                <a:cubicBezTo>
                  <a:pt x="180" y="93"/>
                  <a:pt x="227" y="110"/>
                  <a:pt x="233" y="133"/>
                </a:cubicBezTo>
                <a:cubicBezTo>
                  <a:pt x="239" y="157"/>
                  <a:pt x="218" y="214"/>
                  <a:pt x="100" y="239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Freeform: Shape 715"/>
          <p:cNvSpPr/>
          <p:nvPr/>
        </p:nvSpPr>
        <p:spPr>
          <a:xfrm>
            <a:off x="984096" y="872640"/>
            <a:ext cx="123984" cy="128304"/>
          </a:xfrm>
          <a:custGeom>
            <a:avLst/>
            <a:gdLst/>
            <a:ahLst/>
            <a:cxnLst/>
            <a:rect l="0" t="0" r="r" b="b"/>
            <a:pathLst>
              <a:path w="287" h="297">
                <a:moveTo>
                  <a:pt x="280" y="26"/>
                </a:moveTo>
                <a:lnTo>
                  <a:pt x="57" y="287"/>
                </a:lnTo>
                <a:cubicBezTo>
                  <a:pt x="50" y="295"/>
                  <a:pt x="25" y="305"/>
                  <a:pt x="9" y="288"/>
                </a:cubicBezTo>
                <a:cubicBezTo>
                  <a:pt x="-7" y="272"/>
                  <a:pt x="1" y="247"/>
                  <a:pt x="8" y="240"/>
                </a:cubicBezTo>
                <a:lnTo>
                  <a:pt x="261" y="7"/>
                </a:lnTo>
                <a:cubicBezTo>
                  <a:pt x="261" y="7"/>
                  <a:pt x="274" y="-6"/>
                  <a:pt x="283" y="4"/>
                </a:cubicBezTo>
                <a:cubicBezTo>
                  <a:pt x="292" y="13"/>
                  <a:pt x="280" y="26"/>
                  <a:pt x="280" y="26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TextBox 716"/>
          <p:cNvSpPr txBox="1"/>
          <p:nvPr/>
        </p:nvSpPr>
        <p:spPr>
          <a:xfrm>
            <a:off x="1146961" y="794449"/>
            <a:ext cx="4802661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Hands-On: Deploy to Kubernetes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TextBox 717"/>
          <p:cNvSpPr txBox="1"/>
          <p:nvPr/>
        </p:nvSpPr>
        <p:spPr>
          <a:xfrm>
            <a:off x="800064" y="1406161"/>
            <a:ext cx="315772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Step 1: Create Deployment YAML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TextBox 718"/>
          <p:cNvSpPr txBox="1"/>
          <p:nvPr/>
        </p:nvSpPr>
        <p:spPr>
          <a:xfrm>
            <a:off x="899856" y="1940112"/>
            <a:ext cx="1498808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k8s/deployment.yaml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TextBox 719"/>
          <p:cNvSpPr txBox="1"/>
          <p:nvPr/>
        </p:nvSpPr>
        <p:spPr>
          <a:xfrm>
            <a:off x="870480" y="2134512"/>
            <a:ext cx="124393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apiVersion: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apps/v1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TextBox 720"/>
          <p:cNvSpPr txBox="1"/>
          <p:nvPr/>
        </p:nvSpPr>
        <p:spPr>
          <a:xfrm>
            <a:off x="870480" y="2317248"/>
            <a:ext cx="109645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kind: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Deployment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TextBox 721"/>
          <p:cNvSpPr txBox="1"/>
          <p:nvPr/>
        </p:nvSpPr>
        <p:spPr>
          <a:xfrm>
            <a:off x="870480" y="2511648"/>
            <a:ext cx="63158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metadata: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TextBox 722"/>
          <p:cNvSpPr txBox="1"/>
          <p:nvPr/>
        </p:nvSpPr>
        <p:spPr>
          <a:xfrm>
            <a:off x="870481" y="2706048"/>
            <a:ext cx="169437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name: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calculator-gateway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TextBox 723"/>
          <p:cNvSpPr txBox="1"/>
          <p:nvPr/>
        </p:nvSpPr>
        <p:spPr>
          <a:xfrm>
            <a:off x="870480" y="2888784"/>
            <a:ext cx="33823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spec: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TextBox 724"/>
          <p:cNvSpPr txBox="1"/>
          <p:nvPr/>
        </p:nvSpPr>
        <p:spPr>
          <a:xfrm>
            <a:off x="870481" y="3083184"/>
            <a:ext cx="72616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replicas: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2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TextBox 725"/>
          <p:cNvSpPr txBox="1"/>
          <p:nvPr/>
        </p:nvSpPr>
        <p:spPr>
          <a:xfrm>
            <a:off x="870480" y="3265920"/>
            <a:ext cx="61555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selector: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TextBox 726"/>
          <p:cNvSpPr txBox="1"/>
          <p:nvPr/>
        </p:nvSpPr>
        <p:spPr>
          <a:xfrm>
            <a:off x="870480" y="3460320"/>
            <a:ext cx="100348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matchLabels: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TextBox 727"/>
          <p:cNvSpPr txBox="1"/>
          <p:nvPr/>
        </p:nvSpPr>
        <p:spPr>
          <a:xfrm>
            <a:off x="870480" y="3654720"/>
            <a:ext cx="108363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app: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gateway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TextBox 728"/>
          <p:cNvSpPr txBox="1"/>
          <p:nvPr/>
        </p:nvSpPr>
        <p:spPr>
          <a:xfrm>
            <a:off x="870481" y="3837456"/>
            <a:ext cx="66524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template: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TextBox 729"/>
          <p:cNvSpPr txBox="1"/>
          <p:nvPr/>
        </p:nvSpPr>
        <p:spPr>
          <a:xfrm>
            <a:off x="870480" y="4031856"/>
            <a:ext cx="79188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metadata: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TextBox 730"/>
          <p:cNvSpPr txBox="1"/>
          <p:nvPr/>
        </p:nvSpPr>
        <p:spPr>
          <a:xfrm>
            <a:off x="870481" y="4214592"/>
            <a:ext cx="65081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labels: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870480" y="4408992"/>
            <a:ext cx="116378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app: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gateway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TextBox 732"/>
          <p:cNvSpPr txBox="1"/>
          <p:nvPr/>
        </p:nvSpPr>
        <p:spPr>
          <a:xfrm>
            <a:off x="870480" y="4603392"/>
            <a:ext cx="49853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spec: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TextBox 733"/>
          <p:cNvSpPr txBox="1"/>
          <p:nvPr/>
        </p:nvSpPr>
        <p:spPr>
          <a:xfrm>
            <a:off x="870480" y="4786128"/>
            <a:ext cx="9329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containers: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TextBox 734"/>
          <p:cNvSpPr txBox="1"/>
          <p:nvPr/>
        </p:nvSpPr>
        <p:spPr>
          <a:xfrm>
            <a:off x="870480" y="4980528"/>
            <a:ext cx="128881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-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name: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gateway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TextBox 735"/>
          <p:cNvSpPr txBox="1"/>
          <p:nvPr/>
        </p:nvSpPr>
        <p:spPr>
          <a:xfrm>
            <a:off x="870481" y="5174928"/>
            <a:ext cx="384560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image: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youruser/calculator-microservices-gateway:latest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TextBox 736"/>
          <p:cNvSpPr txBox="1"/>
          <p:nvPr/>
        </p:nvSpPr>
        <p:spPr>
          <a:xfrm>
            <a:off x="870481" y="5357664"/>
            <a:ext cx="67486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ports: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TextBox 737"/>
          <p:cNvSpPr txBox="1"/>
          <p:nvPr/>
        </p:nvSpPr>
        <p:spPr>
          <a:xfrm>
            <a:off x="870481" y="5552064"/>
            <a:ext cx="164307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 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-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containerPort: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3000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TextBox 738"/>
          <p:cNvSpPr txBox="1"/>
          <p:nvPr/>
        </p:nvSpPr>
        <p:spPr>
          <a:xfrm>
            <a:off x="870480" y="5734800"/>
            <a:ext cx="13946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8996A8"/>
                </a:solidFill>
                <a:latin typeface="RobotoMono"/>
                <a:ea typeface="RobotoMono"/>
              </a:rPr>
              <a:t>---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TextBox 739"/>
          <p:cNvSpPr txBox="1"/>
          <p:nvPr/>
        </p:nvSpPr>
        <p:spPr>
          <a:xfrm>
            <a:off x="870480" y="5929200"/>
            <a:ext cx="89768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apiVersion: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v1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TextBox 740"/>
          <p:cNvSpPr txBox="1"/>
          <p:nvPr/>
        </p:nvSpPr>
        <p:spPr>
          <a:xfrm>
            <a:off x="870481" y="6123600"/>
            <a:ext cx="81111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kind: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TextBox 741"/>
          <p:cNvSpPr txBox="1"/>
          <p:nvPr/>
        </p:nvSpPr>
        <p:spPr>
          <a:xfrm>
            <a:off x="870480" y="6306336"/>
            <a:ext cx="63158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metadata: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TextBox 742"/>
          <p:cNvSpPr txBox="1"/>
          <p:nvPr/>
        </p:nvSpPr>
        <p:spPr>
          <a:xfrm>
            <a:off x="870481" y="6500736"/>
            <a:ext cx="1535677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name: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gateway-service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TextBox 743"/>
          <p:cNvSpPr txBox="1"/>
          <p:nvPr/>
        </p:nvSpPr>
        <p:spPr>
          <a:xfrm>
            <a:off x="870480" y="6683472"/>
            <a:ext cx="33823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spec: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TextBox 744"/>
          <p:cNvSpPr txBox="1"/>
          <p:nvPr/>
        </p:nvSpPr>
        <p:spPr>
          <a:xfrm>
            <a:off x="870480" y="6877872"/>
            <a:ext cx="130003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type: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LoadBalancer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TextBox 745"/>
          <p:cNvSpPr txBox="1"/>
          <p:nvPr/>
        </p:nvSpPr>
        <p:spPr>
          <a:xfrm>
            <a:off x="870480" y="7072272"/>
            <a:ext cx="43441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ports: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TextBox 746"/>
          <p:cNvSpPr txBox="1"/>
          <p:nvPr/>
        </p:nvSpPr>
        <p:spPr>
          <a:xfrm>
            <a:off x="870480" y="7255008"/>
            <a:ext cx="64761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-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port: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80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TextBox 747"/>
          <p:cNvSpPr txBox="1"/>
          <p:nvPr/>
        </p:nvSpPr>
        <p:spPr>
          <a:xfrm>
            <a:off x="870480" y="7449408"/>
            <a:ext cx="117660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targetPort: </a:t>
            </a:r>
            <a:r>
              <a:rPr lang="en-IN" sz="1104">
                <a:solidFill>
                  <a:srgbClr val="3387CC"/>
                </a:solidFill>
                <a:latin typeface="RobotoMono"/>
                <a:ea typeface="RobotoMono"/>
              </a:rPr>
              <a:t>3000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TextBox 748"/>
          <p:cNvSpPr txBox="1"/>
          <p:nvPr/>
        </p:nvSpPr>
        <p:spPr>
          <a:xfrm>
            <a:off x="870480" y="7632144"/>
            <a:ext cx="61555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selector: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TextBox 749"/>
          <p:cNvSpPr txBox="1"/>
          <p:nvPr/>
        </p:nvSpPr>
        <p:spPr>
          <a:xfrm>
            <a:off x="870480" y="7826544"/>
            <a:ext cx="100348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app: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gateway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TextBox 750"/>
          <p:cNvSpPr txBox="1"/>
          <p:nvPr/>
        </p:nvSpPr>
        <p:spPr>
          <a:xfrm>
            <a:off x="14142384" y="7712929"/>
            <a:ext cx="173124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10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Freeform: Shape 75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Freeform: Shape 752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Freeform: Shape 75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Freeform: Shape 754"/>
          <p:cNvSpPr/>
          <p:nvPr/>
        </p:nvSpPr>
        <p:spPr>
          <a:xfrm>
            <a:off x="800064" y="1839888"/>
            <a:ext cx="13030416" cy="3749760"/>
          </a:xfrm>
          <a:custGeom>
            <a:avLst/>
            <a:gdLst/>
            <a:ahLst/>
            <a:cxnLst/>
            <a:rect l="0" t="0" r="r" b="b"/>
            <a:pathLst>
              <a:path w="30163" h="8680">
                <a:moveTo>
                  <a:pt x="0" y="0"/>
                </a:moveTo>
                <a:lnTo>
                  <a:pt x="30163" y="0"/>
                </a:lnTo>
                <a:lnTo>
                  <a:pt x="30163" y="8680"/>
                </a:lnTo>
                <a:lnTo>
                  <a:pt x="0" y="868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6" name="Freeform: Shape 755"/>
          <p:cNvSpPr/>
          <p:nvPr/>
        </p:nvSpPr>
        <p:spPr>
          <a:xfrm>
            <a:off x="834192" y="845424"/>
            <a:ext cx="297648" cy="309312"/>
          </a:xfrm>
          <a:custGeom>
            <a:avLst/>
            <a:gdLst/>
            <a:ahLst/>
            <a:cxnLst/>
            <a:rect l="0" t="0" r="r" b="b"/>
            <a:pathLst>
              <a:path w="689" h="716">
                <a:moveTo>
                  <a:pt x="689" y="636"/>
                </a:moveTo>
                <a:cubicBezTo>
                  <a:pt x="689" y="680"/>
                  <a:pt x="655" y="716"/>
                  <a:pt x="612" y="716"/>
                </a:cubicBezTo>
                <a:lnTo>
                  <a:pt x="76" y="716"/>
                </a:lnTo>
                <a:cubicBezTo>
                  <a:pt x="34" y="716"/>
                  <a:pt x="0" y="680"/>
                  <a:pt x="0" y="636"/>
                </a:cubicBezTo>
                <a:lnTo>
                  <a:pt x="0" y="80"/>
                </a:lnTo>
                <a:cubicBezTo>
                  <a:pt x="0" y="36"/>
                  <a:pt x="34" y="0"/>
                  <a:pt x="76" y="0"/>
                </a:cubicBezTo>
                <a:lnTo>
                  <a:pt x="612" y="0"/>
                </a:lnTo>
                <a:cubicBezTo>
                  <a:pt x="655" y="0"/>
                  <a:pt x="689" y="36"/>
                  <a:pt x="689" y="80"/>
                </a:cubicBezTo>
                <a:lnTo>
                  <a:pt x="689" y="636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7" name="Freeform: Shape 756"/>
          <p:cNvSpPr/>
          <p:nvPr/>
        </p:nvSpPr>
        <p:spPr>
          <a:xfrm>
            <a:off x="867456" y="879984"/>
            <a:ext cx="231552" cy="240624"/>
          </a:xfrm>
          <a:custGeom>
            <a:avLst/>
            <a:gdLst/>
            <a:ahLst/>
            <a:cxnLst/>
            <a:rect l="0" t="0" r="r" b="b"/>
            <a:pathLst>
              <a:path w="536" h="557">
                <a:moveTo>
                  <a:pt x="403" y="418"/>
                </a:moveTo>
                <a:cubicBezTo>
                  <a:pt x="327" y="496"/>
                  <a:pt x="206" y="496"/>
                  <a:pt x="132" y="418"/>
                </a:cubicBezTo>
                <a:cubicBezTo>
                  <a:pt x="89" y="373"/>
                  <a:pt x="71" y="313"/>
                  <a:pt x="77" y="255"/>
                </a:cubicBezTo>
                <a:lnTo>
                  <a:pt x="0" y="262"/>
                </a:lnTo>
                <a:cubicBezTo>
                  <a:pt x="-4" y="338"/>
                  <a:pt x="22" y="416"/>
                  <a:pt x="78" y="475"/>
                </a:cubicBezTo>
                <a:cubicBezTo>
                  <a:pt x="182" y="584"/>
                  <a:pt x="352" y="584"/>
                  <a:pt x="457" y="475"/>
                </a:cubicBezTo>
                <a:lnTo>
                  <a:pt x="511" y="531"/>
                </a:lnTo>
                <a:lnTo>
                  <a:pt x="527" y="345"/>
                </a:lnTo>
                <a:lnTo>
                  <a:pt x="348" y="362"/>
                </a:lnTo>
                <a:lnTo>
                  <a:pt x="403" y="418"/>
                </a:lnTo>
                <a:moveTo>
                  <a:pt x="457" y="81"/>
                </a:moveTo>
                <a:cubicBezTo>
                  <a:pt x="352" y="-27"/>
                  <a:pt x="182" y="-27"/>
                  <a:pt x="78" y="81"/>
                </a:cubicBezTo>
                <a:lnTo>
                  <a:pt x="24" y="25"/>
                </a:lnTo>
                <a:lnTo>
                  <a:pt x="7" y="210"/>
                </a:lnTo>
                <a:lnTo>
                  <a:pt x="186" y="193"/>
                </a:lnTo>
                <a:lnTo>
                  <a:pt x="132" y="137"/>
                </a:lnTo>
                <a:cubicBezTo>
                  <a:pt x="206" y="60"/>
                  <a:pt x="327" y="60"/>
                  <a:pt x="403" y="137"/>
                </a:cubicBezTo>
                <a:cubicBezTo>
                  <a:pt x="446" y="182"/>
                  <a:pt x="464" y="242"/>
                  <a:pt x="458" y="301"/>
                </a:cubicBezTo>
                <a:lnTo>
                  <a:pt x="535" y="293"/>
                </a:lnTo>
                <a:cubicBezTo>
                  <a:pt x="539" y="217"/>
                  <a:pt x="513" y="139"/>
                  <a:pt x="457" y="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TextBox 757"/>
          <p:cNvSpPr txBox="1"/>
          <p:nvPr/>
        </p:nvSpPr>
        <p:spPr>
          <a:xfrm>
            <a:off x="1146960" y="794449"/>
            <a:ext cx="3381118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End-to-End CI/CD Flow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800064" y="1406161"/>
            <a:ext cx="3000886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Complete Automation Pipeline: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TextBox 759"/>
          <p:cNvSpPr txBox="1"/>
          <p:nvPr/>
        </p:nvSpPr>
        <p:spPr>
          <a:xfrm>
            <a:off x="870480" y="1940112"/>
            <a:ext cx="155972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Developer commits code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TextBox 760"/>
          <p:cNvSpPr txBox="1"/>
          <p:nvPr/>
        </p:nvSpPr>
        <p:spPr>
          <a:xfrm>
            <a:off x="870480" y="213451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TextBox 761"/>
          <p:cNvSpPr txBox="1"/>
          <p:nvPr/>
        </p:nvSpPr>
        <p:spPr>
          <a:xfrm>
            <a:off x="1208304" y="214704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TextBox 762"/>
          <p:cNvSpPr txBox="1"/>
          <p:nvPr/>
        </p:nvSpPr>
        <p:spPr>
          <a:xfrm>
            <a:off x="870481" y="2317248"/>
            <a:ext cx="183543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git push origin feature/branch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TextBox 763"/>
          <p:cNvSpPr txBox="1"/>
          <p:nvPr/>
        </p:nvSpPr>
        <p:spPr>
          <a:xfrm>
            <a:off x="870480" y="251164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TextBox 764"/>
          <p:cNvSpPr txBox="1"/>
          <p:nvPr/>
        </p:nvSpPr>
        <p:spPr>
          <a:xfrm>
            <a:off x="1208304" y="252417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TextBox 765"/>
          <p:cNvSpPr txBox="1"/>
          <p:nvPr/>
        </p:nvSpPr>
        <p:spPr>
          <a:xfrm>
            <a:off x="870480" y="2706048"/>
            <a:ext cx="210955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GitHub Webhook triggers Jenkins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TextBox 766"/>
          <p:cNvSpPr txBox="1"/>
          <p:nvPr/>
        </p:nvSpPr>
        <p:spPr>
          <a:xfrm>
            <a:off x="870480" y="2888784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TextBox 767"/>
          <p:cNvSpPr txBox="1"/>
          <p:nvPr/>
        </p:nvSpPr>
        <p:spPr>
          <a:xfrm>
            <a:off x="1208304" y="2901312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TextBox 768"/>
          <p:cNvSpPr txBox="1"/>
          <p:nvPr/>
        </p:nvSpPr>
        <p:spPr>
          <a:xfrm>
            <a:off x="870480" y="3083184"/>
            <a:ext cx="106439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Jenkins Pipeline: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TextBox 769"/>
          <p:cNvSpPr txBox="1"/>
          <p:nvPr/>
        </p:nvSpPr>
        <p:spPr>
          <a:xfrm>
            <a:off x="870481" y="3265920"/>
            <a:ext cx="93134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1. Clone repo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TextBox 770"/>
          <p:cNvSpPr txBox="1"/>
          <p:nvPr/>
        </p:nvSpPr>
        <p:spPr>
          <a:xfrm>
            <a:off x="870481" y="3460320"/>
            <a:ext cx="83837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2. Run tests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TextBox 771"/>
          <p:cNvSpPr txBox="1"/>
          <p:nvPr/>
        </p:nvSpPr>
        <p:spPr>
          <a:xfrm>
            <a:off x="870480" y="3654720"/>
            <a:ext cx="32284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3. Build Docker images (tagged with commit SHA)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TextBox 772"/>
          <p:cNvSpPr txBox="1"/>
          <p:nvPr/>
        </p:nvSpPr>
        <p:spPr>
          <a:xfrm>
            <a:off x="870480" y="3837456"/>
            <a:ext cx="200375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4. Push images to Docker Hub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TextBox 773"/>
          <p:cNvSpPr txBox="1"/>
          <p:nvPr/>
        </p:nvSpPr>
        <p:spPr>
          <a:xfrm>
            <a:off x="870480" y="4031856"/>
            <a:ext cx="296395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5. Apply Kubernetes manifests (kubectl apply)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TextBox 774"/>
          <p:cNvSpPr txBox="1"/>
          <p:nvPr/>
        </p:nvSpPr>
        <p:spPr>
          <a:xfrm>
            <a:off x="870480" y="4214592"/>
            <a:ext cx="245419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6. Verify rollout (kubectl rollout status)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TextBox 775"/>
          <p:cNvSpPr txBox="1"/>
          <p:nvPr/>
        </p:nvSpPr>
        <p:spPr>
          <a:xfrm>
            <a:off x="870480" y="4408992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TextBox 776"/>
          <p:cNvSpPr txBox="1"/>
          <p:nvPr/>
        </p:nvSpPr>
        <p:spPr>
          <a:xfrm>
            <a:off x="1208304" y="4421520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TextBox 777"/>
          <p:cNvSpPr txBox="1"/>
          <p:nvPr/>
        </p:nvSpPr>
        <p:spPr>
          <a:xfrm>
            <a:off x="870480" y="4603392"/>
            <a:ext cx="222977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Application deployed to Kubernetes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TextBox 778"/>
          <p:cNvSpPr txBox="1"/>
          <p:nvPr/>
        </p:nvSpPr>
        <p:spPr>
          <a:xfrm>
            <a:off x="870480" y="478612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TextBox 779"/>
          <p:cNvSpPr txBox="1"/>
          <p:nvPr/>
        </p:nvSpPr>
        <p:spPr>
          <a:xfrm>
            <a:off x="1208304" y="479865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870480" y="4980528"/>
            <a:ext cx="244778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Traffic routed by Service/LoadBalancer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TextBox 781"/>
          <p:cNvSpPr txBox="1"/>
          <p:nvPr/>
        </p:nvSpPr>
        <p:spPr>
          <a:xfrm>
            <a:off x="870480" y="5174928"/>
            <a:ext cx="1603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TextBox 782"/>
          <p:cNvSpPr txBox="1"/>
          <p:nvPr/>
        </p:nvSpPr>
        <p:spPr>
          <a:xfrm>
            <a:off x="1208304" y="5187456"/>
            <a:ext cx="7854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Consolas"/>
                <a:ea typeface="Consolas"/>
              </a:rPr>
              <a:t>↓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Freeform: Shape 783"/>
          <p:cNvSpPr/>
          <p:nvPr/>
        </p:nvSpPr>
        <p:spPr>
          <a:xfrm>
            <a:off x="4091904" y="5349024"/>
            <a:ext cx="149040" cy="137376"/>
          </a:xfrm>
          <a:custGeom>
            <a:avLst/>
            <a:gdLst/>
            <a:ahLst/>
            <a:cxnLst/>
            <a:rect l="0" t="0" r="r" b="b"/>
            <a:pathLst>
              <a:path w="345" h="318">
                <a:moveTo>
                  <a:pt x="345" y="283"/>
                </a:moveTo>
                <a:cubicBezTo>
                  <a:pt x="345" y="303"/>
                  <a:pt x="327" y="318"/>
                  <a:pt x="306" y="318"/>
                </a:cubicBezTo>
                <a:lnTo>
                  <a:pt x="38" y="318"/>
                </a:lnTo>
                <a:cubicBezTo>
                  <a:pt x="17" y="318"/>
                  <a:pt x="0" y="303"/>
                  <a:pt x="0" y="283"/>
                </a:cubicBezTo>
                <a:lnTo>
                  <a:pt x="0" y="35"/>
                </a:lnTo>
                <a:cubicBezTo>
                  <a:pt x="0" y="16"/>
                  <a:pt x="17" y="0"/>
                  <a:pt x="38" y="0"/>
                </a:cubicBezTo>
                <a:lnTo>
                  <a:pt x="306" y="0"/>
                </a:lnTo>
                <a:cubicBezTo>
                  <a:pt x="327" y="0"/>
                  <a:pt x="345" y="16"/>
                  <a:pt x="345" y="35"/>
                </a:cubicBezTo>
                <a:lnTo>
                  <a:pt x="345" y="2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Freeform: Shape 784"/>
          <p:cNvSpPr/>
          <p:nvPr/>
        </p:nvSpPr>
        <p:spPr>
          <a:xfrm>
            <a:off x="4115232" y="5371920"/>
            <a:ext cx="102384" cy="93312"/>
          </a:xfrm>
          <a:custGeom>
            <a:avLst/>
            <a:gdLst/>
            <a:ahLst/>
            <a:cxnLst/>
            <a:rect l="0" t="0" r="r" b="b"/>
            <a:pathLst>
              <a:path w="237" h="216">
                <a:moveTo>
                  <a:pt x="226" y="4"/>
                </a:moveTo>
                <a:cubicBezTo>
                  <a:pt x="215" y="-3"/>
                  <a:pt x="201" y="0"/>
                  <a:pt x="193" y="11"/>
                </a:cubicBezTo>
                <a:lnTo>
                  <a:pt x="89" y="160"/>
                </a:lnTo>
                <a:lnTo>
                  <a:pt x="41" y="119"/>
                </a:lnTo>
                <a:cubicBezTo>
                  <a:pt x="31" y="110"/>
                  <a:pt x="15" y="111"/>
                  <a:pt x="6" y="120"/>
                </a:cubicBezTo>
                <a:cubicBezTo>
                  <a:pt x="-2" y="129"/>
                  <a:pt x="-2" y="143"/>
                  <a:pt x="8" y="151"/>
                </a:cubicBezTo>
                <a:lnTo>
                  <a:pt x="78" y="210"/>
                </a:lnTo>
                <a:cubicBezTo>
                  <a:pt x="82" y="214"/>
                  <a:pt x="88" y="216"/>
                  <a:pt x="94" y="216"/>
                </a:cubicBezTo>
                <a:cubicBezTo>
                  <a:pt x="100" y="216"/>
                  <a:pt x="109" y="213"/>
                  <a:pt x="114" y="206"/>
                </a:cubicBezTo>
                <a:cubicBezTo>
                  <a:pt x="117" y="201"/>
                  <a:pt x="233" y="35"/>
                  <a:pt x="233" y="35"/>
                </a:cubicBezTo>
                <a:cubicBezTo>
                  <a:pt x="241" y="24"/>
                  <a:pt x="237" y="11"/>
                  <a:pt x="226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TextBox 785"/>
          <p:cNvSpPr txBox="1"/>
          <p:nvPr/>
        </p:nvSpPr>
        <p:spPr>
          <a:xfrm>
            <a:off x="870480" y="5357664"/>
            <a:ext cx="233557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Live in production within 2-3 minutes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TextBox 786"/>
          <p:cNvSpPr txBox="1"/>
          <p:nvPr/>
        </p:nvSpPr>
        <p:spPr>
          <a:xfrm>
            <a:off x="800065" y="5795281"/>
            <a:ext cx="416402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Everything is automated—no manual steps!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TextBox 787"/>
          <p:cNvSpPr txBox="1"/>
          <p:nvPr/>
        </p:nvSpPr>
        <p:spPr>
          <a:xfrm>
            <a:off x="14142384" y="7712929"/>
            <a:ext cx="173124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11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Freeform: Shape 788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Freeform: Shape 789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Freeform: Shape 790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Freeform: Shape 791"/>
          <p:cNvSpPr/>
          <p:nvPr/>
        </p:nvSpPr>
        <p:spPr>
          <a:xfrm>
            <a:off x="850608" y="862704"/>
            <a:ext cx="264816" cy="274752"/>
          </a:xfrm>
          <a:custGeom>
            <a:avLst/>
            <a:gdLst/>
            <a:ahLst/>
            <a:cxnLst/>
            <a:rect l="0" t="0" r="r" b="b"/>
            <a:pathLst>
              <a:path w="613" h="636">
                <a:moveTo>
                  <a:pt x="555" y="0"/>
                </a:moveTo>
                <a:lnTo>
                  <a:pt x="58" y="0"/>
                </a:lnTo>
                <a:cubicBezTo>
                  <a:pt x="26" y="0"/>
                  <a:pt x="0" y="27"/>
                  <a:pt x="0" y="60"/>
                </a:cubicBezTo>
                <a:lnTo>
                  <a:pt x="0" y="577"/>
                </a:lnTo>
                <a:cubicBezTo>
                  <a:pt x="0" y="609"/>
                  <a:pt x="26" y="636"/>
                  <a:pt x="58" y="636"/>
                </a:cubicBezTo>
                <a:lnTo>
                  <a:pt x="555" y="636"/>
                </a:lnTo>
                <a:cubicBezTo>
                  <a:pt x="587" y="636"/>
                  <a:pt x="613" y="609"/>
                  <a:pt x="613" y="577"/>
                </a:cubicBezTo>
                <a:lnTo>
                  <a:pt x="613" y="60"/>
                </a:lnTo>
                <a:cubicBezTo>
                  <a:pt x="613" y="27"/>
                  <a:pt x="587" y="0"/>
                  <a:pt x="555" y="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Freeform: Shape 792"/>
          <p:cNvSpPr/>
          <p:nvPr/>
        </p:nvSpPr>
        <p:spPr>
          <a:xfrm>
            <a:off x="842400" y="854064"/>
            <a:ext cx="281232" cy="292032"/>
          </a:xfrm>
          <a:custGeom>
            <a:avLst/>
            <a:gdLst/>
            <a:ahLst/>
            <a:cxnLst/>
            <a:rect l="0" t="0" r="r" b="b"/>
            <a:pathLst>
              <a:path w="651" h="676">
                <a:moveTo>
                  <a:pt x="574" y="0"/>
                </a:moveTo>
                <a:lnTo>
                  <a:pt x="77" y="0"/>
                </a:lnTo>
                <a:cubicBezTo>
                  <a:pt x="34" y="0"/>
                  <a:pt x="0" y="36"/>
                  <a:pt x="0" y="80"/>
                </a:cubicBezTo>
                <a:lnTo>
                  <a:pt x="0" y="597"/>
                </a:lnTo>
                <a:cubicBezTo>
                  <a:pt x="0" y="640"/>
                  <a:pt x="34" y="676"/>
                  <a:pt x="77" y="676"/>
                </a:cubicBezTo>
                <a:lnTo>
                  <a:pt x="574" y="676"/>
                </a:lnTo>
                <a:cubicBezTo>
                  <a:pt x="617" y="676"/>
                  <a:pt x="651" y="640"/>
                  <a:pt x="651" y="597"/>
                </a:cubicBezTo>
                <a:lnTo>
                  <a:pt x="651" y="80"/>
                </a:lnTo>
                <a:cubicBezTo>
                  <a:pt x="651" y="36"/>
                  <a:pt x="617" y="0"/>
                  <a:pt x="574" y="0"/>
                </a:cubicBezTo>
                <a:moveTo>
                  <a:pt x="574" y="40"/>
                </a:moveTo>
                <a:cubicBezTo>
                  <a:pt x="595" y="40"/>
                  <a:pt x="613" y="58"/>
                  <a:pt x="613" y="80"/>
                </a:cubicBezTo>
                <a:lnTo>
                  <a:pt x="613" y="159"/>
                </a:lnTo>
                <a:lnTo>
                  <a:pt x="498" y="159"/>
                </a:lnTo>
                <a:lnTo>
                  <a:pt x="498" y="40"/>
                </a:lnTo>
                <a:lnTo>
                  <a:pt x="574" y="40"/>
                </a:lnTo>
                <a:moveTo>
                  <a:pt x="498" y="357"/>
                </a:moveTo>
                <a:lnTo>
                  <a:pt x="613" y="357"/>
                </a:lnTo>
                <a:lnTo>
                  <a:pt x="613" y="478"/>
                </a:lnTo>
                <a:lnTo>
                  <a:pt x="498" y="478"/>
                </a:lnTo>
                <a:lnTo>
                  <a:pt x="498" y="357"/>
                </a:lnTo>
                <a:moveTo>
                  <a:pt x="498" y="318"/>
                </a:moveTo>
                <a:lnTo>
                  <a:pt x="498" y="199"/>
                </a:lnTo>
                <a:lnTo>
                  <a:pt x="613" y="199"/>
                </a:lnTo>
                <a:lnTo>
                  <a:pt x="613" y="318"/>
                </a:lnTo>
                <a:lnTo>
                  <a:pt x="498" y="318"/>
                </a:lnTo>
                <a:moveTo>
                  <a:pt x="460" y="40"/>
                </a:moveTo>
                <a:lnTo>
                  <a:pt x="460" y="159"/>
                </a:lnTo>
                <a:lnTo>
                  <a:pt x="345" y="159"/>
                </a:lnTo>
                <a:lnTo>
                  <a:pt x="345" y="40"/>
                </a:lnTo>
                <a:lnTo>
                  <a:pt x="460" y="40"/>
                </a:lnTo>
                <a:moveTo>
                  <a:pt x="345" y="199"/>
                </a:moveTo>
                <a:lnTo>
                  <a:pt x="460" y="199"/>
                </a:lnTo>
                <a:lnTo>
                  <a:pt x="460" y="318"/>
                </a:lnTo>
                <a:lnTo>
                  <a:pt x="345" y="318"/>
                </a:lnTo>
                <a:lnTo>
                  <a:pt x="345" y="199"/>
                </a:lnTo>
                <a:moveTo>
                  <a:pt x="345" y="357"/>
                </a:moveTo>
                <a:lnTo>
                  <a:pt x="460" y="357"/>
                </a:lnTo>
                <a:lnTo>
                  <a:pt x="460" y="478"/>
                </a:lnTo>
                <a:lnTo>
                  <a:pt x="345" y="478"/>
                </a:lnTo>
                <a:lnTo>
                  <a:pt x="345" y="357"/>
                </a:lnTo>
                <a:moveTo>
                  <a:pt x="306" y="40"/>
                </a:moveTo>
                <a:lnTo>
                  <a:pt x="306" y="159"/>
                </a:lnTo>
                <a:lnTo>
                  <a:pt x="191" y="159"/>
                </a:lnTo>
                <a:lnTo>
                  <a:pt x="191" y="40"/>
                </a:lnTo>
                <a:lnTo>
                  <a:pt x="306" y="40"/>
                </a:lnTo>
                <a:moveTo>
                  <a:pt x="191" y="199"/>
                </a:moveTo>
                <a:lnTo>
                  <a:pt x="306" y="199"/>
                </a:lnTo>
                <a:lnTo>
                  <a:pt x="306" y="318"/>
                </a:lnTo>
                <a:lnTo>
                  <a:pt x="191" y="318"/>
                </a:lnTo>
                <a:lnTo>
                  <a:pt x="191" y="199"/>
                </a:lnTo>
                <a:moveTo>
                  <a:pt x="191" y="357"/>
                </a:moveTo>
                <a:lnTo>
                  <a:pt x="306" y="357"/>
                </a:lnTo>
                <a:lnTo>
                  <a:pt x="306" y="478"/>
                </a:lnTo>
                <a:lnTo>
                  <a:pt x="191" y="478"/>
                </a:lnTo>
                <a:lnTo>
                  <a:pt x="191" y="357"/>
                </a:lnTo>
                <a:moveTo>
                  <a:pt x="38" y="80"/>
                </a:moveTo>
                <a:cubicBezTo>
                  <a:pt x="38" y="58"/>
                  <a:pt x="55" y="40"/>
                  <a:pt x="77" y="40"/>
                </a:cubicBezTo>
                <a:lnTo>
                  <a:pt x="153" y="40"/>
                </a:lnTo>
                <a:lnTo>
                  <a:pt x="153" y="159"/>
                </a:lnTo>
                <a:lnTo>
                  <a:pt x="38" y="159"/>
                </a:lnTo>
                <a:lnTo>
                  <a:pt x="38" y="80"/>
                </a:lnTo>
                <a:moveTo>
                  <a:pt x="38" y="199"/>
                </a:moveTo>
                <a:lnTo>
                  <a:pt x="153" y="199"/>
                </a:lnTo>
                <a:lnTo>
                  <a:pt x="153" y="318"/>
                </a:lnTo>
                <a:lnTo>
                  <a:pt x="38" y="318"/>
                </a:lnTo>
                <a:lnTo>
                  <a:pt x="38" y="199"/>
                </a:lnTo>
                <a:moveTo>
                  <a:pt x="38" y="357"/>
                </a:moveTo>
                <a:lnTo>
                  <a:pt x="153" y="357"/>
                </a:lnTo>
                <a:lnTo>
                  <a:pt x="153" y="478"/>
                </a:lnTo>
                <a:lnTo>
                  <a:pt x="38" y="478"/>
                </a:lnTo>
                <a:lnTo>
                  <a:pt x="38" y="357"/>
                </a:lnTo>
                <a:moveTo>
                  <a:pt x="77" y="636"/>
                </a:moveTo>
                <a:cubicBezTo>
                  <a:pt x="55" y="636"/>
                  <a:pt x="38" y="618"/>
                  <a:pt x="38" y="597"/>
                </a:cubicBezTo>
                <a:lnTo>
                  <a:pt x="38" y="517"/>
                </a:lnTo>
                <a:lnTo>
                  <a:pt x="153" y="517"/>
                </a:lnTo>
                <a:lnTo>
                  <a:pt x="153" y="636"/>
                </a:lnTo>
                <a:lnTo>
                  <a:pt x="77" y="636"/>
                </a:lnTo>
                <a:moveTo>
                  <a:pt x="191" y="636"/>
                </a:moveTo>
                <a:lnTo>
                  <a:pt x="191" y="517"/>
                </a:lnTo>
                <a:lnTo>
                  <a:pt x="306" y="517"/>
                </a:lnTo>
                <a:lnTo>
                  <a:pt x="306" y="636"/>
                </a:lnTo>
                <a:lnTo>
                  <a:pt x="191" y="636"/>
                </a:lnTo>
                <a:moveTo>
                  <a:pt x="345" y="636"/>
                </a:moveTo>
                <a:lnTo>
                  <a:pt x="345" y="517"/>
                </a:lnTo>
                <a:lnTo>
                  <a:pt x="460" y="517"/>
                </a:lnTo>
                <a:lnTo>
                  <a:pt x="460" y="636"/>
                </a:lnTo>
                <a:lnTo>
                  <a:pt x="345" y="636"/>
                </a:lnTo>
                <a:moveTo>
                  <a:pt x="574" y="636"/>
                </a:moveTo>
                <a:lnTo>
                  <a:pt x="498" y="636"/>
                </a:lnTo>
                <a:lnTo>
                  <a:pt x="498" y="517"/>
                </a:lnTo>
                <a:lnTo>
                  <a:pt x="613" y="517"/>
                </a:lnTo>
                <a:lnTo>
                  <a:pt x="613" y="597"/>
                </a:lnTo>
                <a:cubicBezTo>
                  <a:pt x="613" y="618"/>
                  <a:pt x="595" y="636"/>
                  <a:pt x="574" y="63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Freeform: Shape 793"/>
          <p:cNvSpPr/>
          <p:nvPr/>
        </p:nvSpPr>
        <p:spPr>
          <a:xfrm>
            <a:off x="892080" y="965520"/>
            <a:ext cx="49680" cy="163296"/>
          </a:xfrm>
          <a:custGeom>
            <a:avLst/>
            <a:gdLst/>
            <a:ahLst/>
            <a:cxnLst/>
            <a:rect l="0" t="0" r="r" b="b"/>
            <a:pathLst>
              <a:path w="115" h="378">
                <a:moveTo>
                  <a:pt x="115" y="378"/>
                </a:moveTo>
                <a:lnTo>
                  <a:pt x="0" y="378"/>
                </a:lnTo>
                <a:lnTo>
                  <a:pt x="0" y="40"/>
                </a:lnTo>
                <a:cubicBezTo>
                  <a:pt x="0" y="18"/>
                  <a:pt x="17" y="0"/>
                  <a:pt x="38" y="0"/>
                </a:cubicBezTo>
                <a:lnTo>
                  <a:pt x="77" y="0"/>
                </a:lnTo>
                <a:cubicBezTo>
                  <a:pt x="98" y="0"/>
                  <a:pt x="115" y="18"/>
                  <a:pt x="115" y="40"/>
                </a:cubicBezTo>
                <a:lnTo>
                  <a:pt x="115" y="378"/>
                </a:ln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" name="Freeform: Shape 794"/>
          <p:cNvSpPr/>
          <p:nvPr/>
        </p:nvSpPr>
        <p:spPr>
          <a:xfrm>
            <a:off x="1023840" y="905472"/>
            <a:ext cx="50112" cy="223344"/>
          </a:xfrm>
          <a:custGeom>
            <a:avLst/>
            <a:gdLst/>
            <a:ahLst/>
            <a:cxnLst/>
            <a:rect l="0" t="0" r="r" b="b"/>
            <a:pathLst>
              <a:path w="116" h="517">
                <a:moveTo>
                  <a:pt x="116" y="517"/>
                </a:moveTo>
                <a:lnTo>
                  <a:pt x="0" y="517"/>
                </a:lnTo>
                <a:lnTo>
                  <a:pt x="0" y="40"/>
                </a:lnTo>
                <a:cubicBezTo>
                  <a:pt x="0" y="18"/>
                  <a:pt x="18" y="0"/>
                  <a:pt x="39" y="0"/>
                </a:cubicBezTo>
                <a:lnTo>
                  <a:pt x="77" y="0"/>
                </a:lnTo>
                <a:cubicBezTo>
                  <a:pt x="99" y="0"/>
                  <a:pt x="116" y="18"/>
                  <a:pt x="116" y="40"/>
                </a:cubicBezTo>
                <a:lnTo>
                  <a:pt x="116" y="517"/>
                </a:lnTo>
                <a:close/>
              </a:path>
            </a:pathLst>
          </a:custGeom>
          <a:solidFill>
            <a:srgbClr val="3B94D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Freeform: Shape 795"/>
          <p:cNvSpPr/>
          <p:nvPr/>
        </p:nvSpPr>
        <p:spPr>
          <a:xfrm>
            <a:off x="958176" y="1025568"/>
            <a:ext cx="49680" cy="103248"/>
          </a:xfrm>
          <a:custGeom>
            <a:avLst/>
            <a:gdLst/>
            <a:ahLst/>
            <a:cxnLst/>
            <a:rect l="0" t="0" r="r" b="b"/>
            <a:pathLst>
              <a:path w="115" h="239">
                <a:moveTo>
                  <a:pt x="115" y="239"/>
                </a:moveTo>
                <a:lnTo>
                  <a:pt x="0" y="239"/>
                </a:lnTo>
                <a:lnTo>
                  <a:pt x="0" y="40"/>
                </a:lnTo>
                <a:cubicBezTo>
                  <a:pt x="0" y="18"/>
                  <a:pt x="18" y="0"/>
                  <a:pt x="39" y="0"/>
                </a:cubicBezTo>
                <a:lnTo>
                  <a:pt x="77" y="0"/>
                </a:lnTo>
                <a:cubicBezTo>
                  <a:pt x="98" y="0"/>
                  <a:pt x="115" y="18"/>
                  <a:pt x="115" y="40"/>
                </a:cubicBezTo>
                <a:lnTo>
                  <a:pt x="115" y="239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" name="TextBox 796"/>
          <p:cNvSpPr txBox="1"/>
          <p:nvPr/>
        </p:nvSpPr>
        <p:spPr>
          <a:xfrm>
            <a:off x="1146961" y="794449"/>
            <a:ext cx="2350965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Day 2 Summary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TextBox 797"/>
          <p:cNvSpPr txBox="1"/>
          <p:nvPr/>
        </p:nvSpPr>
        <p:spPr>
          <a:xfrm>
            <a:off x="800065" y="1406161"/>
            <a:ext cx="2368597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What You Accomplished: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Freeform: Shape 798"/>
          <p:cNvSpPr/>
          <p:nvPr/>
        </p:nvSpPr>
        <p:spPr>
          <a:xfrm>
            <a:off x="1280016" y="1919808"/>
            <a:ext cx="194832" cy="194832"/>
          </a:xfrm>
          <a:custGeom>
            <a:avLst/>
            <a:gdLst/>
            <a:ahLst/>
            <a:cxnLst/>
            <a:rect l="0" t="0" r="r" b="b"/>
            <a:pathLst>
              <a:path w="451" h="451">
                <a:moveTo>
                  <a:pt x="451" y="401"/>
                </a:moveTo>
                <a:cubicBezTo>
                  <a:pt x="451" y="429"/>
                  <a:pt x="428" y="451"/>
                  <a:pt x="400" y="451"/>
                </a:cubicBezTo>
                <a:lnTo>
                  <a:pt x="50" y="451"/>
                </a:lnTo>
                <a:cubicBezTo>
                  <a:pt x="22" y="451"/>
                  <a:pt x="0" y="429"/>
                  <a:pt x="0" y="401"/>
                </a:cubicBezTo>
                <a:lnTo>
                  <a:pt x="0" y="50"/>
                </a:lnTo>
                <a:cubicBezTo>
                  <a:pt x="0" y="23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3"/>
                  <a:pt x="451" y="50"/>
                </a:cubicBezTo>
                <a:lnTo>
                  <a:pt x="451" y="40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Freeform: Shape 799"/>
          <p:cNvSpPr/>
          <p:nvPr/>
        </p:nvSpPr>
        <p:spPr>
          <a:xfrm>
            <a:off x="1310688" y="1952208"/>
            <a:ext cx="133488" cy="131328"/>
          </a:xfrm>
          <a:custGeom>
            <a:avLst/>
            <a:gdLst/>
            <a:ahLst/>
            <a:cxnLst/>
            <a:rect l="0" t="0" r="r" b="b"/>
            <a:pathLst>
              <a:path w="309" h="304">
                <a:moveTo>
                  <a:pt x="296" y="5"/>
                </a:moveTo>
                <a:cubicBezTo>
                  <a:pt x="281" y="-4"/>
                  <a:pt x="262" y="0"/>
                  <a:pt x="252" y="14"/>
                </a:cubicBezTo>
                <a:lnTo>
                  <a:pt x="115" y="225"/>
                </a:lnTo>
                <a:lnTo>
                  <a:pt x="53" y="166"/>
                </a:lnTo>
                <a:cubicBezTo>
                  <a:pt x="40" y="154"/>
                  <a:pt x="20" y="155"/>
                  <a:pt x="8" y="167"/>
                </a:cubicBezTo>
                <a:cubicBezTo>
                  <a:pt x="-3" y="181"/>
                  <a:pt x="-2" y="201"/>
                  <a:pt x="10" y="213"/>
                </a:cubicBezTo>
                <a:lnTo>
                  <a:pt x="100" y="296"/>
                </a:lnTo>
                <a:cubicBezTo>
                  <a:pt x="106" y="301"/>
                  <a:pt x="114" y="304"/>
                  <a:pt x="121" y="304"/>
                </a:cubicBezTo>
                <a:cubicBezTo>
                  <a:pt x="130" y="304"/>
                  <a:pt x="141" y="301"/>
                  <a:pt x="148" y="290"/>
                </a:cubicBezTo>
                <a:cubicBezTo>
                  <a:pt x="152" y="284"/>
                  <a:pt x="305" y="48"/>
                  <a:pt x="305" y="48"/>
                </a:cubicBezTo>
                <a:cubicBezTo>
                  <a:pt x="314" y="34"/>
                  <a:pt x="310" y="14"/>
                  <a:pt x="29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TextBox 800"/>
          <p:cNvSpPr txBox="1"/>
          <p:nvPr/>
        </p:nvSpPr>
        <p:spPr>
          <a:xfrm>
            <a:off x="1007424" y="1886113"/>
            <a:ext cx="20839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1.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TextBox 801"/>
          <p:cNvSpPr txBox="1"/>
          <p:nvPr/>
        </p:nvSpPr>
        <p:spPr>
          <a:xfrm>
            <a:off x="1488241" y="1886113"/>
            <a:ext cx="274735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Understood CI/CD philosophy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Freeform: Shape 802"/>
          <p:cNvSpPr/>
          <p:nvPr/>
        </p:nvSpPr>
        <p:spPr>
          <a:xfrm>
            <a:off x="1280016" y="2251584"/>
            <a:ext cx="194832" cy="194832"/>
          </a:xfrm>
          <a:custGeom>
            <a:avLst/>
            <a:gdLst/>
            <a:ahLst/>
            <a:cxnLst/>
            <a:rect l="0" t="0" r="r" b="b"/>
            <a:pathLst>
              <a:path w="451" h="451">
                <a:moveTo>
                  <a:pt x="451" y="400"/>
                </a:moveTo>
                <a:cubicBezTo>
                  <a:pt x="451" y="428"/>
                  <a:pt x="428" y="451"/>
                  <a:pt x="400" y="451"/>
                </a:cubicBezTo>
                <a:lnTo>
                  <a:pt x="50" y="451"/>
                </a:lnTo>
                <a:cubicBezTo>
                  <a:pt x="22" y="451"/>
                  <a:pt x="0" y="428"/>
                  <a:pt x="0" y="400"/>
                </a:cubicBezTo>
                <a:lnTo>
                  <a:pt x="0" y="50"/>
                </a:lnTo>
                <a:cubicBezTo>
                  <a:pt x="0" y="22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2"/>
                  <a:pt x="451" y="50"/>
                </a:cubicBezTo>
                <a:lnTo>
                  <a:pt x="451" y="40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Freeform: Shape 803"/>
          <p:cNvSpPr/>
          <p:nvPr/>
        </p:nvSpPr>
        <p:spPr>
          <a:xfrm>
            <a:off x="1310688" y="2283552"/>
            <a:ext cx="133488" cy="131328"/>
          </a:xfrm>
          <a:custGeom>
            <a:avLst/>
            <a:gdLst/>
            <a:ahLst/>
            <a:cxnLst/>
            <a:rect l="0" t="0" r="r" b="b"/>
            <a:pathLst>
              <a:path w="309" h="304">
                <a:moveTo>
                  <a:pt x="296" y="5"/>
                </a:moveTo>
                <a:cubicBezTo>
                  <a:pt x="281" y="-4"/>
                  <a:pt x="262" y="0"/>
                  <a:pt x="252" y="14"/>
                </a:cubicBezTo>
                <a:lnTo>
                  <a:pt x="115" y="225"/>
                </a:lnTo>
                <a:lnTo>
                  <a:pt x="53" y="167"/>
                </a:lnTo>
                <a:cubicBezTo>
                  <a:pt x="40" y="155"/>
                  <a:pt x="20" y="156"/>
                  <a:pt x="8" y="169"/>
                </a:cubicBezTo>
                <a:cubicBezTo>
                  <a:pt x="-3" y="181"/>
                  <a:pt x="-2" y="201"/>
                  <a:pt x="10" y="213"/>
                </a:cubicBezTo>
                <a:lnTo>
                  <a:pt x="100" y="296"/>
                </a:lnTo>
                <a:cubicBezTo>
                  <a:pt x="106" y="302"/>
                  <a:pt x="114" y="304"/>
                  <a:pt x="121" y="304"/>
                </a:cubicBezTo>
                <a:cubicBezTo>
                  <a:pt x="130" y="304"/>
                  <a:pt x="141" y="301"/>
                  <a:pt x="148" y="290"/>
                </a:cubicBezTo>
                <a:cubicBezTo>
                  <a:pt x="152" y="284"/>
                  <a:pt x="305" y="49"/>
                  <a:pt x="305" y="49"/>
                </a:cubicBezTo>
                <a:cubicBezTo>
                  <a:pt x="314" y="35"/>
                  <a:pt x="310" y="15"/>
                  <a:pt x="29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TextBox 804"/>
          <p:cNvSpPr txBox="1"/>
          <p:nvPr/>
        </p:nvSpPr>
        <p:spPr>
          <a:xfrm>
            <a:off x="1007424" y="2217457"/>
            <a:ext cx="20839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2.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TextBox 805"/>
          <p:cNvSpPr txBox="1"/>
          <p:nvPr/>
        </p:nvSpPr>
        <p:spPr>
          <a:xfrm>
            <a:off x="1488240" y="2217457"/>
            <a:ext cx="364465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Created and configured Jenkins pipeline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Freeform: Shape 806"/>
          <p:cNvSpPr/>
          <p:nvPr/>
        </p:nvSpPr>
        <p:spPr>
          <a:xfrm>
            <a:off x="1280016" y="2582928"/>
            <a:ext cx="194832" cy="194832"/>
          </a:xfrm>
          <a:custGeom>
            <a:avLst/>
            <a:gdLst/>
            <a:ahLst/>
            <a:cxnLst/>
            <a:rect l="0" t="0" r="r" b="b"/>
            <a:pathLst>
              <a:path w="451" h="451">
                <a:moveTo>
                  <a:pt x="451" y="401"/>
                </a:moveTo>
                <a:cubicBezTo>
                  <a:pt x="451" y="428"/>
                  <a:pt x="428" y="451"/>
                  <a:pt x="400" y="451"/>
                </a:cubicBezTo>
                <a:lnTo>
                  <a:pt x="50" y="451"/>
                </a:lnTo>
                <a:cubicBezTo>
                  <a:pt x="22" y="451"/>
                  <a:pt x="0" y="428"/>
                  <a:pt x="0" y="401"/>
                </a:cubicBezTo>
                <a:lnTo>
                  <a:pt x="0" y="50"/>
                </a:lnTo>
                <a:cubicBezTo>
                  <a:pt x="0" y="22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2"/>
                  <a:pt x="451" y="50"/>
                </a:cubicBezTo>
                <a:lnTo>
                  <a:pt x="451" y="40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Freeform: Shape 807"/>
          <p:cNvSpPr/>
          <p:nvPr/>
        </p:nvSpPr>
        <p:spPr>
          <a:xfrm>
            <a:off x="1310688" y="2615328"/>
            <a:ext cx="133488" cy="131760"/>
          </a:xfrm>
          <a:custGeom>
            <a:avLst/>
            <a:gdLst/>
            <a:ahLst/>
            <a:cxnLst/>
            <a:rect l="0" t="0" r="r" b="b"/>
            <a:pathLst>
              <a:path w="309" h="305">
                <a:moveTo>
                  <a:pt x="296" y="6"/>
                </a:moveTo>
                <a:cubicBezTo>
                  <a:pt x="281" y="-4"/>
                  <a:pt x="262" y="0"/>
                  <a:pt x="252" y="15"/>
                </a:cubicBezTo>
                <a:lnTo>
                  <a:pt x="115" y="225"/>
                </a:lnTo>
                <a:lnTo>
                  <a:pt x="53" y="167"/>
                </a:lnTo>
                <a:cubicBezTo>
                  <a:pt x="40" y="155"/>
                  <a:pt x="20" y="155"/>
                  <a:pt x="8" y="169"/>
                </a:cubicBezTo>
                <a:cubicBezTo>
                  <a:pt x="-3" y="182"/>
                  <a:pt x="-2" y="201"/>
                  <a:pt x="10" y="213"/>
                </a:cubicBezTo>
                <a:lnTo>
                  <a:pt x="100" y="296"/>
                </a:lnTo>
                <a:cubicBezTo>
                  <a:pt x="106" y="302"/>
                  <a:pt x="114" y="305"/>
                  <a:pt x="121" y="305"/>
                </a:cubicBezTo>
                <a:cubicBezTo>
                  <a:pt x="130" y="305"/>
                  <a:pt x="141" y="301"/>
                  <a:pt x="148" y="291"/>
                </a:cubicBezTo>
                <a:cubicBezTo>
                  <a:pt x="152" y="284"/>
                  <a:pt x="305" y="49"/>
                  <a:pt x="305" y="49"/>
                </a:cubicBezTo>
                <a:cubicBezTo>
                  <a:pt x="314" y="34"/>
                  <a:pt x="310" y="15"/>
                  <a:pt x="296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TextBox 808"/>
          <p:cNvSpPr txBox="1"/>
          <p:nvPr/>
        </p:nvSpPr>
        <p:spPr>
          <a:xfrm>
            <a:off x="1007424" y="2548801"/>
            <a:ext cx="20839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3.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TextBox 809"/>
          <p:cNvSpPr txBox="1"/>
          <p:nvPr/>
        </p:nvSpPr>
        <p:spPr>
          <a:xfrm>
            <a:off x="1488240" y="2548801"/>
            <a:ext cx="368754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Set up GitHub webhooks for automation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Freeform: Shape 810"/>
          <p:cNvSpPr/>
          <p:nvPr/>
        </p:nvSpPr>
        <p:spPr>
          <a:xfrm>
            <a:off x="1280016" y="2914272"/>
            <a:ext cx="194832" cy="194832"/>
          </a:xfrm>
          <a:custGeom>
            <a:avLst/>
            <a:gdLst/>
            <a:ahLst/>
            <a:cxnLst/>
            <a:rect l="0" t="0" r="r" b="b"/>
            <a:pathLst>
              <a:path w="451" h="451">
                <a:moveTo>
                  <a:pt x="451" y="401"/>
                </a:moveTo>
                <a:cubicBezTo>
                  <a:pt x="451" y="429"/>
                  <a:pt x="428" y="451"/>
                  <a:pt x="400" y="451"/>
                </a:cubicBezTo>
                <a:lnTo>
                  <a:pt x="50" y="451"/>
                </a:lnTo>
                <a:cubicBezTo>
                  <a:pt x="22" y="451"/>
                  <a:pt x="0" y="429"/>
                  <a:pt x="0" y="401"/>
                </a:cubicBezTo>
                <a:lnTo>
                  <a:pt x="0" y="50"/>
                </a:lnTo>
                <a:cubicBezTo>
                  <a:pt x="0" y="23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3"/>
                  <a:pt x="451" y="50"/>
                </a:cubicBezTo>
                <a:lnTo>
                  <a:pt x="451" y="40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Freeform: Shape 811"/>
          <p:cNvSpPr/>
          <p:nvPr/>
        </p:nvSpPr>
        <p:spPr>
          <a:xfrm>
            <a:off x="1310688" y="2946672"/>
            <a:ext cx="133488" cy="131760"/>
          </a:xfrm>
          <a:custGeom>
            <a:avLst/>
            <a:gdLst/>
            <a:ahLst/>
            <a:cxnLst/>
            <a:rect l="0" t="0" r="r" b="b"/>
            <a:pathLst>
              <a:path w="309" h="305">
                <a:moveTo>
                  <a:pt x="296" y="6"/>
                </a:moveTo>
                <a:cubicBezTo>
                  <a:pt x="281" y="-5"/>
                  <a:pt x="262" y="1"/>
                  <a:pt x="252" y="15"/>
                </a:cubicBezTo>
                <a:lnTo>
                  <a:pt x="115" y="225"/>
                </a:lnTo>
                <a:lnTo>
                  <a:pt x="53" y="167"/>
                </a:lnTo>
                <a:cubicBezTo>
                  <a:pt x="40" y="155"/>
                  <a:pt x="20" y="156"/>
                  <a:pt x="8" y="168"/>
                </a:cubicBezTo>
                <a:cubicBezTo>
                  <a:pt x="-3" y="181"/>
                  <a:pt x="-2" y="201"/>
                  <a:pt x="10" y="212"/>
                </a:cubicBezTo>
                <a:lnTo>
                  <a:pt x="100" y="296"/>
                </a:lnTo>
                <a:cubicBezTo>
                  <a:pt x="106" y="302"/>
                  <a:pt x="114" y="305"/>
                  <a:pt x="121" y="305"/>
                </a:cubicBezTo>
                <a:cubicBezTo>
                  <a:pt x="130" y="305"/>
                  <a:pt x="141" y="302"/>
                  <a:pt x="148" y="290"/>
                </a:cubicBezTo>
                <a:cubicBezTo>
                  <a:pt x="152" y="284"/>
                  <a:pt x="305" y="49"/>
                  <a:pt x="305" y="49"/>
                </a:cubicBezTo>
                <a:cubicBezTo>
                  <a:pt x="314" y="35"/>
                  <a:pt x="310" y="15"/>
                  <a:pt x="296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TextBox 812"/>
          <p:cNvSpPr txBox="1"/>
          <p:nvPr/>
        </p:nvSpPr>
        <p:spPr>
          <a:xfrm>
            <a:off x="1007424" y="2880577"/>
            <a:ext cx="20839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4.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TextBox 813"/>
          <p:cNvSpPr txBox="1"/>
          <p:nvPr/>
        </p:nvSpPr>
        <p:spPr>
          <a:xfrm>
            <a:off x="1488241" y="2880577"/>
            <a:ext cx="286802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Deployed to Kubernetes cluster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Freeform: Shape 814"/>
          <p:cNvSpPr/>
          <p:nvPr/>
        </p:nvSpPr>
        <p:spPr>
          <a:xfrm>
            <a:off x="1280016" y="3246048"/>
            <a:ext cx="194832" cy="194400"/>
          </a:xfrm>
          <a:custGeom>
            <a:avLst/>
            <a:gdLst/>
            <a:ahLst/>
            <a:cxnLst/>
            <a:rect l="0" t="0" r="r" b="b"/>
            <a:pathLst>
              <a:path w="451" h="450">
                <a:moveTo>
                  <a:pt x="451" y="400"/>
                </a:moveTo>
                <a:cubicBezTo>
                  <a:pt x="451" y="428"/>
                  <a:pt x="428" y="450"/>
                  <a:pt x="400" y="450"/>
                </a:cubicBezTo>
                <a:lnTo>
                  <a:pt x="50" y="450"/>
                </a:lnTo>
                <a:cubicBezTo>
                  <a:pt x="22" y="450"/>
                  <a:pt x="0" y="428"/>
                  <a:pt x="0" y="400"/>
                </a:cubicBezTo>
                <a:lnTo>
                  <a:pt x="0" y="50"/>
                </a:lnTo>
                <a:cubicBezTo>
                  <a:pt x="0" y="22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2"/>
                  <a:pt x="451" y="50"/>
                </a:cubicBezTo>
                <a:lnTo>
                  <a:pt x="451" y="40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Freeform: Shape 815"/>
          <p:cNvSpPr/>
          <p:nvPr/>
        </p:nvSpPr>
        <p:spPr>
          <a:xfrm>
            <a:off x="1310688" y="3278016"/>
            <a:ext cx="133488" cy="131328"/>
          </a:xfrm>
          <a:custGeom>
            <a:avLst/>
            <a:gdLst/>
            <a:ahLst/>
            <a:cxnLst/>
            <a:rect l="0" t="0" r="r" b="b"/>
            <a:pathLst>
              <a:path w="309" h="304">
                <a:moveTo>
                  <a:pt x="296" y="5"/>
                </a:moveTo>
                <a:cubicBezTo>
                  <a:pt x="281" y="-4"/>
                  <a:pt x="262" y="0"/>
                  <a:pt x="252" y="14"/>
                </a:cubicBezTo>
                <a:lnTo>
                  <a:pt x="115" y="225"/>
                </a:lnTo>
                <a:lnTo>
                  <a:pt x="53" y="167"/>
                </a:lnTo>
                <a:cubicBezTo>
                  <a:pt x="40" y="155"/>
                  <a:pt x="20" y="156"/>
                  <a:pt x="8" y="169"/>
                </a:cubicBezTo>
                <a:cubicBezTo>
                  <a:pt x="-3" y="181"/>
                  <a:pt x="-2" y="201"/>
                  <a:pt x="10" y="213"/>
                </a:cubicBezTo>
                <a:lnTo>
                  <a:pt x="100" y="296"/>
                </a:lnTo>
                <a:cubicBezTo>
                  <a:pt x="106" y="302"/>
                  <a:pt x="114" y="304"/>
                  <a:pt x="121" y="304"/>
                </a:cubicBezTo>
                <a:cubicBezTo>
                  <a:pt x="130" y="304"/>
                  <a:pt x="141" y="301"/>
                  <a:pt x="148" y="290"/>
                </a:cubicBezTo>
                <a:cubicBezTo>
                  <a:pt x="152" y="284"/>
                  <a:pt x="305" y="48"/>
                  <a:pt x="305" y="48"/>
                </a:cubicBezTo>
                <a:cubicBezTo>
                  <a:pt x="314" y="34"/>
                  <a:pt x="310" y="15"/>
                  <a:pt x="296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TextBox 816"/>
          <p:cNvSpPr txBox="1"/>
          <p:nvPr/>
        </p:nvSpPr>
        <p:spPr>
          <a:xfrm>
            <a:off x="1007424" y="3211921"/>
            <a:ext cx="20839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5.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TextBox 817"/>
          <p:cNvSpPr txBox="1"/>
          <p:nvPr/>
        </p:nvSpPr>
        <p:spPr>
          <a:xfrm>
            <a:off x="1488240" y="3211921"/>
            <a:ext cx="338913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Achieved full end-to-end automation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Freeform: Shape 818"/>
          <p:cNvSpPr/>
          <p:nvPr/>
        </p:nvSpPr>
        <p:spPr>
          <a:xfrm>
            <a:off x="1039824" y="4262976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2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2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TextBox 819"/>
          <p:cNvSpPr txBox="1"/>
          <p:nvPr/>
        </p:nvSpPr>
        <p:spPr>
          <a:xfrm>
            <a:off x="800064" y="3680641"/>
            <a:ext cx="147027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Key Takeaways: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Freeform: Shape 820"/>
          <p:cNvSpPr/>
          <p:nvPr/>
        </p:nvSpPr>
        <p:spPr>
          <a:xfrm>
            <a:off x="1039824" y="4594752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2" name="TextBox 821"/>
          <p:cNvSpPr txBox="1"/>
          <p:nvPr/>
        </p:nvSpPr>
        <p:spPr>
          <a:xfrm>
            <a:off x="1257120" y="4149361"/>
            <a:ext cx="546624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CI/CD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= Continuous Integration &amp; Deployment (automation)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Freeform: Shape 822"/>
          <p:cNvSpPr/>
          <p:nvPr/>
        </p:nvSpPr>
        <p:spPr>
          <a:xfrm>
            <a:off x="1039824" y="4926096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TextBox 823"/>
          <p:cNvSpPr txBox="1"/>
          <p:nvPr/>
        </p:nvSpPr>
        <p:spPr>
          <a:xfrm>
            <a:off x="1257120" y="4480705"/>
            <a:ext cx="3508396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Jenkins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= Pipeline orchestration server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Freeform: Shape 824"/>
          <p:cNvSpPr/>
          <p:nvPr/>
        </p:nvSpPr>
        <p:spPr>
          <a:xfrm>
            <a:off x="1039824" y="525744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6" name="TextBox 825"/>
          <p:cNvSpPr txBox="1"/>
          <p:nvPr/>
        </p:nvSpPr>
        <p:spPr>
          <a:xfrm>
            <a:off x="1257120" y="4812049"/>
            <a:ext cx="392030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Webhooks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= Automatic trigger mechanism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Freeform: Shape 826"/>
          <p:cNvSpPr/>
          <p:nvPr/>
        </p:nvSpPr>
        <p:spPr>
          <a:xfrm>
            <a:off x="1039824" y="5589216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TextBox 827"/>
          <p:cNvSpPr txBox="1"/>
          <p:nvPr/>
        </p:nvSpPr>
        <p:spPr>
          <a:xfrm>
            <a:off x="1257120" y="5143825"/>
            <a:ext cx="445718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Kubernetes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= Production container orchestration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TextBox 828"/>
          <p:cNvSpPr txBox="1"/>
          <p:nvPr/>
        </p:nvSpPr>
        <p:spPr>
          <a:xfrm>
            <a:off x="1257120" y="5475169"/>
            <a:ext cx="626543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DevOps </a:t>
            </a:r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= Bridging development and operations through automation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Freeform: Shape 829"/>
          <p:cNvSpPr/>
          <p:nvPr/>
        </p:nvSpPr>
        <p:spPr>
          <a:xfrm>
            <a:off x="1039824" y="6537888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1" name="Freeform: Shape 830"/>
          <p:cNvSpPr/>
          <p:nvPr/>
        </p:nvSpPr>
        <p:spPr>
          <a:xfrm>
            <a:off x="1302480" y="6526224"/>
            <a:ext cx="91152" cy="74736"/>
          </a:xfrm>
          <a:custGeom>
            <a:avLst/>
            <a:gdLst/>
            <a:ahLst/>
            <a:cxnLst/>
            <a:rect l="0" t="0" r="r" b="b"/>
            <a:pathLst>
              <a:path w="211" h="173">
                <a:moveTo>
                  <a:pt x="74" y="0"/>
                </a:moveTo>
                <a:cubicBezTo>
                  <a:pt x="111" y="67"/>
                  <a:pt x="74" y="143"/>
                  <a:pt x="36" y="129"/>
                </a:cubicBezTo>
                <a:cubicBezTo>
                  <a:pt x="-2" y="116"/>
                  <a:pt x="-15" y="156"/>
                  <a:pt x="23" y="169"/>
                </a:cubicBezTo>
                <a:cubicBezTo>
                  <a:pt x="61" y="182"/>
                  <a:pt x="142" y="163"/>
                  <a:pt x="186" y="116"/>
                </a:cubicBezTo>
                <a:cubicBezTo>
                  <a:pt x="199" y="103"/>
                  <a:pt x="211" y="103"/>
                  <a:pt x="211" y="103"/>
                </a:cubicBezTo>
                <a:lnTo>
                  <a:pt x="74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Freeform: Shape 831"/>
          <p:cNvSpPr/>
          <p:nvPr/>
        </p:nvSpPr>
        <p:spPr>
          <a:xfrm>
            <a:off x="1360800" y="6526224"/>
            <a:ext cx="91152" cy="74736"/>
          </a:xfrm>
          <a:custGeom>
            <a:avLst/>
            <a:gdLst/>
            <a:ahLst/>
            <a:cxnLst/>
            <a:rect l="0" t="0" r="r" b="b"/>
            <a:pathLst>
              <a:path w="211" h="173">
                <a:moveTo>
                  <a:pt x="139" y="0"/>
                </a:moveTo>
                <a:cubicBezTo>
                  <a:pt x="100" y="67"/>
                  <a:pt x="139" y="143"/>
                  <a:pt x="176" y="129"/>
                </a:cubicBezTo>
                <a:cubicBezTo>
                  <a:pt x="214" y="116"/>
                  <a:pt x="226" y="156"/>
                  <a:pt x="189" y="169"/>
                </a:cubicBezTo>
                <a:cubicBezTo>
                  <a:pt x="151" y="182"/>
                  <a:pt x="69" y="163"/>
                  <a:pt x="25" y="116"/>
                </a:cubicBezTo>
                <a:cubicBezTo>
                  <a:pt x="13" y="103"/>
                  <a:pt x="0" y="103"/>
                  <a:pt x="0" y="103"/>
                </a:cubicBezTo>
                <a:lnTo>
                  <a:pt x="139" y="0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Freeform: Shape 832"/>
          <p:cNvSpPr/>
          <p:nvPr/>
        </p:nvSpPr>
        <p:spPr>
          <a:xfrm>
            <a:off x="1280016" y="6549120"/>
            <a:ext cx="194832" cy="74736"/>
          </a:xfrm>
          <a:custGeom>
            <a:avLst/>
            <a:gdLst/>
            <a:ahLst/>
            <a:cxnLst/>
            <a:rect l="0" t="0" r="r" b="b"/>
            <a:pathLst>
              <a:path w="451" h="173">
                <a:moveTo>
                  <a:pt x="415" y="128"/>
                </a:moveTo>
                <a:cubicBezTo>
                  <a:pt x="453" y="115"/>
                  <a:pt x="465" y="156"/>
                  <a:pt x="428" y="169"/>
                </a:cubicBezTo>
                <a:cubicBezTo>
                  <a:pt x="390" y="182"/>
                  <a:pt x="309" y="163"/>
                  <a:pt x="265" y="115"/>
                </a:cubicBezTo>
                <a:cubicBezTo>
                  <a:pt x="252" y="102"/>
                  <a:pt x="240" y="102"/>
                  <a:pt x="240" y="102"/>
                </a:cubicBezTo>
                <a:lnTo>
                  <a:pt x="377" y="0"/>
                </a:lnTo>
                <a:cubicBezTo>
                  <a:pt x="340" y="66"/>
                  <a:pt x="377" y="142"/>
                  <a:pt x="415" y="128"/>
                </a:cubicBezTo>
                <a:moveTo>
                  <a:pt x="72" y="0"/>
                </a:moveTo>
                <a:cubicBezTo>
                  <a:pt x="110" y="66"/>
                  <a:pt x="72" y="142"/>
                  <a:pt x="35" y="128"/>
                </a:cubicBezTo>
                <a:cubicBezTo>
                  <a:pt x="-3" y="115"/>
                  <a:pt x="-15" y="156"/>
                  <a:pt x="22" y="169"/>
                </a:cubicBezTo>
                <a:cubicBezTo>
                  <a:pt x="60" y="182"/>
                  <a:pt x="141" y="163"/>
                  <a:pt x="185" y="115"/>
                </a:cubicBezTo>
                <a:cubicBezTo>
                  <a:pt x="197" y="102"/>
                  <a:pt x="210" y="102"/>
                  <a:pt x="210" y="102"/>
                </a:cubicBezTo>
                <a:lnTo>
                  <a:pt x="72" y="0"/>
                </a:lnTo>
                <a:close/>
              </a:path>
            </a:pathLst>
          </a:custGeom>
          <a:solidFill>
            <a:srgbClr val="744EA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Freeform: Shape 833"/>
          <p:cNvSpPr/>
          <p:nvPr/>
        </p:nvSpPr>
        <p:spPr>
          <a:xfrm>
            <a:off x="1280016" y="6457536"/>
            <a:ext cx="194832" cy="204336"/>
          </a:xfrm>
          <a:custGeom>
            <a:avLst/>
            <a:gdLst/>
            <a:ahLst/>
            <a:cxnLst/>
            <a:rect l="0" t="0" r="r" b="b"/>
            <a:pathLst>
              <a:path w="451" h="473">
                <a:moveTo>
                  <a:pt x="415" y="417"/>
                </a:moveTo>
                <a:cubicBezTo>
                  <a:pt x="380" y="429"/>
                  <a:pt x="334" y="341"/>
                  <a:pt x="354" y="276"/>
                </a:cubicBezTo>
                <a:cubicBezTo>
                  <a:pt x="375" y="233"/>
                  <a:pt x="387" y="185"/>
                  <a:pt x="387" y="146"/>
                </a:cubicBezTo>
                <a:cubicBezTo>
                  <a:pt x="387" y="51"/>
                  <a:pt x="314" y="0"/>
                  <a:pt x="225" y="0"/>
                </a:cubicBezTo>
                <a:cubicBezTo>
                  <a:pt x="135" y="0"/>
                  <a:pt x="62" y="51"/>
                  <a:pt x="62" y="146"/>
                </a:cubicBezTo>
                <a:cubicBezTo>
                  <a:pt x="62" y="185"/>
                  <a:pt x="75" y="233"/>
                  <a:pt x="95" y="276"/>
                </a:cubicBezTo>
                <a:cubicBezTo>
                  <a:pt x="115" y="341"/>
                  <a:pt x="69" y="429"/>
                  <a:pt x="35" y="417"/>
                </a:cubicBezTo>
                <a:cubicBezTo>
                  <a:pt x="-3" y="403"/>
                  <a:pt x="-15" y="456"/>
                  <a:pt x="22" y="469"/>
                </a:cubicBezTo>
                <a:cubicBezTo>
                  <a:pt x="60" y="483"/>
                  <a:pt x="126" y="461"/>
                  <a:pt x="172" y="417"/>
                </a:cubicBezTo>
                <a:cubicBezTo>
                  <a:pt x="200" y="390"/>
                  <a:pt x="225" y="390"/>
                  <a:pt x="225" y="390"/>
                </a:cubicBezTo>
                <a:cubicBezTo>
                  <a:pt x="225" y="390"/>
                  <a:pt x="250" y="390"/>
                  <a:pt x="277" y="417"/>
                </a:cubicBezTo>
                <a:cubicBezTo>
                  <a:pt x="323" y="461"/>
                  <a:pt x="390" y="483"/>
                  <a:pt x="428" y="469"/>
                </a:cubicBezTo>
                <a:cubicBezTo>
                  <a:pt x="465" y="456"/>
                  <a:pt x="453" y="403"/>
                  <a:pt x="415" y="417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Freeform: Shape 834"/>
          <p:cNvSpPr/>
          <p:nvPr/>
        </p:nvSpPr>
        <p:spPr>
          <a:xfrm>
            <a:off x="1344816" y="6566400"/>
            <a:ext cx="22032" cy="23328"/>
          </a:xfrm>
          <a:custGeom>
            <a:avLst/>
            <a:gdLst/>
            <a:ahLst/>
            <a:cxnLst/>
            <a:rect l="0" t="0" r="r" b="b"/>
            <a:pathLst>
              <a:path w="51" h="54">
                <a:moveTo>
                  <a:pt x="51" y="27"/>
                </a:moveTo>
                <a:cubicBezTo>
                  <a:pt x="51" y="35"/>
                  <a:pt x="47" y="41"/>
                  <a:pt x="42" y="46"/>
                </a:cubicBezTo>
                <a:cubicBezTo>
                  <a:pt x="38" y="51"/>
                  <a:pt x="32" y="54"/>
                  <a:pt x="25" y="54"/>
                </a:cubicBezTo>
                <a:cubicBezTo>
                  <a:pt x="18" y="54"/>
                  <a:pt x="12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2" y="2"/>
                  <a:pt x="18" y="0"/>
                  <a:pt x="25" y="0"/>
                </a:cubicBezTo>
                <a:cubicBezTo>
                  <a:pt x="32" y="0"/>
                  <a:pt x="38" y="2"/>
                  <a:pt x="42" y="8"/>
                </a:cubicBezTo>
                <a:cubicBezTo>
                  <a:pt x="47" y="14"/>
                  <a:pt x="51" y="20"/>
                  <a:pt x="51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Freeform: Shape 835"/>
          <p:cNvSpPr/>
          <p:nvPr/>
        </p:nvSpPr>
        <p:spPr>
          <a:xfrm>
            <a:off x="1388016" y="6566400"/>
            <a:ext cx="22032" cy="23328"/>
          </a:xfrm>
          <a:custGeom>
            <a:avLst/>
            <a:gdLst/>
            <a:ahLst/>
            <a:cxnLst/>
            <a:rect l="0" t="0" r="r" b="b"/>
            <a:pathLst>
              <a:path w="51" h="54">
                <a:moveTo>
                  <a:pt x="51" y="27"/>
                </a:moveTo>
                <a:cubicBezTo>
                  <a:pt x="51" y="35"/>
                  <a:pt x="48" y="41"/>
                  <a:pt x="42" y="46"/>
                </a:cubicBezTo>
                <a:cubicBezTo>
                  <a:pt x="37" y="51"/>
                  <a:pt x="32" y="54"/>
                  <a:pt x="25" y="54"/>
                </a:cubicBezTo>
                <a:cubicBezTo>
                  <a:pt x="18" y="54"/>
                  <a:pt x="12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2" y="2"/>
                  <a:pt x="18" y="0"/>
                  <a:pt x="25" y="0"/>
                </a:cubicBezTo>
                <a:cubicBezTo>
                  <a:pt x="32" y="0"/>
                  <a:pt x="37" y="2"/>
                  <a:pt x="42" y="8"/>
                </a:cubicBezTo>
                <a:cubicBezTo>
                  <a:pt x="48" y="14"/>
                  <a:pt x="51" y="20"/>
                  <a:pt x="51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TextBox 836"/>
          <p:cNvSpPr txBox="1"/>
          <p:nvPr/>
        </p:nvSpPr>
        <p:spPr>
          <a:xfrm>
            <a:off x="800064" y="5955121"/>
            <a:ext cx="127118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Skills Gained: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Freeform: Shape 837"/>
          <p:cNvSpPr/>
          <p:nvPr/>
        </p:nvSpPr>
        <p:spPr>
          <a:xfrm>
            <a:off x="1039824" y="6869232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9" name="Freeform: Shape 838"/>
          <p:cNvSpPr/>
          <p:nvPr/>
        </p:nvSpPr>
        <p:spPr>
          <a:xfrm>
            <a:off x="1280016" y="6856704"/>
            <a:ext cx="185328" cy="138672"/>
          </a:xfrm>
          <a:custGeom>
            <a:avLst/>
            <a:gdLst/>
            <a:ahLst/>
            <a:cxnLst/>
            <a:rect l="0" t="0" r="r" b="b"/>
            <a:pathLst>
              <a:path w="429" h="321">
                <a:moveTo>
                  <a:pt x="401" y="2"/>
                </a:moveTo>
                <a:cubicBezTo>
                  <a:pt x="427" y="-26"/>
                  <a:pt x="463" y="192"/>
                  <a:pt x="363" y="281"/>
                </a:cubicBezTo>
                <a:cubicBezTo>
                  <a:pt x="329" y="312"/>
                  <a:pt x="288" y="321"/>
                  <a:pt x="263" y="321"/>
                </a:cubicBezTo>
                <a:cubicBezTo>
                  <a:pt x="233" y="321"/>
                  <a:pt x="137" y="321"/>
                  <a:pt x="100" y="321"/>
                </a:cubicBezTo>
                <a:cubicBezTo>
                  <a:pt x="10" y="321"/>
                  <a:pt x="0" y="256"/>
                  <a:pt x="0" y="174"/>
                </a:cubicBezTo>
                <a:cubicBezTo>
                  <a:pt x="0" y="94"/>
                  <a:pt x="10" y="29"/>
                  <a:pt x="100" y="29"/>
                </a:cubicBezTo>
                <a:cubicBezTo>
                  <a:pt x="175" y="29"/>
                  <a:pt x="225" y="55"/>
                  <a:pt x="263" y="82"/>
                </a:cubicBezTo>
                <a:cubicBezTo>
                  <a:pt x="325" y="126"/>
                  <a:pt x="338" y="133"/>
                  <a:pt x="363" y="108"/>
                </a:cubicBezTo>
                <a:cubicBezTo>
                  <a:pt x="403" y="69"/>
                  <a:pt x="376" y="29"/>
                  <a:pt x="401" y="2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Freeform: Shape 839"/>
          <p:cNvSpPr/>
          <p:nvPr/>
        </p:nvSpPr>
        <p:spPr>
          <a:xfrm>
            <a:off x="1284336" y="6920640"/>
            <a:ext cx="179280" cy="74736"/>
          </a:xfrm>
          <a:custGeom>
            <a:avLst/>
            <a:gdLst/>
            <a:ahLst/>
            <a:cxnLst/>
            <a:rect l="0" t="0" r="r" b="b"/>
            <a:pathLst>
              <a:path w="415" h="173">
                <a:moveTo>
                  <a:pt x="415" y="0"/>
                </a:moveTo>
                <a:cubicBezTo>
                  <a:pt x="409" y="49"/>
                  <a:pt x="389" y="100"/>
                  <a:pt x="352" y="132"/>
                </a:cubicBezTo>
                <a:cubicBezTo>
                  <a:pt x="318" y="164"/>
                  <a:pt x="277" y="173"/>
                  <a:pt x="252" y="173"/>
                </a:cubicBezTo>
                <a:cubicBezTo>
                  <a:pt x="223" y="173"/>
                  <a:pt x="126" y="173"/>
                  <a:pt x="89" y="173"/>
                </a:cubicBezTo>
                <a:cubicBezTo>
                  <a:pt x="38" y="173"/>
                  <a:pt x="13" y="152"/>
                  <a:pt x="1" y="119"/>
                </a:cubicBezTo>
                <a:cubicBezTo>
                  <a:pt x="-9" y="94"/>
                  <a:pt x="39" y="132"/>
                  <a:pt x="177" y="132"/>
                </a:cubicBezTo>
                <a:cubicBezTo>
                  <a:pt x="352" y="132"/>
                  <a:pt x="390" y="66"/>
                  <a:pt x="41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Freeform: Shape 840"/>
          <p:cNvSpPr/>
          <p:nvPr/>
        </p:nvSpPr>
        <p:spPr>
          <a:xfrm>
            <a:off x="1413936" y="6825168"/>
            <a:ext cx="60912" cy="44064"/>
          </a:xfrm>
          <a:custGeom>
            <a:avLst/>
            <a:gdLst/>
            <a:ahLst/>
            <a:cxnLst/>
            <a:rect l="0" t="0" r="r" b="b"/>
            <a:pathLst>
              <a:path w="141" h="102">
                <a:moveTo>
                  <a:pt x="90" y="102"/>
                </a:moveTo>
                <a:cubicBezTo>
                  <a:pt x="138" y="102"/>
                  <a:pt x="141" y="46"/>
                  <a:pt x="141" y="17"/>
                </a:cubicBezTo>
                <a:lnTo>
                  <a:pt x="141" y="9"/>
                </a:lnTo>
                <a:cubicBezTo>
                  <a:pt x="141" y="-18"/>
                  <a:pt x="115" y="23"/>
                  <a:pt x="77" y="36"/>
                </a:cubicBezTo>
                <a:cubicBezTo>
                  <a:pt x="40" y="49"/>
                  <a:pt x="-11" y="9"/>
                  <a:pt x="2" y="36"/>
                </a:cubicBezTo>
                <a:cubicBezTo>
                  <a:pt x="15" y="62"/>
                  <a:pt x="40" y="102"/>
                  <a:pt x="90" y="102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Freeform: Shape 841"/>
          <p:cNvSpPr/>
          <p:nvPr/>
        </p:nvSpPr>
        <p:spPr>
          <a:xfrm>
            <a:off x="1312416" y="6817824"/>
            <a:ext cx="22032" cy="46224"/>
          </a:xfrm>
          <a:custGeom>
            <a:avLst/>
            <a:gdLst/>
            <a:ahLst/>
            <a:cxnLst/>
            <a:rect l="0" t="0" r="r" b="b"/>
            <a:pathLst>
              <a:path w="51" h="107">
                <a:moveTo>
                  <a:pt x="51" y="27"/>
                </a:moveTo>
                <a:cubicBezTo>
                  <a:pt x="51" y="57"/>
                  <a:pt x="40" y="107"/>
                  <a:pt x="26" y="107"/>
                </a:cubicBezTo>
                <a:cubicBezTo>
                  <a:pt x="11" y="107"/>
                  <a:pt x="0" y="57"/>
                  <a:pt x="0" y="27"/>
                </a:cubicBezTo>
                <a:cubicBezTo>
                  <a:pt x="0" y="-3"/>
                  <a:pt x="11" y="0"/>
                  <a:pt x="26" y="0"/>
                </a:cubicBezTo>
                <a:cubicBezTo>
                  <a:pt x="40" y="0"/>
                  <a:pt x="51" y="-3"/>
                  <a:pt x="51" y="27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Freeform: Shape 842"/>
          <p:cNvSpPr/>
          <p:nvPr/>
        </p:nvSpPr>
        <p:spPr>
          <a:xfrm>
            <a:off x="1290816" y="6807024"/>
            <a:ext cx="65232" cy="31104"/>
          </a:xfrm>
          <a:custGeom>
            <a:avLst/>
            <a:gdLst/>
            <a:ahLst/>
            <a:cxnLst/>
            <a:rect l="0" t="0" r="r" b="b"/>
            <a:pathLst>
              <a:path w="151" h="72">
                <a:moveTo>
                  <a:pt x="76" y="25"/>
                </a:moveTo>
                <a:cubicBezTo>
                  <a:pt x="76" y="-15"/>
                  <a:pt x="0" y="-2"/>
                  <a:pt x="0" y="25"/>
                </a:cubicBezTo>
                <a:cubicBezTo>
                  <a:pt x="0" y="52"/>
                  <a:pt x="37" y="39"/>
                  <a:pt x="50" y="66"/>
                </a:cubicBezTo>
                <a:cubicBezTo>
                  <a:pt x="62" y="92"/>
                  <a:pt x="76" y="25"/>
                  <a:pt x="76" y="25"/>
                </a:cubicBezTo>
                <a:moveTo>
                  <a:pt x="76" y="25"/>
                </a:moveTo>
                <a:cubicBezTo>
                  <a:pt x="76" y="-15"/>
                  <a:pt x="151" y="-2"/>
                  <a:pt x="151" y="25"/>
                </a:cubicBezTo>
                <a:cubicBezTo>
                  <a:pt x="151" y="52"/>
                  <a:pt x="113" y="39"/>
                  <a:pt x="101" y="66"/>
                </a:cubicBezTo>
                <a:cubicBezTo>
                  <a:pt x="88" y="92"/>
                  <a:pt x="76" y="25"/>
                  <a:pt x="76" y="25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Freeform: Shape 843"/>
          <p:cNvSpPr/>
          <p:nvPr/>
        </p:nvSpPr>
        <p:spPr>
          <a:xfrm>
            <a:off x="1306800" y="6926256"/>
            <a:ext cx="16848" cy="17712"/>
          </a:xfrm>
          <a:custGeom>
            <a:avLst/>
            <a:gdLst/>
            <a:ahLst/>
            <a:cxnLst/>
            <a:rect l="0" t="0" r="r" b="b"/>
            <a:pathLst>
              <a:path w="39" h="41">
                <a:moveTo>
                  <a:pt x="39" y="21"/>
                </a:moveTo>
                <a:cubicBezTo>
                  <a:pt x="39" y="27"/>
                  <a:pt x="37" y="31"/>
                  <a:pt x="33" y="35"/>
                </a:cubicBezTo>
                <a:cubicBezTo>
                  <a:pt x="30" y="39"/>
                  <a:pt x="24" y="41"/>
                  <a:pt x="19" y="41"/>
                </a:cubicBezTo>
                <a:cubicBezTo>
                  <a:pt x="14" y="41"/>
                  <a:pt x="9" y="39"/>
                  <a:pt x="6" y="35"/>
                </a:cubicBezTo>
                <a:cubicBezTo>
                  <a:pt x="2" y="31"/>
                  <a:pt x="0" y="27"/>
                  <a:pt x="0" y="21"/>
                </a:cubicBezTo>
                <a:cubicBezTo>
                  <a:pt x="0" y="15"/>
                  <a:pt x="2" y="10"/>
                  <a:pt x="6" y="6"/>
                </a:cubicBezTo>
                <a:cubicBezTo>
                  <a:pt x="9" y="2"/>
                  <a:pt x="14" y="0"/>
                  <a:pt x="19" y="0"/>
                </a:cubicBezTo>
                <a:cubicBezTo>
                  <a:pt x="24" y="0"/>
                  <a:pt x="30" y="2"/>
                  <a:pt x="33" y="6"/>
                </a:cubicBezTo>
                <a:cubicBezTo>
                  <a:pt x="37" y="10"/>
                  <a:pt x="39" y="15"/>
                  <a:pt x="39" y="21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5" name="TextBox 844"/>
          <p:cNvSpPr txBox="1"/>
          <p:nvPr/>
        </p:nvSpPr>
        <p:spPr>
          <a:xfrm>
            <a:off x="1488241" y="6423841"/>
            <a:ext cx="251774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GitHub enterprise workflow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Freeform: Shape 845"/>
          <p:cNvSpPr/>
          <p:nvPr/>
        </p:nvSpPr>
        <p:spPr>
          <a:xfrm>
            <a:off x="1039824" y="7200576"/>
            <a:ext cx="69120" cy="69552"/>
          </a:xfrm>
          <a:custGeom>
            <a:avLst/>
            <a:gdLst/>
            <a:ahLst/>
            <a:cxnLst/>
            <a:rect l="0" t="0" r="r" b="b"/>
            <a:pathLst>
              <a:path w="160" h="161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1"/>
                  <a:pt x="81" y="161"/>
                </a:cubicBezTo>
                <a:cubicBezTo>
                  <a:pt x="70" y="161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7"/>
                  <a:pt x="39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Freeform: Shape 846"/>
          <p:cNvSpPr/>
          <p:nvPr/>
        </p:nvSpPr>
        <p:spPr>
          <a:xfrm>
            <a:off x="1280016" y="7120656"/>
            <a:ext cx="194832" cy="206064"/>
          </a:xfrm>
          <a:custGeom>
            <a:avLst/>
            <a:gdLst/>
            <a:ahLst/>
            <a:cxnLst/>
            <a:rect l="0" t="0" r="r" b="b"/>
            <a:pathLst>
              <a:path w="451" h="477">
                <a:moveTo>
                  <a:pt x="426" y="198"/>
                </a:moveTo>
                <a:lnTo>
                  <a:pt x="383" y="198"/>
                </a:lnTo>
                <a:cubicBezTo>
                  <a:pt x="379" y="180"/>
                  <a:pt x="372" y="163"/>
                  <a:pt x="363" y="148"/>
                </a:cubicBezTo>
                <a:lnTo>
                  <a:pt x="393" y="117"/>
                </a:lnTo>
                <a:cubicBezTo>
                  <a:pt x="402" y="106"/>
                  <a:pt x="402" y="89"/>
                  <a:pt x="393" y="79"/>
                </a:cubicBezTo>
                <a:lnTo>
                  <a:pt x="375" y="60"/>
                </a:lnTo>
                <a:cubicBezTo>
                  <a:pt x="365" y="50"/>
                  <a:pt x="349" y="50"/>
                  <a:pt x="340" y="60"/>
                </a:cubicBezTo>
                <a:lnTo>
                  <a:pt x="310" y="92"/>
                </a:lnTo>
                <a:cubicBezTo>
                  <a:pt x="295" y="82"/>
                  <a:pt x="279" y="75"/>
                  <a:pt x="262" y="71"/>
                </a:cubicBezTo>
                <a:lnTo>
                  <a:pt x="262" y="26"/>
                </a:lnTo>
                <a:cubicBezTo>
                  <a:pt x="262" y="12"/>
                  <a:pt x="251" y="0"/>
                  <a:pt x="237" y="0"/>
                </a:cubicBezTo>
                <a:lnTo>
                  <a:pt x="212" y="0"/>
                </a:lnTo>
                <a:cubicBezTo>
                  <a:pt x="198" y="0"/>
                  <a:pt x="187" y="12"/>
                  <a:pt x="187" y="26"/>
                </a:cubicBezTo>
                <a:lnTo>
                  <a:pt x="187" y="71"/>
                </a:lnTo>
                <a:cubicBezTo>
                  <a:pt x="170" y="75"/>
                  <a:pt x="154" y="82"/>
                  <a:pt x="140" y="92"/>
                </a:cubicBezTo>
                <a:lnTo>
                  <a:pt x="110" y="60"/>
                </a:lnTo>
                <a:cubicBezTo>
                  <a:pt x="100" y="50"/>
                  <a:pt x="84" y="50"/>
                  <a:pt x="75" y="60"/>
                </a:cubicBezTo>
                <a:lnTo>
                  <a:pt x="57" y="79"/>
                </a:lnTo>
                <a:cubicBezTo>
                  <a:pt x="47" y="89"/>
                  <a:pt x="47" y="106"/>
                  <a:pt x="57" y="117"/>
                </a:cubicBezTo>
                <a:lnTo>
                  <a:pt x="87" y="148"/>
                </a:lnTo>
                <a:cubicBezTo>
                  <a:pt x="78" y="163"/>
                  <a:pt x="71" y="180"/>
                  <a:pt x="67" y="198"/>
                </a:cubicBezTo>
                <a:lnTo>
                  <a:pt x="25" y="198"/>
                </a:lnTo>
                <a:cubicBezTo>
                  <a:pt x="11" y="198"/>
                  <a:pt x="0" y="210"/>
                  <a:pt x="0" y="225"/>
                </a:cubicBezTo>
                <a:lnTo>
                  <a:pt x="0" y="251"/>
                </a:lnTo>
                <a:cubicBezTo>
                  <a:pt x="0" y="266"/>
                  <a:pt x="11" y="278"/>
                  <a:pt x="25" y="278"/>
                </a:cubicBezTo>
                <a:lnTo>
                  <a:pt x="67" y="278"/>
                </a:lnTo>
                <a:cubicBezTo>
                  <a:pt x="71" y="296"/>
                  <a:pt x="78" y="313"/>
                  <a:pt x="87" y="328"/>
                </a:cubicBezTo>
                <a:lnTo>
                  <a:pt x="57" y="360"/>
                </a:lnTo>
                <a:cubicBezTo>
                  <a:pt x="47" y="370"/>
                  <a:pt x="47" y="387"/>
                  <a:pt x="57" y="397"/>
                </a:cubicBezTo>
                <a:lnTo>
                  <a:pt x="75" y="417"/>
                </a:lnTo>
                <a:cubicBezTo>
                  <a:pt x="84" y="427"/>
                  <a:pt x="100" y="427"/>
                  <a:pt x="110" y="417"/>
                </a:cubicBezTo>
                <a:lnTo>
                  <a:pt x="140" y="384"/>
                </a:lnTo>
                <a:cubicBezTo>
                  <a:pt x="154" y="394"/>
                  <a:pt x="170" y="401"/>
                  <a:pt x="187" y="405"/>
                </a:cubicBezTo>
                <a:lnTo>
                  <a:pt x="187" y="451"/>
                </a:lnTo>
                <a:cubicBezTo>
                  <a:pt x="187" y="465"/>
                  <a:pt x="198" y="477"/>
                  <a:pt x="212" y="477"/>
                </a:cubicBezTo>
                <a:lnTo>
                  <a:pt x="237" y="477"/>
                </a:lnTo>
                <a:cubicBezTo>
                  <a:pt x="251" y="477"/>
                  <a:pt x="262" y="465"/>
                  <a:pt x="262" y="451"/>
                </a:cubicBezTo>
                <a:lnTo>
                  <a:pt x="262" y="405"/>
                </a:lnTo>
                <a:cubicBezTo>
                  <a:pt x="279" y="401"/>
                  <a:pt x="295" y="394"/>
                  <a:pt x="310" y="384"/>
                </a:cubicBezTo>
                <a:lnTo>
                  <a:pt x="340" y="417"/>
                </a:lnTo>
                <a:cubicBezTo>
                  <a:pt x="349" y="427"/>
                  <a:pt x="365" y="427"/>
                  <a:pt x="375" y="417"/>
                </a:cubicBezTo>
                <a:lnTo>
                  <a:pt x="393" y="397"/>
                </a:lnTo>
                <a:cubicBezTo>
                  <a:pt x="402" y="387"/>
                  <a:pt x="402" y="370"/>
                  <a:pt x="393" y="360"/>
                </a:cubicBezTo>
                <a:lnTo>
                  <a:pt x="363" y="328"/>
                </a:lnTo>
                <a:cubicBezTo>
                  <a:pt x="372" y="313"/>
                  <a:pt x="379" y="296"/>
                  <a:pt x="383" y="278"/>
                </a:cubicBezTo>
                <a:lnTo>
                  <a:pt x="426" y="278"/>
                </a:lnTo>
                <a:cubicBezTo>
                  <a:pt x="439" y="278"/>
                  <a:pt x="451" y="266"/>
                  <a:pt x="451" y="251"/>
                </a:cubicBezTo>
                <a:lnTo>
                  <a:pt x="451" y="225"/>
                </a:lnTo>
                <a:cubicBezTo>
                  <a:pt x="451" y="210"/>
                  <a:pt x="439" y="198"/>
                  <a:pt x="426" y="198"/>
                </a:cubicBezTo>
                <a:moveTo>
                  <a:pt x="225" y="344"/>
                </a:moveTo>
                <a:cubicBezTo>
                  <a:pt x="170" y="344"/>
                  <a:pt x="125" y="297"/>
                  <a:pt x="125" y="238"/>
                </a:cubicBezTo>
                <a:cubicBezTo>
                  <a:pt x="125" y="180"/>
                  <a:pt x="170" y="132"/>
                  <a:pt x="225" y="132"/>
                </a:cubicBezTo>
                <a:cubicBezTo>
                  <a:pt x="280" y="132"/>
                  <a:pt x="325" y="180"/>
                  <a:pt x="325" y="238"/>
                </a:cubicBezTo>
                <a:cubicBezTo>
                  <a:pt x="325" y="297"/>
                  <a:pt x="280" y="344"/>
                  <a:pt x="225" y="344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8" name="TextBox 847"/>
          <p:cNvSpPr txBox="1"/>
          <p:nvPr/>
        </p:nvSpPr>
        <p:spPr>
          <a:xfrm>
            <a:off x="1488241" y="6755185"/>
            <a:ext cx="217925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Docker containerization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Freeform: Shape 848"/>
          <p:cNvSpPr/>
          <p:nvPr/>
        </p:nvSpPr>
        <p:spPr>
          <a:xfrm>
            <a:off x="1039824" y="7532352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5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0" name="Freeform: Shape 849"/>
          <p:cNvSpPr/>
          <p:nvPr/>
        </p:nvSpPr>
        <p:spPr>
          <a:xfrm>
            <a:off x="1280016" y="7452000"/>
            <a:ext cx="194832" cy="206496"/>
          </a:xfrm>
          <a:custGeom>
            <a:avLst/>
            <a:gdLst/>
            <a:ahLst/>
            <a:cxnLst/>
            <a:rect l="0" t="0" r="r" b="b"/>
            <a:pathLst>
              <a:path w="451" h="478">
                <a:moveTo>
                  <a:pt x="451" y="239"/>
                </a:moveTo>
                <a:cubicBezTo>
                  <a:pt x="451" y="255"/>
                  <a:pt x="449" y="271"/>
                  <a:pt x="446" y="286"/>
                </a:cubicBezTo>
                <a:cubicBezTo>
                  <a:pt x="443" y="301"/>
                  <a:pt x="439" y="316"/>
                  <a:pt x="434" y="331"/>
                </a:cubicBezTo>
                <a:cubicBezTo>
                  <a:pt x="428" y="345"/>
                  <a:pt x="421" y="359"/>
                  <a:pt x="413" y="372"/>
                </a:cubicBezTo>
                <a:cubicBezTo>
                  <a:pt x="404" y="385"/>
                  <a:pt x="394" y="397"/>
                  <a:pt x="384" y="408"/>
                </a:cubicBezTo>
                <a:cubicBezTo>
                  <a:pt x="373" y="419"/>
                  <a:pt x="362" y="429"/>
                  <a:pt x="350" y="437"/>
                </a:cubicBezTo>
                <a:cubicBezTo>
                  <a:pt x="337" y="446"/>
                  <a:pt x="324" y="453"/>
                  <a:pt x="311" y="459"/>
                </a:cubicBezTo>
                <a:cubicBezTo>
                  <a:pt x="297" y="465"/>
                  <a:pt x="283" y="470"/>
                  <a:pt x="269" y="473"/>
                </a:cubicBezTo>
                <a:cubicBezTo>
                  <a:pt x="254" y="476"/>
                  <a:pt x="239" y="478"/>
                  <a:pt x="225" y="478"/>
                </a:cubicBezTo>
                <a:cubicBezTo>
                  <a:pt x="210" y="478"/>
                  <a:pt x="195" y="476"/>
                  <a:pt x="181" y="473"/>
                </a:cubicBezTo>
                <a:cubicBezTo>
                  <a:pt x="166" y="470"/>
                  <a:pt x="152" y="465"/>
                  <a:pt x="139" y="459"/>
                </a:cubicBezTo>
                <a:cubicBezTo>
                  <a:pt x="125" y="453"/>
                  <a:pt x="112" y="446"/>
                  <a:pt x="100" y="437"/>
                </a:cubicBezTo>
                <a:cubicBezTo>
                  <a:pt x="88" y="429"/>
                  <a:pt x="76" y="419"/>
                  <a:pt x="66" y="408"/>
                </a:cubicBezTo>
                <a:cubicBezTo>
                  <a:pt x="55" y="397"/>
                  <a:pt x="46" y="385"/>
                  <a:pt x="38" y="372"/>
                </a:cubicBezTo>
                <a:cubicBezTo>
                  <a:pt x="30" y="359"/>
                  <a:pt x="23" y="345"/>
                  <a:pt x="17" y="331"/>
                </a:cubicBezTo>
                <a:cubicBezTo>
                  <a:pt x="11" y="316"/>
                  <a:pt x="7" y="301"/>
                  <a:pt x="4" y="286"/>
                </a:cubicBezTo>
                <a:cubicBezTo>
                  <a:pt x="1" y="271"/>
                  <a:pt x="0" y="255"/>
                  <a:pt x="0" y="239"/>
                </a:cubicBezTo>
                <a:cubicBezTo>
                  <a:pt x="0" y="224"/>
                  <a:pt x="1" y="208"/>
                  <a:pt x="4" y="193"/>
                </a:cubicBezTo>
                <a:cubicBezTo>
                  <a:pt x="7" y="178"/>
                  <a:pt x="11" y="163"/>
                  <a:pt x="17" y="148"/>
                </a:cubicBezTo>
                <a:cubicBezTo>
                  <a:pt x="23" y="134"/>
                  <a:pt x="30" y="119"/>
                  <a:pt x="38" y="106"/>
                </a:cubicBezTo>
                <a:cubicBezTo>
                  <a:pt x="46" y="93"/>
                  <a:pt x="55" y="81"/>
                  <a:pt x="66" y="70"/>
                </a:cubicBezTo>
                <a:cubicBezTo>
                  <a:pt x="76" y="59"/>
                  <a:pt x="88" y="49"/>
                  <a:pt x="100" y="40"/>
                </a:cubicBezTo>
                <a:cubicBezTo>
                  <a:pt x="112" y="32"/>
                  <a:pt x="125" y="24"/>
                  <a:pt x="139" y="18"/>
                </a:cubicBezTo>
                <a:cubicBezTo>
                  <a:pt x="152" y="12"/>
                  <a:pt x="166" y="8"/>
                  <a:pt x="181" y="5"/>
                </a:cubicBezTo>
                <a:cubicBezTo>
                  <a:pt x="195" y="2"/>
                  <a:pt x="210" y="0"/>
                  <a:pt x="225" y="0"/>
                </a:cubicBezTo>
                <a:cubicBezTo>
                  <a:pt x="239" y="0"/>
                  <a:pt x="254" y="2"/>
                  <a:pt x="269" y="5"/>
                </a:cubicBezTo>
                <a:cubicBezTo>
                  <a:pt x="283" y="8"/>
                  <a:pt x="297" y="12"/>
                  <a:pt x="311" y="18"/>
                </a:cubicBezTo>
                <a:cubicBezTo>
                  <a:pt x="324" y="24"/>
                  <a:pt x="337" y="32"/>
                  <a:pt x="350" y="40"/>
                </a:cubicBezTo>
                <a:cubicBezTo>
                  <a:pt x="362" y="49"/>
                  <a:pt x="373" y="59"/>
                  <a:pt x="384" y="70"/>
                </a:cubicBezTo>
                <a:cubicBezTo>
                  <a:pt x="394" y="81"/>
                  <a:pt x="404" y="93"/>
                  <a:pt x="413" y="106"/>
                </a:cubicBezTo>
                <a:cubicBezTo>
                  <a:pt x="421" y="119"/>
                  <a:pt x="428" y="134"/>
                  <a:pt x="434" y="148"/>
                </a:cubicBezTo>
                <a:cubicBezTo>
                  <a:pt x="439" y="163"/>
                  <a:pt x="443" y="178"/>
                  <a:pt x="446" y="193"/>
                </a:cubicBezTo>
                <a:cubicBezTo>
                  <a:pt x="449" y="208"/>
                  <a:pt x="451" y="224"/>
                  <a:pt x="451" y="239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Freeform: Shape 850"/>
          <p:cNvSpPr/>
          <p:nvPr/>
        </p:nvSpPr>
        <p:spPr>
          <a:xfrm>
            <a:off x="1304208" y="7477920"/>
            <a:ext cx="146016" cy="154656"/>
          </a:xfrm>
          <a:custGeom>
            <a:avLst/>
            <a:gdLst/>
            <a:ahLst/>
            <a:cxnLst/>
            <a:rect l="0" t="0" r="r" b="b"/>
            <a:pathLst>
              <a:path w="338" h="358">
                <a:moveTo>
                  <a:pt x="338" y="179"/>
                </a:moveTo>
                <a:cubicBezTo>
                  <a:pt x="338" y="191"/>
                  <a:pt x="337" y="203"/>
                  <a:pt x="335" y="214"/>
                </a:cubicBezTo>
                <a:cubicBezTo>
                  <a:pt x="333" y="226"/>
                  <a:pt x="330" y="237"/>
                  <a:pt x="326" y="248"/>
                </a:cubicBezTo>
                <a:cubicBezTo>
                  <a:pt x="321" y="259"/>
                  <a:pt x="316" y="269"/>
                  <a:pt x="310" y="279"/>
                </a:cubicBezTo>
                <a:cubicBezTo>
                  <a:pt x="304" y="288"/>
                  <a:pt x="297" y="297"/>
                  <a:pt x="289" y="306"/>
                </a:cubicBezTo>
                <a:cubicBezTo>
                  <a:pt x="281" y="314"/>
                  <a:pt x="273" y="321"/>
                  <a:pt x="263" y="328"/>
                </a:cubicBezTo>
                <a:cubicBezTo>
                  <a:pt x="254" y="334"/>
                  <a:pt x="245" y="340"/>
                  <a:pt x="234" y="344"/>
                </a:cubicBezTo>
                <a:cubicBezTo>
                  <a:pt x="224" y="349"/>
                  <a:pt x="213" y="352"/>
                  <a:pt x="203" y="355"/>
                </a:cubicBezTo>
                <a:cubicBezTo>
                  <a:pt x="192" y="357"/>
                  <a:pt x="180" y="358"/>
                  <a:pt x="169" y="358"/>
                </a:cubicBezTo>
                <a:cubicBezTo>
                  <a:pt x="158" y="358"/>
                  <a:pt x="147" y="357"/>
                  <a:pt x="136" y="355"/>
                </a:cubicBezTo>
                <a:cubicBezTo>
                  <a:pt x="125" y="352"/>
                  <a:pt x="114" y="349"/>
                  <a:pt x="104" y="344"/>
                </a:cubicBezTo>
                <a:cubicBezTo>
                  <a:pt x="94" y="340"/>
                  <a:pt x="84" y="334"/>
                  <a:pt x="75" y="328"/>
                </a:cubicBezTo>
                <a:cubicBezTo>
                  <a:pt x="66" y="321"/>
                  <a:pt x="57" y="314"/>
                  <a:pt x="49" y="306"/>
                </a:cubicBezTo>
                <a:cubicBezTo>
                  <a:pt x="42" y="297"/>
                  <a:pt x="35" y="288"/>
                  <a:pt x="28" y="279"/>
                </a:cubicBezTo>
                <a:cubicBezTo>
                  <a:pt x="22" y="269"/>
                  <a:pt x="17" y="259"/>
                  <a:pt x="13" y="248"/>
                </a:cubicBezTo>
                <a:cubicBezTo>
                  <a:pt x="9" y="237"/>
                  <a:pt x="5" y="226"/>
                  <a:pt x="3" y="214"/>
                </a:cubicBezTo>
                <a:cubicBezTo>
                  <a:pt x="1" y="203"/>
                  <a:pt x="0" y="191"/>
                  <a:pt x="0" y="179"/>
                </a:cubicBezTo>
                <a:cubicBezTo>
                  <a:pt x="0" y="168"/>
                  <a:pt x="1" y="156"/>
                  <a:pt x="3" y="145"/>
                </a:cubicBezTo>
                <a:cubicBezTo>
                  <a:pt x="5" y="133"/>
                  <a:pt x="9" y="122"/>
                  <a:pt x="13" y="111"/>
                </a:cubicBezTo>
                <a:cubicBezTo>
                  <a:pt x="17" y="100"/>
                  <a:pt x="22" y="90"/>
                  <a:pt x="28" y="80"/>
                </a:cubicBezTo>
                <a:cubicBezTo>
                  <a:pt x="35" y="70"/>
                  <a:pt x="42" y="61"/>
                  <a:pt x="49" y="53"/>
                </a:cubicBezTo>
                <a:cubicBezTo>
                  <a:pt x="57" y="45"/>
                  <a:pt x="66" y="37"/>
                  <a:pt x="75" y="31"/>
                </a:cubicBezTo>
                <a:cubicBezTo>
                  <a:pt x="84" y="24"/>
                  <a:pt x="94" y="19"/>
                  <a:pt x="104" y="14"/>
                </a:cubicBezTo>
                <a:cubicBezTo>
                  <a:pt x="114" y="10"/>
                  <a:pt x="125" y="7"/>
                  <a:pt x="136" y="3"/>
                </a:cubicBezTo>
                <a:cubicBezTo>
                  <a:pt x="147" y="1"/>
                  <a:pt x="158" y="0"/>
                  <a:pt x="169" y="0"/>
                </a:cubicBezTo>
                <a:cubicBezTo>
                  <a:pt x="180" y="0"/>
                  <a:pt x="192" y="1"/>
                  <a:pt x="203" y="3"/>
                </a:cubicBezTo>
                <a:cubicBezTo>
                  <a:pt x="213" y="7"/>
                  <a:pt x="224" y="10"/>
                  <a:pt x="234" y="14"/>
                </a:cubicBezTo>
                <a:cubicBezTo>
                  <a:pt x="245" y="19"/>
                  <a:pt x="254" y="24"/>
                  <a:pt x="263" y="31"/>
                </a:cubicBezTo>
                <a:cubicBezTo>
                  <a:pt x="273" y="37"/>
                  <a:pt x="281" y="45"/>
                  <a:pt x="289" y="53"/>
                </a:cubicBezTo>
                <a:cubicBezTo>
                  <a:pt x="297" y="61"/>
                  <a:pt x="304" y="70"/>
                  <a:pt x="310" y="80"/>
                </a:cubicBezTo>
                <a:cubicBezTo>
                  <a:pt x="316" y="90"/>
                  <a:pt x="321" y="100"/>
                  <a:pt x="326" y="111"/>
                </a:cubicBezTo>
                <a:cubicBezTo>
                  <a:pt x="330" y="122"/>
                  <a:pt x="333" y="133"/>
                  <a:pt x="335" y="145"/>
                </a:cubicBezTo>
                <a:cubicBezTo>
                  <a:pt x="337" y="156"/>
                  <a:pt x="338" y="168"/>
                  <a:pt x="338" y="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Freeform: Shape 851"/>
          <p:cNvSpPr/>
          <p:nvPr/>
        </p:nvSpPr>
        <p:spPr>
          <a:xfrm>
            <a:off x="1323216" y="7497792"/>
            <a:ext cx="108432" cy="114912"/>
          </a:xfrm>
          <a:custGeom>
            <a:avLst/>
            <a:gdLst/>
            <a:ahLst/>
            <a:cxnLst/>
            <a:rect l="0" t="0" r="r" b="b"/>
            <a:pathLst>
              <a:path w="251" h="266">
                <a:moveTo>
                  <a:pt x="251" y="132"/>
                </a:moveTo>
                <a:cubicBezTo>
                  <a:pt x="251" y="150"/>
                  <a:pt x="248" y="167"/>
                  <a:pt x="241" y="183"/>
                </a:cubicBezTo>
                <a:cubicBezTo>
                  <a:pt x="235" y="199"/>
                  <a:pt x="226" y="215"/>
                  <a:pt x="214" y="227"/>
                </a:cubicBezTo>
                <a:cubicBezTo>
                  <a:pt x="202" y="239"/>
                  <a:pt x="189" y="249"/>
                  <a:pt x="174" y="256"/>
                </a:cubicBezTo>
                <a:cubicBezTo>
                  <a:pt x="158" y="262"/>
                  <a:pt x="142" y="266"/>
                  <a:pt x="126" y="266"/>
                </a:cubicBezTo>
                <a:cubicBezTo>
                  <a:pt x="109" y="266"/>
                  <a:pt x="93" y="262"/>
                  <a:pt x="78" y="256"/>
                </a:cubicBezTo>
                <a:cubicBezTo>
                  <a:pt x="63" y="249"/>
                  <a:pt x="48" y="239"/>
                  <a:pt x="36" y="227"/>
                </a:cubicBezTo>
                <a:cubicBezTo>
                  <a:pt x="25" y="215"/>
                  <a:pt x="16" y="199"/>
                  <a:pt x="9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9" y="82"/>
                </a:cubicBezTo>
                <a:cubicBezTo>
                  <a:pt x="16" y="66"/>
                  <a:pt x="25" y="51"/>
                  <a:pt x="36" y="39"/>
                </a:cubicBezTo>
                <a:cubicBezTo>
                  <a:pt x="48" y="27"/>
                  <a:pt x="63" y="17"/>
                  <a:pt x="78" y="10"/>
                </a:cubicBezTo>
                <a:cubicBezTo>
                  <a:pt x="93" y="4"/>
                  <a:pt x="109" y="0"/>
                  <a:pt x="126" y="0"/>
                </a:cubicBezTo>
                <a:cubicBezTo>
                  <a:pt x="142" y="0"/>
                  <a:pt x="158" y="4"/>
                  <a:pt x="174" y="10"/>
                </a:cubicBezTo>
                <a:cubicBezTo>
                  <a:pt x="189" y="17"/>
                  <a:pt x="202" y="27"/>
                  <a:pt x="214" y="39"/>
                </a:cubicBezTo>
                <a:cubicBezTo>
                  <a:pt x="226" y="51"/>
                  <a:pt x="235" y="66"/>
                  <a:pt x="241" y="82"/>
                </a:cubicBezTo>
                <a:cubicBezTo>
                  <a:pt x="248" y="98"/>
                  <a:pt x="251" y="115"/>
                  <a:pt x="251" y="132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Freeform: Shape 852"/>
          <p:cNvSpPr/>
          <p:nvPr/>
        </p:nvSpPr>
        <p:spPr>
          <a:xfrm>
            <a:off x="1344816" y="7520688"/>
            <a:ext cx="65232" cy="69120"/>
          </a:xfrm>
          <a:custGeom>
            <a:avLst/>
            <a:gdLst/>
            <a:ahLst/>
            <a:cxnLst/>
            <a:rect l="0" t="0" r="r" b="b"/>
            <a:pathLst>
              <a:path w="151" h="160">
                <a:moveTo>
                  <a:pt x="151" y="80"/>
                </a:moveTo>
                <a:cubicBezTo>
                  <a:pt x="151" y="91"/>
                  <a:pt x="149" y="101"/>
                  <a:pt x="145" y="111"/>
                </a:cubicBezTo>
                <a:cubicBezTo>
                  <a:pt x="141" y="121"/>
                  <a:pt x="136" y="129"/>
                  <a:pt x="129" y="137"/>
                </a:cubicBezTo>
                <a:cubicBezTo>
                  <a:pt x="122" y="144"/>
                  <a:pt x="114" y="150"/>
                  <a:pt x="104" y="154"/>
                </a:cubicBezTo>
                <a:cubicBezTo>
                  <a:pt x="95" y="158"/>
                  <a:pt x="85" y="160"/>
                  <a:pt x="75" y="160"/>
                </a:cubicBezTo>
                <a:cubicBezTo>
                  <a:pt x="65" y="160"/>
                  <a:pt x="55" y="158"/>
                  <a:pt x="46" y="154"/>
                </a:cubicBezTo>
                <a:cubicBezTo>
                  <a:pt x="37" y="150"/>
                  <a:pt x="29" y="144"/>
                  <a:pt x="22" y="137"/>
                </a:cubicBezTo>
                <a:cubicBezTo>
                  <a:pt x="15" y="129"/>
                  <a:pt x="9" y="121"/>
                  <a:pt x="5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5" y="49"/>
                </a:cubicBezTo>
                <a:cubicBezTo>
                  <a:pt x="9" y="39"/>
                  <a:pt x="15" y="31"/>
                  <a:pt x="22" y="23"/>
                </a:cubicBezTo>
                <a:cubicBezTo>
                  <a:pt x="29" y="16"/>
                  <a:pt x="37" y="10"/>
                  <a:pt x="46" y="6"/>
                </a:cubicBezTo>
                <a:cubicBezTo>
                  <a:pt x="55" y="2"/>
                  <a:pt x="65" y="0"/>
                  <a:pt x="75" y="0"/>
                </a:cubicBezTo>
                <a:cubicBezTo>
                  <a:pt x="85" y="0"/>
                  <a:pt x="95" y="2"/>
                  <a:pt x="104" y="6"/>
                </a:cubicBezTo>
                <a:cubicBezTo>
                  <a:pt x="114" y="10"/>
                  <a:pt x="122" y="16"/>
                  <a:pt x="129" y="23"/>
                </a:cubicBezTo>
                <a:cubicBezTo>
                  <a:pt x="136" y="31"/>
                  <a:pt x="141" y="39"/>
                  <a:pt x="145" y="49"/>
                </a:cubicBezTo>
                <a:cubicBezTo>
                  <a:pt x="149" y="60"/>
                  <a:pt x="151" y="70"/>
                  <a:pt x="151" y="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Freeform: Shape 853"/>
          <p:cNvSpPr/>
          <p:nvPr/>
        </p:nvSpPr>
        <p:spPr>
          <a:xfrm>
            <a:off x="1360800" y="7537968"/>
            <a:ext cx="32832" cy="34560"/>
          </a:xfrm>
          <a:custGeom>
            <a:avLst/>
            <a:gdLst/>
            <a:ahLst/>
            <a:cxnLst/>
            <a:rect l="0" t="0" r="r" b="b"/>
            <a:pathLst>
              <a:path w="76" h="80">
                <a:moveTo>
                  <a:pt x="76" y="39"/>
                </a:moveTo>
                <a:cubicBezTo>
                  <a:pt x="76" y="45"/>
                  <a:pt x="75" y="51"/>
                  <a:pt x="73" y="56"/>
                </a:cubicBezTo>
                <a:cubicBezTo>
                  <a:pt x="71" y="61"/>
                  <a:pt x="68" y="65"/>
                  <a:pt x="64" y="69"/>
                </a:cubicBezTo>
                <a:cubicBezTo>
                  <a:pt x="61" y="72"/>
                  <a:pt x="57" y="75"/>
                  <a:pt x="52" y="77"/>
                </a:cubicBezTo>
                <a:cubicBezTo>
                  <a:pt x="47" y="79"/>
                  <a:pt x="43" y="80"/>
                  <a:pt x="38" y="80"/>
                </a:cubicBezTo>
                <a:cubicBezTo>
                  <a:pt x="33" y="80"/>
                  <a:pt x="28" y="79"/>
                  <a:pt x="23" y="77"/>
                </a:cubicBezTo>
                <a:cubicBezTo>
                  <a:pt x="19" y="75"/>
                  <a:pt x="15" y="72"/>
                  <a:pt x="11" y="69"/>
                </a:cubicBezTo>
                <a:cubicBezTo>
                  <a:pt x="8" y="65"/>
                  <a:pt x="5" y="61"/>
                  <a:pt x="3" y="56"/>
                </a:cubicBezTo>
                <a:cubicBezTo>
                  <a:pt x="1" y="51"/>
                  <a:pt x="0" y="45"/>
                  <a:pt x="0" y="39"/>
                </a:cubicBezTo>
                <a:cubicBezTo>
                  <a:pt x="0" y="34"/>
                  <a:pt x="1" y="29"/>
                  <a:pt x="3" y="24"/>
                </a:cubicBezTo>
                <a:cubicBezTo>
                  <a:pt x="5" y="19"/>
                  <a:pt x="8" y="15"/>
                  <a:pt x="11" y="11"/>
                </a:cubicBezTo>
                <a:cubicBezTo>
                  <a:pt x="15" y="8"/>
                  <a:pt x="19" y="5"/>
                  <a:pt x="23" y="3"/>
                </a:cubicBezTo>
                <a:cubicBezTo>
                  <a:pt x="28" y="1"/>
                  <a:pt x="33" y="0"/>
                  <a:pt x="38" y="0"/>
                </a:cubicBezTo>
                <a:cubicBezTo>
                  <a:pt x="43" y="0"/>
                  <a:pt x="47" y="1"/>
                  <a:pt x="52" y="3"/>
                </a:cubicBezTo>
                <a:cubicBezTo>
                  <a:pt x="57" y="5"/>
                  <a:pt x="61" y="8"/>
                  <a:pt x="64" y="11"/>
                </a:cubicBezTo>
                <a:cubicBezTo>
                  <a:pt x="68" y="15"/>
                  <a:pt x="71" y="19"/>
                  <a:pt x="73" y="24"/>
                </a:cubicBezTo>
                <a:cubicBezTo>
                  <a:pt x="75" y="29"/>
                  <a:pt x="76" y="34"/>
                  <a:pt x="76" y="39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5" name="Freeform: Shape 854"/>
          <p:cNvSpPr/>
          <p:nvPr/>
        </p:nvSpPr>
        <p:spPr>
          <a:xfrm>
            <a:off x="1374624" y="7556544"/>
            <a:ext cx="75168" cy="96768"/>
          </a:xfrm>
          <a:custGeom>
            <a:avLst/>
            <a:gdLst/>
            <a:ahLst/>
            <a:cxnLst/>
            <a:rect l="0" t="0" r="r" b="b"/>
            <a:pathLst>
              <a:path w="174" h="224">
                <a:moveTo>
                  <a:pt x="9" y="0"/>
                </a:moveTo>
                <a:lnTo>
                  <a:pt x="174" y="157"/>
                </a:lnTo>
                <a:cubicBezTo>
                  <a:pt x="174" y="157"/>
                  <a:pt x="140" y="201"/>
                  <a:pt x="74" y="224"/>
                </a:cubicBezTo>
                <a:lnTo>
                  <a:pt x="0" y="2"/>
                </a:lnTo>
                <a:lnTo>
                  <a:pt x="9" y="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6" name="Freeform: Shape 855"/>
          <p:cNvSpPr/>
          <p:nvPr/>
        </p:nvSpPr>
        <p:spPr>
          <a:xfrm>
            <a:off x="1373328" y="7546176"/>
            <a:ext cx="13824" cy="15120"/>
          </a:xfrm>
          <a:custGeom>
            <a:avLst/>
            <a:gdLst/>
            <a:ahLst/>
            <a:cxnLst/>
            <a:rect l="0" t="0" r="r" b="b"/>
            <a:pathLst>
              <a:path w="32" h="35">
                <a:moveTo>
                  <a:pt x="12" y="35"/>
                </a:moveTo>
                <a:cubicBezTo>
                  <a:pt x="9" y="35"/>
                  <a:pt x="6" y="33"/>
                  <a:pt x="4" y="31"/>
                </a:cubicBezTo>
                <a:cubicBezTo>
                  <a:pt x="-1" y="26"/>
                  <a:pt x="-1" y="17"/>
                  <a:pt x="4" y="12"/>
                </a:cubicBezTo>
                <a:lnTo>
                  <a:pt x="11" y="4"/>
                </a:lnTo>
                <a:cubicBezTo>
                  <a:pt x="16" y="-1"/>
                  <a:pt x="23" y="-1"/>
                  <a:pt x="28" y="4"/>
                </a:cubicBezTo>
                <a:cubicBezTo>
                  <a:pt x="34" y="10"/>
                  <a:pt x="34" y="18"/>
                  <a:pt x="28" y="23"/>
                </a:cubicBezTo>
                <a:lnTo>
                  <a:pt x="21" y="31"/>
                </a:lnTo>
                <a:cubicBezTo>
                  <a:pt x="19" y="33"/>
                  <a:pt x="16" y="35"/>
                  <a:pt x="12" y="35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Freeform: Shape 856"/>
          <p:cNvSpPr/>
          <p:nvPr/>
        </p:nvSpPr>
        <p:spPr>
          <a:xfrm>
            <a:off x="1408752" y="7452000"/>
            <a:ext cx="66096" cy="69984"/>
          </a:xfrm>
          <a:custGeom>
            <a:avLst/>
            <a:gdLst/>
            <a:ahLst/>
            <a:cxnLst/>
            <a:rect l="0" t="0" r="r" b="b"/>
            <a:pathLst>
              <a:path w="153" h="162">
                <a:moveTo>
                  <a:pt x="2" y="93"/>
                </a:moveTo>
                <a:cubicBezTo>
                  <a:pt x="-3" y="121"/>
                  <a:pt x="2" y="156"/>
                  <a:pt x="2" y="156"/>
                </a:cubicBezTo>
                <a:lnTo>
                  <a:pt x="90" y="57"/>
                </a:lnTo>
                <a:cubicBezTo>
                  <a:pt x="94" y="38"/>
                  <a:pt x="83" y="5"/>
                  <a:pt x="69" y="1"/>
                </a:cubicBezTo>
                <a:cubicBezTo>
                  <a:pt x="54" y="-3"/>
                  <a:pt x="18" y="12"/>
                  <a:pt x="2" y="93"/>
                </a:cubicBezTo>
                <a:moveTo>
                  <a:pt x="64" y="160"/>
                </a:moveTo>
                <a:cubicBezTo>
                  <a:pt x="38" y="165"/>
                  <a:pt x="6" y="160"/>
                  <a:pt x="6" y="160"/>
                </a:cubicBezTo>
                <a:lnTo>
                  <a:pt x="98" y="66"/>
                </a:lnTo>
                <a:cubicBezTo>
                  <a:pt x="116" y="62"/>
                  <a:pt x="148" y="73"/>
                  <a:pt x="152" y="88"/>
                </a:cubicBezTo>
                <a:cubicBezTo>
                  <a:pt x="156" y="104"/>
                  <a:pt x="142" y="143"/>
                  <a:pt x="64" y="16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Freeform: Shape 857"/>
          <p:cNvSpPr/>
          <p:nvPr/>
        </p:nvSpPr>
        <p:spPr>
          <a:xfrm>
            <a:off x="1378080" y="7470144"/>
            <a:ext cx="81216" cy="85968"/>
          </a:xfrm>
          <a:custGeom>
            <a:avLst/>
            <a:gdLst/>
            <a:ahLst/>
            <a:cxnLst/>
            <a:rect l="0" t="0" r="r" b="b"/>
            <a:pathLst>
              <a:path w="188" h="199">
                <a:moveTo>
                  <a:pt x="184" y="18"/>
                </a:moveTo>
                <a:lnTo>
                  <a:pt x="37" y="192"/>
                </a:lnTo>
                <a:cubicBezTo>
                  <a:pt x="33" y="197"/>
                  <a:pt x="17" y="204"/>
                  <a:pt x="6" y="193"/>
                </a:cubicBezTo>
                <a:cubicBezTo>
                  <a:pt x="-4" y="182"/>
                  <a:pt x="1" y="165"/>
                  <a:pt x="5" y="160"/>
                </a:cubicBezTo>
                <a:lnTo>
                  <a:pt x="171" y="5"/>
                </a:lnTo>
                <a:cubicBezTo>
                  <a:pt x="171" y="5"/>
                  <a:pt x="180" y="-4"/>
                  <a:pt x="186" y="3"/>
                </a:cubicBezTo>
                <a:cubicBezTo>
                  <a:pt x="192" y="9"/>
                  <a:pt x="184" y="18"/>
                  <a:pt x="184" y="18"/>
                </a:cubicBezTo>
                <a:close/>
              </a:path>
            </a:pathLst>
          </a:custGeom>
          <a:solidFill>
            <a:srgbClr val="3A87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9" name="TextBox 858"/>
          <p:cNvSpPr txBox="1"/>
          <p:nvPr/>
        </p:nvSpPr>
        <p:spPr>
          <a:xfrm>
            <a:off x="1488241" y="7086529"/>
            <a:ext cx="225112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Jenkins pipeline creation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Freeform: Shape 859"/>
          <p:cNvSpPr/>
          <p:nvPr/>
        </p:nvSpPr>
        <p:spPr>
          <a:xfrm>
            <a:off x="1039824" y="7863696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1" name="Freeform: Shape 860"/>
          <p:cNvSpPr/>
          <p:nvPr/>
        </p:nvSpPr>
        <p:spPr>
          <a:xfrm>
            <a:off x="1280016" y="7783776"/>
            <a:ext cx="194832" cy="206064"/>
          </a:xfrm>
          <a:custGeom>
            <a:avLst/>
            <a:gdLst/>
            <a:ahLst/>
            <a:cxnLst/>
            <a:rect l="0" t="0" r="r" b="b"/>
            <a:pathLst>
              <a:path w="451" h="477">
                <a:moveTo>
                  <a:pt x="451" y="424"/>
                </a:moveTo>
                <a:cubicBezTo>
                  <a:pt x="451" y="453"/>
                  <a:pt x="428" y="477"/>
                  <a:pt x="400" y="477"/>
                </a:cubicBezTo>
                <a:lnTo>
                  <a:pt x="50" y="477"/>
                </a:lnTo>
                <a:cubicBezTo>
                  <a:pt x="22" y="477"/>
                  <a:pt x="0" y="453"/>
                  <a:pt x="0" y="424"/>
                </a:cubicBezTo>
                <a:lnTo>
                  <a:pt x="0" y="53"/>
                </a:lnTo>
                <a:cubicBezTo>
                  <a:pt x="0" y="23"/>
                  <a:pt x="22" y="0"/>
                  <a:pt x="50" y="0"/>
                </a:cubicBezTo>
                <a:lnTo>
                  <a:pt x="400" y="0"/>
                </a:lnTo>
                <a:cubicBezTo>
                  <a:pt x="428" y="0"/>
                  <a:pt x="451" y="23"/>
                  <a:pt x="451" y="53"/>
                </a:cubicBezTo>
                <a:lnTo>
                  <a:pt x="451" y="424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2" name="Freeform: Shape 861"/>
          <p:cNvSpPr/>
          <p:nvPr/>
        </p:nvSpPr>
        <p:spPr>
          <a:xfrm>
            <a:off x="1301616" y="7806672"/>
            <a:ext cx="151632" cy="160704"/>
          </a:xfrm>
          <a:custGeom>
            <a:avLst/>
            <a:gdLst/>
            <a:ahLst/>
            <a:cxnLst/>
            <a:rect l="0" t="0" r="r" b="b"/>
            <a:pathLst>
              <a:path w="351" h="372">
                <a:moveTo>
                  <a:pt x="263" y="280"/>
                </a:moveTo>
                <a:cubicBezTo>
                  <a:pt x="214" y="332"/>
                  <a:pt x="135" y="332"/>
                  <a:pt x="86" y="280"/>
                </a:cubicBezTo>
                <a:cubicBezTo>
                  <a:pt x="58" y="251"/>
                  <a:pt x="46" y="209"/>
                  <a:pt x="51" y="170"/>
                </a:cubicBezTo>
                <a:lnTo>
                  <a:pt x="0" y="175"/>
                </a:lnTo>
                <a:cubicBezTo>
                  <a:pt x="-2" y="226"/>
                  <a:pt x="14" y="279"/>
                  <a:pt x="51" y="318"/>
                </a:cubicBezTo>
                <a:cubicBezTo>
                  <a:pt x="119" y="390"/>
                  <a:pt x="230" y="390"/>
                  <a:pt x="298" y="318"/>
                </a:cubicBezTo>
                <a:lnTo>
                  <a:pt x="335" y="355"/>
                </a:lnTo>
                <a:lnTo>
                  <a:pt x="345" y="231"/>
                </a:lnTo>
                <a:lnTo>
                  <a:pt x="228" y="242"/>
                </a:lnTo>
                <a:lnTo>
                  <a:pt x="263" y="280"/>
                </a:lnTo>
                <a:moveTo>
                  <a:pt x="298" y="55"/>
                </a:moveTo>
                <a:cubicBezTo>
                  <a:pt x="230" y="-18"/>
                  <a:pt x="119" y="-18"/>
                  <a:pt x="51" y="55"/>
                </a:cubicBezTo>
                <a:lnTo>
                  <a:pt x="16" y="17"/>
                </a:lnTo>
                <a:lnTo>
                  <a:pt x="5" y="141"/>
                </a:lnTo>
                <a:lnTo>
                  <a:pt x="122" y="130"/>
                </a:lnTo>
                <a:lnTo>
                  <a:pt x="86" y="92"/>
                </a:lnTo>
                <a:cubicBezTo>
                  <a:pt x="135" y="41"/>
                  <a:pt x="214" y="41"/>
                  <a:pt x="263" y="92"/>
                </a:cubicBezTo>
                <a:cubicBezTo>
                  <a:pt x="291" y="122"/>
                  <a:pt x="304" y="162"/>
                  <a:pt x="299" y="201"/>
                </a:cubicBezTo>
                <a:lnTo>
                  <a:pt x="350" y="196"/>
                </a:lnTo>
                <a:cubicBezTo>
                  <a:pt x="353" y="145"/>
                  <a:pt x="336" y="94"/>
                  <a:pt x="298" y="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TextBox 862"/>
          <p:cNvSpPr txBox="1"/>
          <p:nvPr/>
        </p:nvSpPr>
        <p:spPr>
          <a:xfrm>
            <a:off x="1488240" y="7418305"/>
            <a:ext cx="2197333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Kubernetes deployment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TextBox 863"/>
          <p:cNvSpPr txBox="1"/>
          <p:nvPr/>
        </p:nvSpPr>
        <p:spPr>
          <a:xfrm>
            <a:off x="1488241" y="7749649"/>
            <a:ext cx="217527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 End-to-end automation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TextBox 864"/>
          <p:cNvSpPr txBox="1"/>
          <p:nvPr/>
        </p:nvSpPr>
        <p:spPr>
          <a:xfrm>
            <a:off x="14142384" y="7712929"/>
            <a:ext cx="173124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12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Freeform: Shape 865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Freeform: Shape 866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Freeform: Shape 867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Freeform: Shape 868"/>
          <p:cNvSpPr/>
          <p:nvPr/>
        </p:nvSpPr>
        <p:spPr>
          <a:xfrm>
            <a:off x="908496" y="896400"/>
            <a:ext cx="149040" cy="172368"/>
          </a:xfrm>
          <a:custGeom>
            <a:avLst/>
            <a:gdLst/>
            <a:ahLst/>
            <a:cxnLst/>
            <a:rect l="0" t="0" r="r" b="b"/>
            <a:pathLst>
              <a:path w="345" h="399">
                <a:moveTo>
                  <a:pt x="0" y="0"/>
                </a:moveTo>
                <a:lnTo>
                  <a:pt x="0" y="221"/>
                </a:lnTo>
                <a:cubicBezTo>
                  <a:pt x="0" y="319"/>
                  <a:pt x="77" y="399"/>
                  <a:pt x="173" y="399"/>
                </a:cubicBezTo>
                <a:cubicBezTo>
                  <a:pt x="268" y="399"/>
                  <a:pt x="345" y="319"/>
                  <a:pt x="345" y="221"/>
                </a:cubicBezTo>
                <a:lnTo>
                  <a:pt x="345" y="6"/>
                </a:lnTo>
                <a:lnTo>
                  <a:pt x="0" y="0"/>
                </a:ln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Freeform: Shape 869"/>
          <p:cNvSpPr/>
          <p:nvPr/>
        </p:nvSpPr>
        <p:spPr>
          <a:xfrm>
            <a:off x="949536" y="1034208"/>
            <a:ext cx="66528" cy="17712"/>
          </a:xfrm>
          <a:custGeom>
            <a:avLst/>
            <a:gdLst/>
            <a:ahLst/>
            <a:cxnLst/>
            <a:rect l="0" t="0" r="r" b="b"/>
            <a:pathLst>
              <a:path w="154" h="41">
                <a:moveTo>
                  <a:pt x="0" y="0"/>
                </a:moveTo>
                <a:lnTo>
                  <a:pt x="154" y="0"/>
                </a:lnTo>
                <a:cubicBezTo>
                  <a:pt x="154" y="0"/>
                  <a:pt x="135" y="41"/>
                  <a:pt x="78" y="41"/>
                </a:cubicBezTo>
                <a:cubicBezTo>
                  <a:pt x="21" y="41"/>
                  <a:pt x="0" y="0"/>
                  <a:pt x="0" y="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1" name="Freeform: Shape 870"/>
          <p:cNvSpPr/>
          <p:nvPr/>
        </p:nvSpPr>
        <p:spPr>
          <a:xfrm>
            <a:off x="941328" y="956880"/>
            <a:ext cx="82944" cy="26352"/>
          </a:xfrm>
          <a:custGeom>
            <a:avLst/>
            <a:gdLst/>
            <a:ahLst/>
            <a:cxnLst/>
            <a:rect l="0" t="0" r="r" b="b"/>
            <a:pathLst>
              <a:path w="192" h="61">
                <a:moveTo>
                  <a:pt x="20" y="61"/>
                </a:moveTo>
                <a:cubicBezTo>
                  <a:pt x="9" y="61"/>
                  <a:pt x="0" y="51"/>
                  <a:pt x="0" y="40"/>
                </a:cubicBez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lnTo>
                  <a:pt x="40" y="40"/>
                </a:lnTo>
                <a:cubicBezTo>
                  <a:pt x="40" y="51"/>
                  <a:pt x="31" y="61"/>
                  <a:pt x="20" y="61"/>
                </a:cubicBezTo>
                <a:moveTo>
                  <a:pt x="173" y="61"/>
                </a:moveTo>
                <a:cubicBezTo>
                  <a:pt x="163" y="61"/>
                  <a:pt x="154" y="51"/>
                  <a:pt x="154" y="40"/>
                </a:cubicBezTo>
                <a:lnTo>
                  <a:pt x="154" y="20"/>
                </a:lnTo>
                <a:cubicBezTo>
                  <a:pt x="154" y="9"/>
                  <a:pt x="163" y="0"/>
                  <a:pt x="173" y="0"/>
                </a:cubicBezTo>
                <a:cubicBezTo>
                  <a:pt x="184" y="0"/>
                  <a:pt x="192" y="9"/>
                  <a:pt x="192" y="20"/>
                </a:cubicBezTo>
                <a:lnTo>
                  <a:pt x="192" y="40"/>
                </a:lnTo>
                <a:cubicBezTo>
                  <a:pt x="192" y="51"/>
                  <a:pt x="184" y="61"/>
                  <a:pt x="173" y="61"/>
                </a:cubicBez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Freeform: Shape 871"/>
          <p:cNvSpPr/>
          <p:nvPr/>
        </p:nvSpPr>
        <p:spPr>
          <a:xfrm>
            <a:off x="970272" y="1004400"/>
            <a:ext cx="25488" cy="8640"/>
          </a:xfrm>
          <a:custGeom>
            <a:avLst/>
            <a:gdLst/>
            <a:ahLst/>
            <a:cxnLst/>
            <a:rect l="0" t="0" r="r" b="b"/>
            <a:pathLst>
              <a:path w="59" h="20">
                <a:moveTo>
                  <a:pt x="49" y="20"/>
                </a:moveTo>
                <a:lnTo>
                  <a:pt x="11" y="20"/>
                </a:lnTo>
                <a:cubicBezTo>
                  <a:pt x="5" y="20"/>
                  <a:pt x="0" y="16"/>
                  <a:pt x="0" y="10"/>
                </a:cubicBezTo>
                <a:cubicBezTo>
                  <a:pt x="0" y="5"/>
                  <a:pt x="5" y="0"/>
                  <a:pt x="11" y="0"/>
                </a:cubicBezTo>
                <a:lnTo>
                  <a:pt x="49" y="0"/>
                </a:lnTo>
                <a:cubicBezTo>
                  <a:pt x="54" y="0"/>
                  <a:pt x="59" y="5"/>
                  <a:pt x="59" y="10"/>
                </a:cubicBezTo>
                <a:cubicBezTo>
                  <a:pt x="59" y="16"/>
                  <a:pt x="54" y="20"/>
                  <a:pt x="49" y="2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3" name="Freeform: Shape 872"/>
          <p:cNvSpPr/>
          <p:nvPr/>
        </p:nvSpPr>
        <p:spPr>
          <a:xfrm>
            <a:off x="894240" y="938736"/>
            <a:ext cx="177552" cy="49248"/>
          </a:xfrm>
          <a:custGeom>
            <a:avLst/>
            <a:gdLst/>
            <a:ahLst/>
            <a:cxnLst/>
            <a:rect l="0" t="0" r="r" b="b"/>
            <a:pathLst>
              <a:path w="411" h="114">
                <a:moveTo>
                  <a:pt x="68" y="58"/>
                </a:moveTo>
                <a:cubicBezTo>
                  <a:pt x="68" y="89"/>
                  <a:pt x="53" y="114"/>
                  <a:pt x="34" y="114"/>
                </a:cubicBezTo>
                <a:cubicBezTo>
                  <a:pt x="15" y="114"/>
                  <a:pt x="0" y="89"/>
                  <a:pt x="0" y="58"/>
                </a:cubicBezTo>
                <a:cubicBezTo>
                  <a:pt x="0" y="25"/>
                  <a:pt x="15" y="0"/>
                  <a:pt x="34" y="0"/>
                </a:cubicBezTo>
                <a:cubicBezTo>
                  <a:pt x="53" y="0"/>
                  <a:pt x="68" y="25"/>
                  <a:pt x="68" y="58"/>
                </a:cubicBezTo>
                <a:moveTo>
                  <a:pt x="411" y="58"/>
                </a:moveTo>
                <a:cubicBezTo>
                  <a:pt x="411" y="89"/>
                  <a:pt x="396" y="114"/>
                  <a:pt x="377" y="114"/>
                </a:cubicBezTo>
                <a:cubicBezTo>
                  <a:pt x="358" y="114"/>
                  <a:pt x="343" y="89"/>
                  <a:pt x="343" y="58"/>
                </a:cubicBezTo>
                <a:cubicBezTo>
                  <a:pt x="343" y="25"/>
                  <a:pt x="358" y="0"/>
                  <a:pt x="377" y="0"/>
                </a:cubicBezTo>
                <a:cubicBezTo>
                  <a:pt x="396" y="0"/>
                  <a:pt x="411" y="25"/>
                  <a:pt x="411" y="58"/>
                </a:cubicBez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Freeform: Shape 873"/>
          <p:cNvSpPr/>
          <p:nvPr/>
        </p:nvSpPr>
        <p:spPr>
          <a:xfrm>
            <a:off x="898992" y="852768"/>
            <a:ext cx="168048" cy="112752"/>
          </a:xfrm>
          <a:custGeom>
            <a:avLst/>
            <a:gdLst/>
            <a:ahLst/>
            <a:cxnLst/>
            <a:rect l="0" t="0" r="r" b="b"/>
            <a:pathLst>
              <a:path w="389" h="261">
                <a:moveTo>
                  <a:pt x="195" y="0"/>
                </a:moveTo>
                <a:cubicBezTo>
                  <a:pt x="61" y="0"/>
                  <a:pt x="0" y="93"/>
                  <a:pt x="0" y="170"/>
                </a:cubicBezTo>
                <a:cubicBezTo>
                  <a:pt x="0" y="249"/>
                  <a:pt x="26" y="270"/>
                  <a:pt x="30" y="249"/>
                </a:cubicBezTo>
                <a:cubicBezTo>
                  <a:pt x="45" y="170"/>
                  <a:pt x="91" y="146"/>
                  <a:pt x="91" y="146"/>
                </a:cubicBezTo>
                <a:cubicBezTo>
                  <a:pt x="180" y="224"/>
                  <a:pt x="165" y="162"/>
                  <a:pt x="165" y="162"/>
                </a:cubicBezTo>
                <a:cubicBezTo>
                  <a:pt x="255" y="256"/>
                  <a:pt x="210" y="162"/>
                  <a:pt x="210" y="162"/>
                </a:cubicBezTo>
                <a:cubicBezTo>
                  <a:pt x="240" y="193"/>
                  <a:pt x="329" y="193"/>
                  <a:pt x="329" y="193"/>
                </a:cubicBezTo>
                <a:cubicBezTo>
                  <a:pt x="329" y="193"/>
                  <a:pt x="344" y="217"/>
                  <a:pt x="359" y="249"/>
                </a:cubicBezTo>
                <a:cubicBezTo>
                  <a:pt x="374" y="280"/>
                  <a:pt x="389" y="249"/>
                  <a:pt x="389" y="170"/>
                </a:cubicBezTo>
                <a:cubicBezTo>
                  <a:pt x="389" y="93"/>
                  <a:pt x="314" y="0"/>
                  <a:pt x="195" y="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Freeform: Shape 874"/>
          <p:cNvSpPr/>
          <p:nvPr/>
        </p:nvSpPr>
        <p:spPr>
          <a:xfrm>
            <a:off x="850608" y="845424"/>
            <a:ext cx="91152" cy="95040"/>
          </a:xfrm>
          <a:custGeom>
            <a:avLst/>
            <a:gdLst/>
            <a:ahLst/>
            <a:cxnLst/>
            <a:rect l="0" t="0" r="r" b="b"/>
            <a:pathLst>
              <a:path w="211" h="220">
                <a:moveTo>
                  <a:pt x="200" y="59"/>
                </a:moveTo>
                <a:cubicBezTo>
                  <a:pt x="189" y="51"/>
                  <a:pt x="174" y="54"/>
                  <a:pt x="166" y="66"/>
                </a:cubicBezTo>
                <a:lnTo>
                  <a:pt x="154" y="85"/>
                </a:lnTo>
                <a:lnTo>
                  <a:pt x="154" y="40"/>
                </a:lnTo>
                <a:cubicBezTo>
                  <a:pt x="154" y="18"/>
                  <a:pt x="137" y="0"/>
                  <a:pt x="116" y="0"/>
                </a:cubicBezTo>
                <a:lnTo>
                  <a:pt x="39" y="0"/>
                </a:lnTo>
                <a:cubicBezTo>
                  <a:pt x="17" y="0"/>
                  <a:pt x="0" y="18"/>
                  <a:pt x="0" y="40"/>
                </a:cubicBezTo>
                <a:lnTo>
                  <a:pt x="0" y="200"/>
                </a:lnTo>
                <a:cubicBezTo>
                  <a:pt x="0" y="200"/>
                  <a:pt x="0" y="220"/>
                  <a:pt x="19" y="220"/>
                </a:cubicBezTo>
                <a:lnTo>
                  <a:pt x="135" y="220"/>
                </a:lnTo>
                <a:lnTo>
                  <a:pt x="154" y="200"/>
                </a:lnTo>
                <a:lnTo>
                  <a:pt x="154" y="179"/>
                </a:lnTo>
                <a:lnTo>
                  <a:pt x="207" y="94"/>
                </a:lnTo>
                <a:cubicBezTo>
                  <a:pt x="215" y="82"/>
                  <a:pt x="212" y="66"/>
                  <a:pt x="200" y="59"/>
                </a:cubicBez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Freeform: Shape 875"/>
          <p:cNvSpPr/>
          <p:nvPr/>
        </p:nvSpPr>
        <p:spPr>
          <a:xfrm>
            <a:off x="867024" y="845424"/>
            <a:ext cx="33696" cy="43632"/>
          </a:xfrm>
          <a:custGeom>
            <a:avLst/>
            <a:gdLst/>
            <a:ahLst/>
            <a:cxnLst/>
            <a:rect l="0" t="0" r="r" b="b"/>
            <a:pathLst>
              <a:path w="78" h="101">
                <a:moveTo>
                  <a:pt x="0" y="0"/>
                </a:moveTo>
                <a:lnTo>
                  <a:pt x="21" y="0"/>
                </a:lnTo>
                <a:lnTo>
                  <a:pt x="21" y="101"/>
                </a:lnTo>
                <a:lnTo>
                  <a:pt x="0" y="101"/>
                </a:lnTo>
                <a:lnTo>
                  <a:pt x="0" y="0"/>
                </a:lnTo>
                <a:moveTo>
                  <a:pt x="59" y="0"/>
                </a:moveTo>
                <a:lnTo>
                  <a:pt x="78" y="0"/>
                </a:lnTo>
                <a:lnTo>
                  <a:pt x="78" y="101"/>
                </a:lnTo>
                <a:lnTo>
                  <a:pt x="59" y="101"/>
                </a:lnTo>
                <a:lnTo>
                  <a:pt x="59" y="0"/>
                </a:lnTo>
                <a:close/>
              </a:path>
            </a:pathLst>
          </a:custGeom>
          <a:solidFill>
            <a:srgbClr val="EF96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Freeform: Shape 876"/>
          <p:cNvSpPr/>
          <p:nvPr/>
        </p:nvSpPr>
        <p:spPr>
          <a:xfrm>
            <a:off x="850608" y="931392"/>
            <a:ext cx="239760" cy="223344"/>
          </a:xfrm>
          <a:custGeom>
            <a:avLst/>
            <a:gdLst/>
            <a:ahLst/>
            <a:cxnLst/>
            <a:rect l="0" t="0" r="r" b="b"/>
            <a:pathLst>
              <a:path w="555" h="517">
                <a:moveTo>
                  <a:pt x="478" y="338"/>
                </a:moveTo>
                <a:lnTo>
                  <a:pt x="134" y="338"/>
                </a:lnTo>
                <a:lnTo>
                  <a:pt x="153" y="0"/>
                </a:lnTo>
                <a:lnTo>
                  <a:pt x="0" y="0"/>
                </a:lnTo>
                <a:lnTo>
                  <a:pt x="0" y="338"/>
                </a:lnTo>
                <a:cubicBezTo>
                  <a:pt x="0" y="338"/>
                  <a:pt x="0" y="517"/>
                  <a:pt x="153" y="517"/>
                </a:cubicBezTo>
                <a:lnTo>
                  <a:pt x="555" y="517"/>
                </a:lnTo>
                <a:lnTo>
                  <a:pt x="555" y="418"/>
                </a:lnTo>
                <a:cubicBezTo>
                  <a:pt x="555" y="374"/>
                  <a:pt x="520" y="338"/>
                  <a:pt x="478" y="338"/>
                </a:cubicBezTo>
                <a:close/>
              </a:path>
            </a:pathLst>
          </a:custGeom>
          <a:solidFill>
            <a:srgbClr val="4289C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8" name="Freeform: Shape 877"/>
          <p:cNvSpPr/>
          <p:nvPr/>
        </p:nvSpPr>
        <p:spPr>
          <a:xfrm>
            <a:off x="1048896" y="1119744"/>
            <a:ext cx="8640" cy="34992"/>
          </a:xfrm>
          <a:custGeom>
            <a:avLst/>
            <a:gdLst/>
            <a:ahLst/>
            <a:cxnLst/>
            <a:rect l="0" t="0" r="r" b="b"/>
            <a:pathLst>
              <a:path w="20" h="81">
                <a:moveTo>
                  <a:pt x="0" y="0"/>
                </a:moveTo>
                <a:lnTo>
                  <a:pt x="20" y="0"/>
                </a:lnTo>
                <a:lnTo>
                  <a:pt x="20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9" name="Freeform: Shape 878"/>
          <p:cNvSpPr/>
          <p:nvPr/>
        </p:nvSpPr>
        <p:spPr>
          <a:xfrm>
            <a:off x="958176" y="1051488"/>
            <a:ext cx="49680" cy="60480"/>
          </a:xfrm>
          <a:custGeom>
            <a:avLst/>
            <a:gdLst/>
            <a:ahLst/>
            <a:cxnLst/>
            <a:rect l="0" t="0" r="r" b="b"/>
            <a:pathLst>
              <a:path w="115" h="140">
                <a:moveTo>
                  <a:pt x="0" y="0"/>
                </a:moveTo>
                <a:lnTo>
                  <a:pt x="0" y="79"/>
                </a:lnTo>
                <a:cubicBezTo>
                  <a:pt x="0" y="112"/>
                  <a:pt x="26" y="140"/>
                  <a:pt x="58" y="140"/>
                </a:cubicBezTo>
                <a:cubicBezTo>
                  <a:pt x="90" y="140"/>
                  <a:pt x="115" y="112"/>
                  <a:pt x="115" y="79"/>
                </a:cubicBezTo>
                <a:lnTo>
                  <a:pt x="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TextBox 879"/>
          <p:cNvSpPr txBox="1"/>
          <p:nvPr/>
        </p:nvSpPr>
        <p:spPr>
          <a:xfrm>
            <a:off x="1146960" y="794449"/>
            <a:ext cx="3036922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Q&amp;A and Next Steps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Freeform: Shape 880"/>
          <p:cNvSpPr/>
          <p:nvPr/>
        </p:nvSpPr>
        <p:spPr>
          <a:xfrm>
            <a:off x="1039824" y="2000160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2" name="TextBox 881"/>
          <p:cNvSpPr txBox="1"/>
          <p:nvPr/>
        </p:nvSpPr>
        <p:spPr>
          <a:xfrm>
            <a:off x="800064" y="1406161"/>
            <a:ext cx="356289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What's Next in Your DevOps Journey: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Freeform: Shape 882"/>
          <p:cNvSpPr/>
          <p:nvPr/>
        </p:nvSpPr>
        <p:spPr>
          <a:xfrm>
            <a:off x="1039824" y="2331504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4" name="TextBox 883"/>
          <p:cNvSpPr txBox="1"/>
          <p:nvPr/>
        </p:nvSpPr>
        <p:spPr>
          <a:xfrm>
            <a:off x="1257121" y="1886113"/>
            <a:ext cx="439928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Advanced Kubernetes (StatefulSets, DaemonSets)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Freeform: Shape 884"/>
          <p:cNvSpPr/>
          <p:nvPr/>
        </p:nvSpPr>
        <p:spPr>
          <a:xfrm>
            <a:off x="1039824" y="266284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6" name="TextBox 885"/>
          <p:cNvSpPr txBox="1"/>
          <p:nvPr/>
        </p:nvSpPr>
        <p:spPr>
          <a:xfrm>
            <a:off x="1257121" y="2217457"/>
            <a:ext cx="420038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Monitoring &amp; Logging (Prometheus, ELK stack)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Freeform: Shape 886"/>
          <p:cNvSpPr/>
          <p:nvPr/>
        </p:nvSpPr>
        <p:spPr>
          <a:xfrm>
            <a:off x="1039824" y="2994624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8" name="TextBox 887"/>
          <p:cNvSpPr txBox="1"/>
          <p:nvPr/>
        </p:nvSpPr>
        <p:spPr>
          <a:xfrm>
            <a:off x="1257120" y="2548801"/>
            <a:ext cx="455862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Infrastructure as Code (Terraform, CloudFormation)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Freeform: Shape 888"/>
          <p:cNvSpPr/>
          <p:nvPr/>
        </p:nvSpPr>
        <p:spPr>
          <a:xfrm>
            <a:off x="1039824" y="3325968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0" name="TextBox 889"/>
          <p:cNvSpPr txBox="1"/>
          <p:nvPr/>
        </p:nvSpPr>
        <p:spPr>
          <a:xfrm>
            <a:off x="1257121" y="2880577"/>
            <a:ext cx="246054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GitOps workflows (ArgoCD)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TextBox 890"/>
          <p:cNvSpPr txBox="1"/>
          <p:nvPr/>
        </p:nvSpPr>
        <p:spPr>
          <a:xfrm>
            <a:off x="1257120" y="3211921"/>
            <a:ext cx="203902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455A64"/>
                </a:solidFill>
                <a:latin typeface="SegoeUI"/>
                <a:ea typeface="SegoeUI"/>
              </a:rPr>
              <a:t>Security &amp; Compliance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Freeform: Shape 891"/>
          <p:cNvSpPr/>
          <p:nvPr/>
        </p:nvSpPr>
        <p:spPr>
          <a:xfrm>
            <a:off x="1039824" y="4262976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2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2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3" name="Freeform: Shape 892"/>
          <p:cNvSpPr/>
          <p:nvPr/>
        </p:nvSpPr>
        <p:spPr>
          <a:xfrm>
            <a:off x="1257120" y="4377456"/>
            <a:ext cx="2371680" cy="11664"/>
          </a:xfrm>
          <a:custGeom>
            <a:avLst/>
            <a:gdLst/>
            <a:ahLst/>
            <a:cxnLst/>
            <a:rect l="0" t="0" r="r" b="b"/>
            <a:pathLst>
              <a:path w="5490" h="27">
                <a:moveTo>
                  <a:pt x="0" y="0"/>
                </a:moveTo>
                <a:lnTo>
                  <a:pt x="5490" y="0"/>
                </a:lnTo>
                <a:lnTo>
                  <a:pt x="54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" name="TextBox 893"/>
          <p:cNvSpPr txBox="1"/>
          <p:nvPr/>
        </p:nvSpPr>
        <p:spPr>
          <a:xfrm>
            <a:off x="800064" y="3680641"/>
            <a:ext cx="3284104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Resources for Continued Learning: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Freeform: Shape 894"/>
          <p:cNvSpPr/>
          <p:nvPr/>
        </p:nvSpPr>
        <p:spPr>
          <a:xfrm>
            <a:off x="1039824" y="4594752"/>
            <a:ext cx="69120" cy="68688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Freeform: Shape 895"/>
          <p:cNvSpPr/>
          <p:nvPr/>
        </p:nvSpPr>
        <p:spPr>
          <a:xfrm>
            <a:off x="1257120" y="4708800"/>
            <a:ext cx="2777328" cy="12096"/>
          </a:xfrm>
          <a:custGeom>
            <a:avLst/>
            <a:gdLst/>
            <a:ahLst/>
            <a:cxnLst/>
            <a:rect l="0" t="0" r="r" b="b"/>
            <a:pathLst>
              <a:path w="6429" h="28">
                <a:moveTo>
                  <a:pt x="0" y="0"/>
                </a:moveTo>
                <a:lnTo>
                  <a:pt x="6429" y="0"/>
                </a:lnTo>
                <a:lnTo>
                  <a:pt x="64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TextBox 896"/>
          <p:cNvSpPr txBox="1"/>
          <p:nvPr/>
        </p:nvSpPr>
        <p:spPr>
          <a:xfrm>
            <a:off x="1257120" y="4149361"/>
            <a:ext cx="209352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0288D1"/>
                </a:solidFill>
                <a:latin typeface="SegoeUI"/>
                <a:ea typeface="SegoeUI"/>
              </a:rPr>
              <a:t>Jenkins Documentation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Freeform: Shape 897"/>
          <p:cNvSpPr/>
          <p:nvPr/>
        </p:nvSpPr>
        <p:spPr>
          <a:xfrm>
            <a:off x="1039824" y="4926096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Freeform: Shape 898"/>
          <p:cNvSpPr/>
          <p:nvPr/>
        </p:nvSpPr>
        <p:spPr>
          <a:xfrm>
            <a:off x="1257120" y="5040576"/>
            <a:ext cx="2192832" cy="11664"/>
          </a:xfrm>
          <a:custGeom>
            <a:avLst/>
            <a:gdLst/>
            <a:ahLst/>
            <a:cxnLst/>
            <a:rect l="0" t="0" r="r" b="b"/>
            <a:pathLst>
              <a:path w="5076" h="27">
                <a:moveTo>
                  <a:pt x="0" y="0"/>
                </a:moveTo>
                <a:lnTo>
                  <a:pt x="5076" y="0"/>
                </a:lnTo>
                <a:lnTo>
                  <a:pt x="5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TextBox 899"/>
          <p:cNvSpPr txBox="1"/>
          <p:nvPr/>
        </p:nvSpPr>
        <p:spPr>
          <a:xfrm>
            <a:off x="1257121" y="4480705"/>
            <a:ext cx="2457019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0288D1"/>
                </a:solidFill>
                <a:latin typeface="SegoeUI"/>
                <a:ea typeface="SegoeUI"/>
              </a:rPr>
              <a:t>Kubernetes Documentation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Freeform: Shape 900"/>
          <p:cNvSpPr/>
          <p:nvPr/>
        </p:nvSpPr>
        <p:spPr>
          <a:xfrm>
            <a:off x="1039824" y="5257440"/>
            <a:ext cx="69120" cy="6912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Freeform: Shape 901"/>
          <p:cNvSpPr/>
          <p:nvPr/>
        </p:nvSpPr>
        <p:spPr>
          <a:xfrm>
            <a:off x="1257120" y="5371920"/>
            <a:ext cx="2189808" cy="11664"/>
          </a:xfrm>
          <a:custGeom>
            <a:avLst/>
            <a:gdLst/>
            <a:ahLst/>
            <a:cxnLst/>
            <a:rect l="0" t="0" r="r" b="b"/>
            <a:pathLst>
              <a:path w="5069" h="27">
                <a:moveTo>
                  <a:pt x="0" y="0"/>
                </a:moveTo>
                <a:lnTo>
                  <a:pt x="5069" y="0"/>
                </a:lnTo>
                <a:lnTo>
                  <a:pt x="50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TextBox 902"/>
          <p:cNvSpPr txBox="1"/>
          <p:nvPr/>
        </p:nvSpPr>
        <p:spPr>
          <a:xfrm>
            <a:off x="1257121" y="4812049"/>
            <a:ext cx="1913985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0288D1"/>
                </a:solidFill>
                <a:latin typeface="SegoeUI"/>
                <a:ea typeface="SegoeUI"/>
              </a:rPr>
              <a:t>GitHub Best Practices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TextBox 903"/>
          <p:cNvSpPr txBox="1"/>
          <p:nvPr/>
        </p:nvSpPr>
        <p:spPr>
          <a:xfrm>
            <a:off x="1257120" y="5143825"/>
            <a:ext cx="1906740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>
                <a:solidFill>
                  <a:srgbClr val="0288D1"/>
                </a:solidFill>
                <a:latin typeface="SegoeUI"/>
                <a:ea typeface="SegoeUI"/>
              </a:rPr>
              <a:t>Docker Best Practices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Freeform: Shape 904"/>
          <p:cNvSpPr/>
          <p:nvPr/>
        </p:nvSpPr>
        <p:spPr>
          <a:xfrm>
            <a:off x="4503600" y="5695488"/>
            <a:ext cx="156816" cy="156816"/>
          </a:xfrm>
          <a:custGeom>
            <a:avLst/>
            <a:gdLst/>
            <a:ahLst/>
            <a:cxnLst/>
            <a:rect l="0" t="0" r="r" b="b"/>
            <a:pathLst>
              <a:path w="363" h="363">
                <a:moveTo>
                  <a:pt x="144" y="6"/>
                </a:moveTo>
                <a:cubicBezTo>
                  <a:pt x="143" y="7"/>
                  <a:pt x="142" y="9"/>
                  <a:pt x="141" y="11"/>
                </a:cubicBezTo>
                <a:lnTo>
                  <a:pt x="1" y="326"/>
                </a:lnTo>
                <a:lnTo>
                  <a:pt x="1" y="327"/>
                </a:lnTo>
                <a:cubicBezTo>
                  <a:pt x="-2" y="332"/>
                  <a:pt x="3" y="342"/>
                  <a:pt x="12" y="351"/>
                </a:cubicBezTo>
                <a:cubicBezTo>
                  <a:pt x="18" y="359"/>
                  <a:pt x="26" y="363"/>
                  <a:pt x="32" y="363"/>
                </a:cubicBezTo>
                <a:lnTo>
                  <a:pt x="33" y="363"/>
                </a:lnTo>
                <a:cubicBezTo>
                  <a:pt x="34" y="363"/>
                  <a:pt x="35" y="363"/>
                  <a:pt x="36" y="362"/>
                </a:cubicBezTo>
                <a:lnTo>
                  <a:pt x="36" y="363"/>
                </a:lnTo>
                <a:lnTo>
                  <a:pt x="353" y="221"/>
                </a:lnTo>
                <a:lnTo>
                  <a:pt x="352" y="221"/>
                </a:lnTo>
                <a:cubicBezTo>
                  <a:pt x="354" y="220"/>
                  <a:pt x="356" y="219"/>
                  <a:pt x="357" y="218"/>
                </a:cubicBezTo>
                <a:cubicBezTo>
                  <a:pt x="377" y="198"/>
                  <a:pt x="345" y="135"/>
                  <a:pt x="287" y="77"/>
                </a:cubicBezTo>
                <a:cubicBezTo>
                  <a:pt x="228" y="18"/>
                  <a:pt x="164" y="-15"/>
                  <a:pt x="144" y="6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Freeform: Shape 905"/>
          <p:cNvSpPr/>
          <p:nvPr/>
        </p:nvSpPr>
        <p:spPr>
          <a:xfrm>
            <a:off x="4503600" y="5722272"/>
            <a:ext cx="91584" cy="128304"/>
          </a:xfrm>
          <a:custGeom>
            <a:avLst/>
            <a:gdLst/>
            <a:ahLst/>
            <a:cxnLst/>
            <a:rect l="0" t="0" r="r" b="b"/>
            <a:pathLst>
              <a:path w="212" h="297">
                <a:moveTo>
                  <a:pt x="163" y="0"/>
                </a:moveTo>
                <a:lnTo>
                  <a:pt x="4" y="258"/>
                </a:lnTo>
                <a:lnTo>
                  <a:pt x="1" y="265"/>
                </a:lnTo>
                <a:lnTo>
                  <a:pt x="1" y="266"/>
                </a:lnTo>
                <a:cubicBezTo>
                  <a:pt x="-2" y="271"/>
                  <a:pt x="3" y="281"/>
                  <a:pt x="12" y="290"/>
                </a:cubicBezTo>
                <a:cubicBezTo>
                  <a:pt x="14" y="293"/>
                  <a:pt x="17" y="295"/>
                  <a:pt x="21" y="297"/>
                </a:cubicBezTo>
                <a:lnTo>
                  <a:pt x="212" y="63"/>
                </a:lnTo>
                <a:lnTo>
                  <a:pt x="163" y="0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" name="Freeform: Shape 906"/>
          <p:cNvSpPr/>
          <p:nvPr/>
        </p:nvSpPr>
        <p:spPr>
          <a:xfrm>
            <a:off x="4564944" y="5694624"/>
            <a:ext cx="95904" cy="96336"/>
          </a:xfrm>
          <a:custGeom>
            <a:avLst/>
            <a:gdLst/>
            <a:ahLst/>
            <a:cxnLst/>
            <a:rect l="0" t="0" r="r" b="b"/>
            <a:pathLst>
              <a:path w="222" h="223">
                <a:moveTo>
                  <a:pt x="144" y="78"/>
                </a:moveTo>
                <a:cubicBezTo>
                  <a:pt x="203" y="136"/>
                  <a:pt x="235" y="199"/>
                  <a:pt x="217" y="218"/>
                </a:cubicBezTo>
                <a:cubicBezTo>
                  <a:pt x="199" y="236"/>
                  <a:pt x="135" y="204"/>
                  <a:pt x="77" y="144"/>
                </a:cubicBezTo>
                <a:cubicBezTo>
                  <a:pt x="19" y="86"/>
                  <a:pt x="-14" y="24"/>
                  <a:pt x="5" y="5"/>
                </a:cubicBezTo>
                <a:cubicBezTo>
                  <a:pt x="23" y="-13"/>
                  <a:pt x="85" y="19"/>
                  <a:pt x="144" y="78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Freeform: Shape 907"/>
          <p:cNvSpPr/>
          <p:nvPr/>
        </p:nvSpPr>
        <p:spPr>
          <a:xfrm>
            <a:off x="4584384" y="5660928"/>
            <a:ext cx="38880" cy="71712"/>
          </a:xfrm>
          <a:custGeom>
            <a:avLst/>
            <a:gdLst/>
            <a:ahLst/>
            <a:cxnLst/>
            <a:rect l="0" t="0" r="r" b="b"/>
            <a:pathLst>
              <a:path w="90" h="166">
                <a:moveTo>
                  <a:pt x="45" y="163"/>
                </a:moveTo>
                <a:cubicBezTo>
                  <a:pt x="43" y="165"/>
                  <a:pt x="40" y="166"/>
                  <a:pt x="36" y="166"/>
                </a:cubicBezTo>
                <a:cubicBezTo>
                  <a:pt x="25" y="165"/>
                  <a:pt x="15" y="161"/>
                  <a:pt x="9" y="155"/>
                </a:cubicBezTo>
                <a:cubicBezTo>
                  <a:pt x="2" y="149"/>
                  <a:pt x="-1" y="140"/>
                  <a:pt x="0" y="132"/>
                </a:cubicBezTo>
                <a:cubicBezTo>
                  <a:pt x="1" y="117"/>
                  <a:pt x="16" y="103"/>
                  <a:pt x="43" y="106"/>
                </a:cubicBezTo>
                <a:cubicBezTo>
                  <a:pt x="53" y="107"/>
                  <a:pt x="57" y="104"/>
                  <a:pt x="57" y="102"/>
                </a:cubicBezTo>
                <a:cubicBezTo>
                  <a:pt x="57" y="101"/>
                  <a:pt x="54" y="97"/>
                  <a:pt x="44" y="96"/>
                </a:cubicBezTo>
                <a:cubicBezTo>
                  <a:pt x="33" y="95"/>
                  <a:pt x="23" y="91"/>
                  <a:pt x="16" y="85"/>
                </a:cubicBezTo>
                <a:cubicBezTo>
                  <a:pt x="10" y="79"/>
                  <a:pt x="6" y="70"/>
                  <a:pt x="7" y="62"/>
                </a:cubicBezTo>
                <a:cubicBezTo>
                  <a:pt x="9" y="47"/>
                  <a:pt x="25" y="33"/>
                  <a:pt x="50" y="36"/>
                </a:cubicBezTo>
                <a:cubicBezTo>
                  <a:pt x="57" y="37"/>
                  <a:pt x="61" y="35"/>
                  <a:pt x="63" y="34"/>
                </a:cubicBezTo>
                <a:cubicBezTo>
                  <a:pt x="64" y="33"/>
                  <a:pt x="65" y="33"/>
                  <a:pt x="65" y="32"/>
                </a:cubicBezTo>
                <a:cubicBezTo>
                  <a:pt x="65" y="31"/>
                  <a:pt x="61" y="27"/>
                  <a:pt x="51" y="26"/>
                </a:cubicBezTo>
                <a:cubicBezTo>
                  <a:pt x="45" y="25"/>
                  <a:pt x="40" y="19"/>
                  <a:pt x="40" y="11"/>
                </a:cubicBezTo>
                <a:cubicBezTo>
                  <a:pt x="41" y="4"/>
                  <a:pt x="47" y="-1"/>
                  <a:pt x="54" y="0"/>
                </a:cubicBezTo>
                <a:cubicBezTo>
                  <a:pt x="79" y="2"/>
                  <a:pt x="91" y="20"/>
                  <a:pt x="90" y="35"/>
                </a:cubicBezTo>
                <a:cubicBezTo>
                  <a:pt x="88" y="50"/>
                  <a:pt x="73" y="63"/>
                  <a:pt x="48" y="61"/>
                </a:cubicBezTo>
                <a:cubicBezTo>
                  <a:pt x="40" y="60"/>
                  <a:pt x="37" y="61"/>
                  <a:pt x="35" y="62"/>
                </a:cubicBezTo>
                <a:cubicBezTo>
                  <a:pt x="34" y="63"/>
                  <a:pt x="33" y="64"/>
                  <a:pt x="33" y="64"/>
                </a:cubicBezTo>
                <a:cubicBezTo>
                  <a:pt x="33" y="66"/>
                  <a:pt x="37" y="70"/>
                  <a:pt x="46" y="71"/>
                </a:cubicBezTo>
                <a:cubicBezTo>
                  <a:pt x="72" y="74"/>
                  <a:pt x="84" y="90"/>
                  <a:pt x="82" y="105"/>
                </a:cubicBezTo>
                <a:cubicBezTo>
                  <a:pt x="80" y="120"/>
                  <a:pt x="65" y="134"/>
                  <a:pt x="40" y="131"/>
                </a:cubicBezTo>
                <a:cubicBezTo>
                  <a:pt x="33" y="130"/>
                  <a:pt x="29" y="132"/>
                  <a:pt x="27" y="133"/>
                </a:cubicBezTo>
                <a:cubicBezTo>
                  <a:pt x="26" y="133"/>
                  <a:pt x="26" y="134"/>
                  <a:pt x="25" y="135"/>
                </a:cubicBezTo>
                <a:cubicBezTo>
                  <a:pt x="25" y="136"/>
                  <a:pt x="29" y="140"/>
                  <a:pt x="39" y="141"/>
                </a:cubicBezTo>
                <a:cubicBezTo>
                  <a:pt x="46" y="142"/>
                  <a:pt x="51" y="148"/>
                  <a:pt x="50" y="155"/>
                </a:cubicBezTo>
                <a:cubicBezTo>
                  <a:pt x="50" y="158"/>
                  <a:pt x="48" y="161"/>
                  <a:pt x="45" y="163"/>
                </a:cubicBezTo>
                <a:close/>
              </a:path>
            </a:pathLst>
          </a:custGeom>
          <a:solidFill>
            <a:srgbClr val="AA8DD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9" name="Freeform: Shape 908"/>
          <p:cNvSpPr/>
          <p:nvPr/>
        </p:nvSpPr>
        <p:spPr>
          <a:xfrm>
            <a:off x="4659552" y="5780160"/>
            <a:ext cx="38016" cy="71280"/>
          </a:xfrm>
          <a:custGeom>
            <a:avLst/>
            <a:gdLst/>
            <a:ahLst/>
            <a:cxnLst/>
            <a:rect l="0" t="0" r="r" b="b"/>
            <a:pathLst>
              <a:path w="88" h="165">
                <a:moveTo>
                  <a:pt x="22" y="2"/>
                </a:moveTo>
                <a:cubicBezTo>
                  <a:pt x="47" y="-5"/>
                  <a:pt x="64" y="6"/>
                  <a:pt x="68" y="20"/>
                </a:cubicBezTo>
                <a:cubicBezTo>
                  <a:pt x="72" y="35"/>
                  <a:pt x="63" y="53"/>
                  <a:pt x="39" y="60"/>
                </a:cubicBezTo>
                <a:cubicBezTo>
                  <a:pt x="29" y="63"/>
                  <a:pt x="26" y="67"/>
                  <a:pt x="26" y="69"/>
                </a:cubicBezTo>
                <a:cubicBezTo>
                  <a:pt x="27" y="70"/>
                  <a:pt x="32" y="73"/>
                  <a:pt x="41" y="70"/>
                </a:cubicBezTo>
                <a:cubicBezTo>
                  <a:pt x="66" y="63"/>
                  <a:pt x="83" y="74"/>
                  <a:pt x="87" y="88"/>
                </a:cubicBezTo>
                <a:cubicBezTo>
                  <a:pt x="91" y="103"/>
                  <a:pt x="82" y="121"/>
                  <a:pt x="58" y="128"/>
                </a:cubicBezTo>
                <a:cubicBezTo>
                  <a:pt x="48" y="131"/>
                  <a:pt x="45" y="135"/>
                  <a:pt x="46" y="137"/>
                </a:cubicBezTo>
                <a:cubicBezTo>
                  <a:pt x="46" y="138"/>
                  <a:pt x="51" y="141"/>
                  <a:pt x="60" y="138"/>
                </a:cubicBezTo>
                <a:cubicBezTo>
                  <a:pt x="67" y="136"/>
                  <a:pt x="74" y="140"/>
                  <a:pt x="76" y="147"/>
                </a:cubicBezTo>
                <a:cubicBezTo>
                  <a:pt x="78" y="154"/>
                  <a:pt x="74" y="161"/>
                  <a:pt x="67" y="163"/>
                </a:cubicBezTo>
                <a:cubicBezTo>
                  <a:pt x="43" y="170"/>
                  <a:pt x="26" y="159"/>
                  <a:pt x="21" y="144"/>
                </a:cubicBezTo>
                <a:cubicBezTo>
                  <a:pt x="17" y="129"/>
                  <a:pt x="26" y="111"/>
                  <a:pt x="51" y="104"/>
                </a:cubicBezTo>
                <a:cubicBezTo>
                  <a:pt x="60" y="101"/>
                  <a:pt x="63" y="97"/>
                  <a:pt x="63" y="95"/>
                </a:cubicBezTo>
                <a:cubicBezTo>
                  <a:pt x="63" y="94"/>
                  <a:pt x="58" y="91"/>
                  <a:pt x="48" y="94"/>
                </a:cubicBezTo>
                <a:cubicBezTo>
                  <a:pt x="23" y="101"/>
                  <a:pt x="5" y="90"/>
                  <a:pt x="1" y="76"/>
                </a:cubicBezTo>
                <a:cubicBezTo>
                  <a:pt x="-3" y="61"/>
                  <a:pt x="6" y="43"/>
                  <a:pt x="32" y="36"/>
                </a:cubicBezTo>
                <a:cubicBezTo>
                  <a:pt x="41" y="33"/>
                  <a:pt x="44" y="29"/>
                  <a:pt x="44" y="27"/>
                </a:cubicBezTo>
                <a:cubicBezTo>
                  <a:pt x="43" y="26"/>
                  <a:pt x="39" y="23"/>
                  <a:pt x="29" y="26"/>
                </a:cubicBezTo>
                <a:cubicBezTo>
                  <a:pt x="22" y="28"/>
                  <a:pt x="15" y="24"/>
                  <a:pt x="14" y="17"/>
                </a:cubicBezTo>
                <a:cubicBezTo>
                  <a:pt x="12" y="11"/>
                  <a:pt x="16" y="4"/>
                  <a:pt x="22" y="2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Freeform: Shape 909"/>
          <p:cNvSpPr/>
          <p:nvPr/>
        </p:nvSpPr>
        <p:spPr>
          <a:xfrm>
            <a:off x="4621968" y="5738688"/>
            <a:ext cx="76032" cy="28080"/>
          </a:xfrm>
          <a:custGeom>
            <a:avLst/>
            <a:gdLst/>
            <a:ahLst/>
            <a:cxnLst/>
            <a:rect l="0" t="0" r="r" b="b"/>
            <a:pathLst>
              <a:path w="176" h="65">
                <a:moveTo>
                  <a:pt x="4" y="61"/>
                </a:moveTo>
                <a:cubicBezTo>
                  <a:pt x="-2" y="54"/>
                  <a:pt x="-1" y="46"/>
                  <a:pt x="6" y="42"/>
                </a:cubicBezTo>
                <a:cubicBezTo>
                  <a:pt x="8" y="40"/>
                  <a:pt x="73" y="-12"/>
                  <a:pt x="165" y="2"/>
                </a:cubicBezTo>
                <a:cubicBezTo>
                  <a:pt x="171" y="3"/>
                  <a:pt x="176" y="8"/>
                  <a:pt x="176" y="14"/>
                </a:cubicBezTo>
                <a:lnTo>
                  <a:pt x="176" y="15"/>
                </a:lnTo>
                <a:lnTo>
                  <a:pt x="176" y="16"/>
                </a:lnTo>
                <a:cubicBezTo>
                  <a:pt x="175" y="23"/>
                  <a:pt x="169" y="28"/>
                  <a:pt x="162" y="27"/>
                </a:cubicBezTo>
                <a:cubicBezTo>
                  <a:pt x="80" y="15"/>
                  <a:pt x="22" y="62"/>
                  <a:pt x="21" y="63"/>
                </a:cubicBezTo>
                <a:cubicBezTo>
                  <a:pt x="19" y="64"/>
                  <a:pt x="16" y="65"/>
                  <a:pt x="13" y="65"/>
                </a:cubicBezTo>
                <a:cubicBezTo>
                  <a:pt x="10" y="65"/>
                  <a:pt x="6" y="64"/>
                  <a:pt x="4" y="61"/>
                </a:cubicBezTo>
                <a:close/>
              </a:path>
            </a:pathLst>
          </a:custGeom>
          <a:solidFill>
            <a:srgbClr val="AA8DD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" name="Freeform: Shape 910"/>
          <p:cNvSpPr/>
          <p:nvPr/>
        </p:nvSpPr>
        <p:spPr>
          <a:xfrm>
            <a:off x="4513968" y="5663088"/>
            <a:ext cx="34560" cy="81216"/>
          </a:xfrm>
          <a:custGeom>
            <a:avLst/>
            <a:gdLst/>
            <a:ahLst/>
            <a:cxnLst/>
            <a:rect l="0" t="0" r="r" b="b"/>
            <a:pathLst>
              <a:path w="80" h="188">
                <a:moveTo>
                  <a:pt x="48" y="188"/>
                </a:moveTo>
                <a:cubicBezTo>
                  <a:pt x="47" y="188"/>
                  <a:pt x="46" y="188"/>
                  <a:pt x="44" y="188"/>
                </a:cubicBezTo>
                <a:cubicBezTo>
                  <a:pt x="37" y="186"/>
                  <a:pt x="33" y="179"/>
                  <a:pt x="35" y="172"/>
                </a:cubicBezTo>
                <a:cubicBezTo>
                  <a:pt x="50" y="125"/>
                  <a:pt x="63" y="49"/>
                  <a:pt x="47" y="29"/>
                </a:cubicBezTo>
                <a:cubicBezTo>
                  <a:pt x="45" y="27"/>
                  <a:pt x="43" y="25"/>
                  <a:pt x="36" y="25"/>
                </a:cubicBezTo>
                <a:cubicBezTo>
                  <a:pt x="24" y="26"/>
                  <a:pt x="25" y="51"/>
                  <a:pt x="25" y="51"/>
                </a:cubicBezTo>
                <a:cubicBezTo>
                  <a:pt x="26" y="58"/>
                  <a:pt x="20" y="64"/>
                  <a:pt x="14" y="65"/>
                </a:cubicBezTo>
                <a:cubicBezTo>
                  <a:pt x="7" y="65"/>
                  <a:pt x="1" y="60"/>
                  <a:pt x="0" y="53"/>
                </a:cubicBezTo>
                <a:cubicBezTo>
                  <a:pt x="-1" y="36"/>
                  <a:pt x="4" y="3"/>
                  <a:pt x="34" y="0"/>
                </a:cubicBezTo>
                <a:cubicBezTo>
                  <a:pt x="48" y="-1"/>
                  <a:pt x="59" y="4"/>
                  <a:pt x="67" y="14"/>
                </a:cubicBezTo>
                <a:cubicBezTo>
                  <a:pt x="96" y="50"/>
                  <a:pt x="66" y="158"/>
                  <a:pt x="60" y="179"/>
                </a:cubicBezTo>
                <a:cubicBezTo>
                  <a:pt x="58" y="185"/>
                  <a:pt x="53" y="188"/>
                  <a:pt x="48" y="188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Freeform: Shape 911"/>
          <p:cNvSpPr/>
          <p:nvPr/>
        </p:nvSpPr>
        <p:spPr>
          <a:xfrm>
            <a:off x="4632768" y="5700672"/>
            <a:ext cx="16416" cy="16848"/>
          </a:xfrm>
          <a:custGeom>
            <a:avLst/>
            <a:gdLst/>
            <a:ahLst/>
            <a:cxnLst/>
            <a:rect l="0" t="0" r="r" b="b"/>
            <a:pathLst>
              <a:path w="38" h="39">
                <a:moveTo>
                  <a:pt x="38" y="19"/>
                </a:moveTo>
                <a:cubicBezTo>
                  <a:pt x="38" y="24"/>
                  <a:pt x="37" y="29"/>
                  <a:pt x="33" y="33"/>
                </a:cubicBezTo>
                <a:cubicBezTo>
                  <a:pt x="29" y="37"/>
                  <a:pt x="24" y="39"/>
                  <a:pt x="19" y="39"/>
                </a:cubicBezTo>
                <a:cubicBezTo>
                  <a:pt x="14" y="39"/>
                  <a:pt x="9" y="37"/>
                  <a:pt x="5" y="33"/>
                </a:cubicBezTo>
                <a:cubicBezTo>
                  <a:pt x="2" y="29"/>
                  <a:pt x="0" y="24"/>
                  <a:pt x="0" y="19"/>
                </a:cubicBezTo>
                <a:cubicBezTo>
                  <a:pt x="0" y="14"/>
                  <a:pt x="2" y="9"/>
                  <a:pt x="5" y="6"/>
                </a:cubicBezTo>
                <a:cubicBezTo>
                  <a:pt x="9" y="2"/>
                  <a:pt x="14" y="0"/>
                  <a:pt x="19" y="0"/>
                </a:cubicBezTo>
                <a:cubicBezTo>
                  <a:pt x="24" y="0"/>
                  <a:pt x="29" y="2"/>
                  <a:pt x="33" y="6"/>
                </a:cubicBezTo>
                <a:cubicBezTo>
                  <a:pt x="37" y="9"/>
                  <a:pt x="38" y="14"/>
                  <a:pt x="38" y="19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3" name="Freeform: Shape 912"/>
          <p:cNvSpPr/>
          <p:nvPr/>
        </p:nvSpPr>
        <p:spPr>
          <a:xfrm>
            <a:off x="4503168" y="5743872"/>
            <a:ext cx="22032" cy="22032"/>
          </a:xfrm>
          <a:custGeom>
            <a:avLst/>
            <a:gdLst/>
            <a:ahLst/>
            <a:cxnLst/>
            <a:rect l="0" t="0" r="r" b="b"/>
            <a:pathLst>
              <a:path w="51" h="51">
                <a:moveTo>
                  <a:pt x="51" y="26"/>
                </a:moveTo>
                <a:cubicBezTo>
                  <a:pt x="51" y="33"/>
                  <a:pt x="49" y="39"/>
                  <a:pt x="44" y="44"/>
                </a:cubicBezTo>
                <a:cubicBezTo>
                  <a:pt x="39" y="49"/>
                  <a:pt x="32" y="51"/>
                  <a:pt x="25" y="51"/>
                </a:cubicBezTo>
                <a:cubicBezTo>
                  <a:pt x="18" y="51"/>
                  <a:pt x="12" y="49"/>
                  <a:pt x="7" y="44"/>
                </a:cubicBezTo>
                <a:cubicBezTo>
                  <a:pt x="3" y="39"/>
                  <a:pt x="0" y="33"/>
                  <a:pt x="0" y="26"/>
                </a:cubicBezTo>
                <a:cubicBezTo>
                  <a:pt x="0" y="19"/>
                  <a:pt x="3" y="13"/>
                  <a:pt x="7" y="9"/>
                </a:cubicBezTo>
                <a:cubicBezTo>
                  <a:pt x="12" y="3"/>
                  <a:pt x="18" y="0"/>
                  <a:pt x="25" y="0"/>
                </a:cubicBezTo>
                <a:cubicBezTo>
                  <a:pt x="32" y="0"/>
                  <a:pt x="39" y="3"/>
                  <a:pt x="44" y="9"/>
                </a:cubicBezTo>
                <a:cubicBezTo>
                  <a:pt x="49" y="13"/>
                  <a:pt x="51" y="19"/>
                  <a:pt x="51" y="26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Freeform: Shape 913"/>
          <p:cNvSpPr/>
          <p:nvPr/>
        </p:nvSpPr>
        <p:spPr>
          <a:xfrm>
            <a:off x="4670352" y="5754672"/>
            <a:ext cx="16848" cy="16848"/>
          </a:xfrm>
          <a:custGeom>
            <a:avLst/>
            <a:gdLst/>
            <a:ahLst/>
            <a:cxnLst/>
            <a:rect l="0" t="0" r="r" b="b"/>
            <a:pathLst>
              <a:path w="39" h="39">
                <a:moveTo>
                  <a:pt x="39" y="20"/>
                </a:moveTo>
                <a:cubicBezTo>
                  <a:pt x="39" y="25"/>
                  <a:pt x="37" y="30"/>
                  <a:pt x="33" y="33"/>
                </a:cubicBezTo>
                <a:cubicBezTo>
                  <a:pt x="30" y="37"/>
                  <a:pt x="25" y="39"/>
                  <a:pt x="20" y="39"/>
                </a:cubicBezTo>
                <a:cubicBezTo>
                  <a:pt x="15" y="39"/>
                  <a:pt x="10" y="37"/>
                  <a:pt x="6" y="33"/>
                </a:cubicBezTo>
                <a:cubicBezTo>
                  <a:pt x="2" y="30"/>
                  <a:pt x="0" y="25"/>
                  <a:pt x="0" y="20"/>
                </a:cubicBezTo>
                <a:cubicBezTo>
                  <a:pt x="0" y="14"/>
                  <a:pt x="2" y="9"/>
                  <a:pt x="6" y="6"/>
                </a:cubicBezTo>
                <a:cubicBezTo>
                  <a:pt x="10" y="2"/>
                  <a:pt x="15" y="0"/>
                  <a:pt x="20" y="0"/>
                </a:cubicBezTo>
                <a:cubicBezTo>
                  <a:pt x="25" y="0"/>
                  <a:pt x="30" y="2"/>
                  <a:pt x="33" y="6"/>
                </a:cubicBezTo>
                <a:cubicBezTo>
                  <a:pt x="37" y="9"/>
                  <a:pt x="39" y="14"/>
                  <a:pt x="39" y="20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Freeform: Shape 914"/>
          <p:cNvSpPr/>
          <p:nvPr/>
        </p:nvSpPr>
        <p:spPr>
          <a:xfrm>
            <a:off x="4621968" y="5819472"/>
            <a:ext cx="16416" cy="16848"/>
          </a:xfrm>
          <a:custGeom>
            <a:avLst/>
            <a:gdLst/>
            <a:ahLst/>
            <a:cxnLst/>
            <a:rect l="0" t="0" r="r" b="b"/>
            <a:pathLst>
              <a:path w="38" h="39">
                <a:moveTo>
                  <a:pt x="38" y="20"/>
                </a:moveTo>
                <a:cubicBezTo>
                  <a:pt x="38" y="25"/>
                  <a:pt x="37" y="30"/>
                  <a:pt x="33" y="33"/>
                </a:cubicBezTo>
                <a:cubicBezTo>
                  <a:pt x="29" y="37"/>
                  <a:pt x="25" y="39"/>
                  <a:pt x="20" y="39"/>
                </a:cubicBezTo>
                <a:cubicBezTo>
                  <a:pt x="15" y="39"/>
                  <a:pt x="9" y="37"/>
                  <a:pt x="5" y="33"/>
                </a:cubicBezTo>
                <a:cubicBezTo>
                  <a:pt x="2" y="30"/>
                  <a:pt x="0" y="25"/>
                  <a:pt x="0" y="20"/>
                </a:cubicBezTo>
                <a:cubicBezTo>
                  <a:pt x="0" y="14"/>
                  <a:pt x="2" y="9"/>
                  <a:pt x="5" y="6"/>
                </a:cubicBezTo>
                <a:cubicBezTo>
                  <a:pt x="9" y="2"/>
                  <a:pt x="15" y="0"/>
                  <a:pt x="20" y="0"/>
                </a:cubicBezTo>
                <a:cubicBezTo>
                  <a:pt x="25" y="0"/>
                  <a:pt x="29" y="2"/>
                  <a:pt x="33" y="6"/>
                </a:cubicBezTo>
                <a:cubicBezTo>
                  <a:pt x="37" y="9"/>
                  <a:pt x="38" y="14"/>
                  <a:pt x="38" y="20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6" name="Freeform: Shape 915"/>
          <p:cNvSpPr/>
          <p:nvPr/>
        </p:nvSpPr>
        <p:spPr>
          <a:xfrm>
            <a:off x="4643568" y="5668272"/>
            <a:ext cx="22032" cy="22032"/>
          </a:xfrm>
          <a:custGeom>
            <a:avLst/>
            <a:gdLst/>
            <a:ahLst/>
            <a:cxnLst/>
            <a:rect l="0" t="0" r="r" b="b"/>
            <a:pathLst>
              <a:path w="51" h="51">
                <a:moveTo>
                  <a:pt x="51" y="25"/>
                </a:moveTo>
                <a:cubicBezTo>
                  <a:pt x="51" y="32"/>
                  <a:pt x="48" y="39"/>
                  <a:pt x="44" y="44"/>
                </a:cubicBezTo>
                <a:cubicBezTo>
                  <a:pt x="39" y="49"/>
                  <a:pt x="33" y="51"/>
                  <a:pt x="26" y="51"/>
                </a:cubicBezTo>
                <a:cubicBezTo>
                  <a:pt x="19" y="51"/>
                  <a:pt x="13" y="49"/>
                  <a:pt x="8" y="44"/>
                </a:cubicBezTo>
                <a:cubicBezTo>
                  <a:pt x="2" y="39"/>
                  <a:pt x="0" y="32"/>
                  <a:pt x="0" y="25"/>
                </a:cubicBezTo>
                <a:cubicBezTo>
                  <a:pt x="0" y="18"/>
                  <a:pt x="2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3" y="0"/>
                  <a:pt x="39" y="3"/>
                  <a:pt x="44" y="8"/>
                </a:cubicBezTo>
                <a:cubicBezTo>
                  <a:pt x="48" y="13"/>
                  <a:pt x="51" y="18"/>
                  <a:pt x="51" y="2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Freeform: Shape 916"/>
          <p:cNvSpPr/>
          <p:nvPr/>
        </p:nvSpPr>
        <p:spPr>
          <a:xfrm>
            <a:off x="4670352" y="5695488"/>
            <a:ext cx="16848" cy="16416"/>
          </a:xfrm>
          <a:custGeom>
            <a:avLst/>
            <a:gdLst/>
            <a:ahLst/>
            <a:cxnLst/>
            <a:rect l="0" t="0" r="r" b="b"/>
            <a:pathLst>
              <a:path w="39" h="38">
                <a:moveTo>
                  <a:pt x="39" y="20"/>
                </a:moveTo>
                <a:cubicBezTo>
                  <a:pt x="39" y="25"/>
                  <a:pt x="37" y="29"/>
                  <a:pt x="33" y="33"/>
                </a:cubicBezTo>
                <a:cubicBezTo>
                  <a:pt x="30" y="36"/>
                  <a:pt x="25" y="38"/>
                  <a:pt x="20" y="38"/>
                </a:cubicBezTo>
                <a:cubicBezTo>
                  <a:pt x="15" y="38"/>
                  <a:pt x="10" y="36"/>
                  <a:pt x="6" y="33"/>
                </a:cubicBezTo>
                <a:cubicBezTo>
                  <a:pt x="2" y="29"/>
                  <a:pt x="0" y="25"/>
                  <a:pt x="0" y="20"/>
                </a:cubicBezTo>
                <a:cubicBezTo>
                  <a:pt x="0" y="14"/>
                  <a:pt x="2" y="10"/>
                  <a:pt x="6" y="5"/>
                </a:cubicBezTo>
                <a:cubicBezTo>
                  <a:pt x="10" y="2"/>
                  <a:pt x="15" y="0"/>
                  <a:pt x="20" y="0"/>
                </a:cubicBezTo>
                <a:cubicBezTo>
                  <a:pt x="25" y="0"/>
                  <a:pt x="30" y="2"/>
                  <a:pt x="33" y="5"/>
                </a:cubicBezTo>
                <a:cubicBezTo>
                  <a:pt x="37" y="10"/>
                  <a:pt x="39" y="14"/>
                  <a:pt x="39" y="2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Freeform: Shape 917"/>
          <p:cNvSpPr/>
          <p:nvPr/>
        </p:nvSpPr>
        <p:spPr>
          <a:xfrm>
            <a:off x="4654368" y="5717088"/>
            <a:ext cx="16416" cy="16416"/>
          </a:xfrm>
          <a:custGeom>
            <a:avLst/>
            <a:gdLst/>
            <a:ahLst/>
            <a:cxnLst/>
            <a:rect l="0" t="0" r="r" b="b"/>
            <a:pathLst>
              <a:path w="38" h="38">
                <a:moveTo>
                  <a:pt x="38" y="19"/>
                </a:moveTo>
                <a:cubicBezTo>
                  <a:pt x="38" y="24"/>
                  <a:pt x="37" y="28"/>
                  <a:pt x="33" y="33"/>
                </a:cubicBezTo>
                <a:cubicBezTo>
                  <a:pt x="29" y="36"/>
                  <a:pt x="25" y="38"/>
                  <a:pt x="20" y="38"/>
                </a:cubicBezTo>
                <a:cubicBezTo>
                  <a:pt x="14" y="38"/>
                  <a:pt x="9" y="36"/>
                  <a:pt x="5" y="33"/>
                </a:cubicBezTo>
                <a:cubicBezTo>
                  <a:pt x="2" y="28"/>
                  <a:pt x="0" y="24"/>
                  <a:pt x="0" y="19"/>
                </a:cubicBezTo>
                <a:cubicBezTo>
                  <a:pt x="0" y="13"/>
                  <a:pt x="2" y="9"/>
                  <a:pt x="5" y="5"/>
                </a:cubicBezTo>
                <a:cubicBezTo>
                  <a:pt x="9" y="2"/>
                  <a:pt x="14" y="0"/>
                  <a:pt x="20" y="0"/>
                </a:cubicBezTo>
                <a:cubicBezTo>
                  <a:pt x="25" y="0"/>
                  <a:pt x="29" y="2"/>
                  <a:pt x="33" y="5"/>
                </a:cubicBezTo>
                <a:cubicBezTo>
                  <a:pt x="37" y="9"/>
                  <a:pt x="38" y="13"/>
                  <a:pt x="38" y="19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Freeform: Shape 918"/>
          <p:cNvSpPr/>
          <p:nvPr/>
        </p:nvSpPr>
        <p:spPr>
          <a:xfrm>
            <a:off x="4535568" y="5776272"/>
            <a:ext cx="16848" cy="16848"/>
          </a:xfrm>
          <a:custGeom>
            <a:avLst/>
            <a:gdLst/>
            <a:ahLst/>
            <a:cxnLst/>
            <a:rect l="0" t="0" r="r" b="b"/>
            <a:pathLst>
              <a:path w="39" h="39">
                <a:moveTo>
                  <a:pt x="39" y="20"/>
                </a:moveTo>
                <a:cubicBezTo>
                  <a:pt x="39" y="25"/>
                  <a:pt x="37" y="30"/>
                  <a:pt x="33" y="33"/>
                </a:cubicBezTo>
                <a:cubicBezTo>
                  <a:pt x="29" y="37"/>
                  <a:pt x="24" y="39"/>
                  <a:pt x="19" y="39"/>
                </a:cubicBezTo>
                <a:cubicBezTo>
                  <a:pt x="14" y="39"/>
                  <a:pt x="9" y="37"/>
                  <a:pt x="6" y="33"/>
                </a:cubicBezTo>
                <a:cubicBezTo>
                  <a:pt x="2" y="30"/>
                  <a:pt x="0" y="25"/>
                  <a:pt x="0" y="20"/>
                </a:cubicBezTo>
                <a:cubicBezTo>
                  <a:pt x="0" y="15"/>
                  <a:pt x="2" y="10"/>
                  <a:pt x="6" y="7"/>
                </a:cubicBezTo>
                <a:cubicBezTo>
                  <a:pt x="9" y="2"/>
                  <a:pt x="14" y="0"/>
                  <a:pt x="19" y="0"/>
                </a:cubicBezTo>
                <a:cubicBezTo>
                  <a:pt x="24" y="0"/>
                  <a:pt x="29" y="2"/>
                  <a:pt x="33" y="7"/>
                </a:cubicBezTo>
                <a:cubicBezTo>
                  <a:pt x="37" y="10"/>
                  <a:pt x="39" y="15"/>
                  <a:pt x="39" y="2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800064" y="5623777"/>
            <a:ext cx="322274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Thank You for Your Participation! 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14142384" y="7712929"/>
            <a:ext cx="173124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13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Freeform: Shape 921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Freeform: Shape 922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Freeform: Shape 923"/>
          <p:cNvSpPr/>
          <p:nvPr/>
        </p:nvSpPr>
        <p:spPr>
          <a:xfrm>
            <a:off x="0" y="0"/>
            <a:ext cx="14630544" cy="82296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Freeform: Shape 924"/>
          <p:cNvSpPr/>
          <p:nvPr/>
        </p:nvSpPr>
        <p:spPr>
          <a:xfrm>
            <a:off x="800064" y="1839888"/>
            <a:ext cx="13030416" cy="2240784"/>
          </a:xfrm>
          <a:custGeom>
            <a:avLst/>
            <a:gdLst/>
            <a:ahLst/>
            <a:cxnLst/>
            <a:rect l="0" t="0" r="r" b="b"/>
            <a:pathLst>
              <a:path w="30163" h="5187">
                <a:moveTo>
                  <a:pt x="0" y="0"/>
                </a:moveTo>
                <a:lnTo>
                  <a:pt x="30163" y="0"/>
                </a:lnTo>
                <a:lnTo>
                  <a:pt x="30163" y="5187"/>
                </a:lnTo>
                <a:lnTo>
                  <a:pt x="0" y="518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Freeform: Shape 925"/>
          <p:cNvSpPr/>
          <p:nvPr/>
        </p:nvSpPr>
        <p:spPr>
          <a:xfrm>
            <a:off x="800064" y="4720464"/>
            <a:ext cx="13030416" cy="1669248"/>
          </a:xfrm>
          <a:custGeom>
            <a:avLst/>
            <a:gdLst/>
            <a:ahLst/>
            <a:cxnLst/>
            <a:rect l="0" t="0" r="r" b="b"/>
            <a:pathLst>
              <a:path w="30163" h="3864">
                <a:moveTo>
                  <a:pt x="0" y="0"/>
                </a:moveTo>
                <a:lnTo>
                  <a:pt x="30163" y="0"/>
                </a:lnTo>
                <a:lnTo>
                  <a:pt x="30163" y="3864"/>
                </a:lnTo>
                <a:lnTo>
                  <a:pt x="0" y="386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7" name="Freeform: Shape 926"/>
          <p:cNvSpPr/>
          <p:nvPr/>
        </p:nvSpPr>
        <p:spPr>
          <a:xfrm>
            <a:off x="800064" y="7029072"/>
            <a:ext cx="13030416" cy="903744"/>
          </a:xfrm>
          <a:custGeom>
            <a:avLst/>
            <a:gdLst/>
            <a:ahLst/>
            <a:cxnLst/>
            <a:rect l="0" t="0" r="r" b="b"/>
            <a:pathLst>
              <a:path w="30163" h="2092">
                <a:moveTo>
                  <a:pt x="0" y="0"/>
                </a:moveTo>
                <a:lnTo>
                  <a:pt x="30163" y="0"/>
                </a:lnTo>
                <a:lnTo>
                  <a:pt x="30163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8" name="Freeform: Shape 927"/>
          <p:cNvSpPr/>
          <p:nvPr/>
        </p:nvSpPr>
        <p:spPr>
          <a:xfrm>
            <a:off x="850608" y="1025568"/>
            <a:ext cx="108000" cy="120528"/>
          </a:xfrm>
          <a:custGeom>
            <a:avLst/>
            <a:gdLst/>
            <a:ahLst/>
            <a:cxnLst/>
            <a:rect l="0" t="0" r="r" b="b"/>
            <a:pathLst>
              <a:path w="250" h="279">
                <a:moveTo>
                  <a:pt x="250" y="199"/>
                </a:moveTo>
                <a:cubicBezTo>
                  <a:pt x="250" y="242"/>
                  <a:pt x="234" y="279"/>
                  <a:pt x="192" y="279"/>
                </a:cubicBezTo>
                <a:lnTo>
                  <a:pt x="58" y="279"/>
                </a:lnTo>
                <a:cubicBezTo>
                  <a:pt x="-19" y="279"/>
                  <a:pt x="-19" y="0"/>
                  <a:pt x="58" y="0"/>
                </a:cubicBezTo>
                <a:lnTo>
                  <a:pt x="192" y="0"/>
                </a:lnTo>
                <a:cubicBezTo>
                  <a:pt x="234" y="0"/>
                  <a:pt x="250" y="36"/>
                  <a:pt x="250" y="80"/>
                </a:cubicBezTo>
                <a:lnTo>
                  <a:pt x="250" y="199"/>
                </a:lnTo>
                <a:close/>
              </a:path>
            </a:pathLst>
          </a:custGeom>
          <a:solidFill>
            <a:srgbClr val="55378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Freeform: Shape 928"/>
          <p:cNvSpPr/>
          <p:nvPr/>
        </p:nvSpPr>
        <p:spPr>
          <a:xfrm>
            <a:off x="892080" y="1025568"/>
            <a:ext cx="231552" cy="120528"/>
          </a:xfrm>
          <a:custGeom>
            <a:avLst/>
            <a:gdLst/>
            <a:ahLst/>
            <a:cxnLst/>
            <a:rect l="0" t="0" r="r" b="b"/>
            <a:pathLst>
              <a:path w="536" h="279">
                <a:moveTo>
                  <a:pt x="517" y="238"/>
                </a:moveTo>
                <a:lnTo>
                  <a:pt x="498" y="238"/>
                </a:lnTo>
                <a:lnTo>
                  <a:pt x="498" y="40"/>
                </a:lnTo>
                <a:lnTo>
                  <a:pt x="517" y="40"/>
                </a:lnTo>
                <a:cubicBezTo>
                  <a:pt x="527" y="40"/>
                  <a:pt x="536" y="31"/>
                  <a:pt x="536" y="20"/>
                </a:cubicBezTo>
                <a:cubicBezTo>
                  <a:pt x="536" y="9"/>
                  <a:pt x="527" y="0"/>
                  <a:pt x="517" y="0"/>
                </a:cubicBezTo>
                <a:lnTo>
                  <a:pt x="57" y="0"/>
                </a:lnTo>
                <a:cubicBezTo>
                  <a:pt x="-19" y="0"/>
                  <a:pt x="-19" y="279"/>
                  <a:pt x="57" y="279"/>
                </a:cubicBezTo>
                <a:lnTo>
                  <a:pt x="517" y="279"/>
                </a:lnTo>
                <a:cubicBezTo>
                  <a:pt x="527" y="279"/>
                  <a:pt x="536" y="270"/>
                  <a:pt x="536" y="259"/>
                </a:cubicBezTo>
                <a:cubicBezTo>
                  <a:pt x="536" y="247"/>
                  <a:pt x="527" y="238"/>
                  <a:pt x="517" y="238"/>
                </a:cubicBezTo>
                <a:close/>
              </a:path>
            </a:pathLst>
          </a:custGeom>
          <a:solidFill>
            <a:srgbClr val="9266C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" name="Freeform: Shape 929"/>
          <p:cNvSpPr/>
          <p:nvPr/>
        </p:nvSpPr>
        <p:spPr>
          <a:xfrm>
            <a:off x="912384" y="1042848"/>
            <a:ext cx="210816" cy="85968"/>
          </a:xfrm>
          <a:custGeom>
            <a:avLst/>
            <a:gdLst/>
            <a:ahLst/>
            <a:cxnLst/>
            <a:rect l="0" t="0" r="r" b="b"/>
            <a:pathLst>
              <a:path w="488" h="199">
                <a:moveTo>
                  <a:pt x="473" y="199"/>
                </a:moveTo>
                <a:lnTo>
                  <a:pt x="29" y="199"/>
                </a:lnTo>
                <a:cubicBezTo>
                  <a:pt x="-9" y="199"/>
                  <a:pt x="-9" y="0"/>
                  <a:pt x="29" y="0"/>
                </a:cubicBezTo>
                <a:lnTo>
                  <a:pt x="473" y="0"/>
                </a:lnTo>
                <a:cubicBezTo>
                  <a:pt x="494" y="0"/>
                  <a:pt x="494" y="199"/>
                  <a:pt x="473" y="19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Freeform: Shape 930"/>
          <p:cNvSpPr/>
          <p:nvPr/>
        </p:nvSpPr>
        <p:spPr>
          <a:xfrm>
            <a:off x="912816" y="1042848"/>
            <a:ext cx="209520" cy="79056"/>
          </a:xfrm>
          <a:custGeom>
            <a:avLst/>
            <a:gdLst/>
            <a:ahLst/>
            <a:cxnLst/>
            <a:rect l="0" t="0" r="r" b="b"/>
            <a:pathLst>
              <a:path w="485" h="183">
                <a:moveTo>
                  <a:pt x="38" y="40"/>
                </a:moveTo>
                <a:lnTo>
                  <a:pt x="485" y="40"/>
                </a:lnTo>
                <a:cubicBezTo>
                  <a:pt x="482" y="16"/>
                  <a:pt x="478" y="0"/>
                  <a:pt x="472" y="0"/>
                </a:cubicBezTo>
                <a:lnTo>
                  <a:pt x="28" y="0"/>
                </a:lnTo>
                <a:cubicBezTo>
                  <a:pt x="-3" y="0"/>
                  <a:pt x="-9" y="136"/>
                  <a:pt x="12" y="183"/>
                </a:cubicBezTo>
                <a:cubicBezTo>
                  <a:pt x="4" y="124"/>
                  <a:pt x="13" y="40"/>
                  <a:pt x="38" y="4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Freeform: Shape 931"/>
          <p:cNvSpPr/>
          <p:nvPr/>
        </p:nvSpPr>
        <p:spPr>
          <a:xfrm>
            <a:off x="842400" y="854064"/>
            <a:ext cx="91152" cy="95040"/>
          </a:xfrm>
          <a:custGeom>
            <a:avLst/>
            <a:gdLst/>
            <a:ahLst/>
            <a:cxnLst/>
            <a:rect l="0" t="0" r="r" b="b"/>
            <a:pathLst>
              <a:path w="211" h="220">
                <a:moveTo>
                  <a:pt x="211" y="140"/>
                </a:moveTo>
                <a:cubicBezTo>
                  <a:pt x="211" y="184"/>
                  <a:pt x="177" y="220"/>
                  <a:pt x="135" y="220"/>
                </a:cubicBezTo>
                <a:lnTo>
                  <a:pt x="58" y="220"/>
                </a:lnTo>
                <a:cubicBezTo>
                  <a:pt x="-19" y="220"/>
                  <a:pt x="-19" y="0"/>
                  <a:pt x="58" y="0"/>
                </a:cubicBezTo>
                <a:lnTo>
                  <a:pt x="135" y="0"/>
                </a:lnTo>
                <a:cubicBezTo>
                  <a:pt x="177" y="0"/>
                  <a:pt x="211" y="36"/>
                  <a:pt x="211" y="80"/>
                </a:cubicBezTo>
                <a:lnTo>
                  <a:pt x="211" y="140"/>
                </a:ln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Freeform: Shape 932"/>
          <p:cNvSpPr/>
          <p:nvPr/>
        </p:nvSpPr>
        <p:spPr>
          <a:xfrm>
            <a:off x="867024" y="854064"/>
            <a:ext cx="231552" cy="95040"/>
          </a:xfrm>
          <a:custGeom>
            <a:avLst/>
            <a:gdLst/>
            <a:ahLst/>
            <a:cxnLst/>
            <a:rect l="0" t="0" r="r" b="b"/>
            <a:pathLst>
              <a:path w="536" h="220">
                <a:moveTo>
                  <a:pt x="517" y="180"/>
                </a:moveTo>
                <a:lnTo>
                  <a:pt x="498" y="180"/>
                </a:lnTo>
                <a:lnTo>
                  <a:pt x="498" y="40"/>
                </a:lnTo>
                <a:lnTo>
                  <a:pt x="517" y="40"/>
                </a:lnTo>
                <a:cubicBezTo>
                  <a:pt x="528" y="40"/>
                  <a:pt x="536" y="31"/>
                  <a:pt x="536" y="20"/>
                </a:cubicBezTo>
                <a:cubicBezTo>
                  <a:pt x="536" y="9"/>
                  <a:pt x="528" y="0"/>
                  <a:pt x="517" y="0"/>
                </a:cubicBezTo>
                <a:lnTo>
                  <a:pt x="58" y="0"/>
                </a:lnTo>
                <a:cubicBezTo>
                  <a:pt x="-19" y="0"/>
                  <a:pt x="-19" y="220"/>
                  <a:pt x="58" y="220"/>
                </a:cubicBezTo>
                <a:lnTo>
                  <a:pt x="517" y="220"/>
                </a:lnTo>
                <a:cubicBezTo>
                  <a:pt x="528" y="220"/>
                  <a:pt x="536" y="211"/>
                  <a:pt x="536" y="200"/>
                </a:cubicBezTo>
                <a:cubicBezTo>
                  <a:pt x="536" y="189"/>
                  <a:pt x="528" y="180"/>
                  <a:pt x="517" y="18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Freeform: Shape 933"/>
          <p:cNvSpPr/>
          <p:nvPr/>
        </p:nvSpPr>
        <p:spPr>
          <a:xfrm>
            <a:off x="887760" y="871344"/>
            <a:ext cx="210816" cy="60480"/>
          </a:xfrm>
          <a:custGeom>
            <a:avLst/>
            <a:gdLst/>
            <a:ahLst/>
            <a:cxnLst/>
            <a:rect l="0" t="0" r="r" b="b"/>
            <a:pathLst>
              <a:path w="488" h="140">
                <a:moveTo>
                  <a:pt x="473" y="140"/>
                </a:moveTo>
                <a:lnTo>
                  <a:pt x="29" y="140"/>
                </a:lnTo>
                <a:cubicBezTo>
                  <a:pt x="-9" y="140"/>
                  <a:pt x="-9" y="0"/>
                  <a:pt x="29" y="0"/>
                </a:cubicBezTo>
                <a:lnTo>
                  <a:pt x="473" y="0"/>
                </a:lnTo>
                <a:cubicBezTo>
                  <a:pt x="494" y="0"/>
                  <a:pt x="494" y="140"/>
                  <a:pt x="473" y="14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Freeform: Shape 934"/>
          <p:cNvSpPr/>
          <p:nvPr/>
        </p:nvSpPr>
        <p:spPr>
          <a:xfrm>
            <a:off x="887760" y="871344"/>
            <a:ext cx="210384" cy="38880"/>
          </a:xfrm>
          <a:custGeom>
            <a:avLst/>
            <a:gdLst/>
            <a:ahLst/>
            <a:cxnLst/>
            <a:rect l="0" t="0" r="r" b="b"/>
            <a:pathLst>
              <a:path w="487" h="90">
                <a:moveTo>
                  <a:pt x="29" y="40"/>
                </a:moveTo>
                <a:lnTo>
                  <a:pt x="487" y="40"/>
                </a:lnTo>
                <a:cubicBezTo>
                  <a:pt x="485" y="17"/>
                  <a:pt x="480" y="0"/>
                  <a:pt x="473" y="0"/>
                </a:cubicBezTo>
                <a:lnTo>
                  <a:pt x="29" y="0"/>
                </a:lnTo>
                <a:cubicBezTo>
                  <a:pt x="6" y="0"/>
                  <a:pt x="-3" y="49"/>
                  <a:pt x="1" y="90"/>
                </a:cubicBezTo>
                <a:cubicBezTo>
                  <a:pt x="4" y="62"/>
                  <a:pt x="13" y="40"/>
                  <a:pt x="29" y="4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Freeform: Shape 935"/>
          <p:cNvSpPr/>
          <p:nvPr/>
        </p:nvSpPr>
        <p:spPr>
          <a:xfrm>
            <a:off x="858816" y="948672"/>
            <a:ext cx="140832" cy="77328"/>
          </a:xfrm>
          <a:custGeom>
            <a:avLst/>
            <a:gdLst/>
            <a:ahLst/>
            <a:cxnLst/>
            <a:rect l="0" t="0" r="r" b="b"/>
            <a:pathLst>
              <a:path w="326" h="179">
                <a:moveTo>
                  <a:pt x="326" y="100"/>
                </a:moveTo>
                <a:cubicBezTo>
                  <a:pt x="326" y="144"/>
                  <a:pt x="292" y="179"/>
                  <a:pt x="250" y="179"/>
                </a:cubicBezTo>
                <a:lnTo>
                  <a:pt x="58" y="179"/>
                </a:lnTo>
                <a:cubicBezTo>
                  <a:pt x="-19" y="179"/>
                  <a:pt x="-19" y="0"/>
                  <a:pt x="58" y="0"/>
                </a:cubicBezTo>
                <a:lnTo>
                  <a:pt x="250" y="0"/>
                </a:lnTo>
                <a:cubicBezTo>
                  <a:pt x="292" y="0"/>
                  <a:pt x="326" y="36"/>
                  <a:pt x="326" y="80"/>
                </a:cubicBezTo>
                <a:lnTo>
                  <a:pt x="326" y="100"/>
                </a:ln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Freeform: Shape 936"/>
          <p:cNvSpPr/>
          <p:nvPr/>
        </p:nvSpPr>
        <p:spPr>
          <a:xfrm>
            <a:off x="933120" y="948672"/>
            <a:ext cx="198720" cy="77328"/>
          </a:xfrm>
          <a:custGeom>
            <a:avLst/>
            <a:gdLst/>
            <a:ahLst/>
            <a:cxnLst/>
            <a:rect l="0" t="0" r="r" b="b"/>
            <a:pathLst>
              <a:path w="460" h="179">
                <a:moveTo>
                  <a:pt x="441" y="139"/>
                </a:moveTo>
                <a:lnTo>
                  <a:pt x="422" y="139"/>
                </a:lnTo>
                <a:lnTo>
                  <a:pt x="422" y="40"/>
                </a:lnTo>
                <a:lnTo>
                  <a:pt x="441" y="40"/>
                </a:lnTo>
                <a:cubicBezTo>
                  <a:pt x="451" y="40"/>
                  <a:pt x="460" y="31"/>
                  <a:pt x="460" y="19"/>
                </a:cubicBezTo>
                <a:cubicBezTo>
                  <a:pt x="460" y="8"/>
                  <a:pt x="451" y="0"/>
                  <a:pt x="441" y="0"/>
                </a:cubicBezTo>
                <a:lnTo>
                  <a:pt x="58" y="0"/>
                </a:lnTo>
                <a:cubicBezTo>
                  <a:pt x="-19" y="0"/>
                  <a:pt x="-19" y="179"/>
                  <a:pt x="58" y="179"/>
                </a:cubicBezTo>
                <a:lnTo>
                  <a:pt x="441" y="179"/>
                </a:lnTo>
                <a:cubicBezTo>
                  <a:pt x="451" y="179"/>
                  <a:pt x="460" y="170"/>
                  <a:pt x="460" y="159"/>
                </a:cubicBezTo>
                <a:cubicBezTo>
                  <a:pt x="460" y="148"/>
                  <a:pt x="451" y="139"/>
                  <a:pt x="441" y="139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Freeform: Shape 937"/>
          <p:cNvSpPr/>
          <p:nvPr/>
        </p:nvSpPr>
        <p:spPr>
          <a:xfrm>
            <a:off x="953856" y="965520"/>
            <a:ext cx="171072" cy="43200"/>
          </a:xfrm>
          <a:custGeom>
            <a:avLst/>
            <a:gdLst/>
            <a:ahLst/>
            <a:cxnLst/>
            <a:rect l="0" t="0" r="r" b="b"/>
            <a:pathLst>
              <a:path w="396" h="100">
                <a:moveTo>
                  <a:pt x="396" y="100"/>
                </a:moveTo>
                <a:lnTo>
                  <a:pt x="29" y="100"/>
                </a:lnTo>
                <a:cubicBezTo>
                  <a:pt x="-10" y="100"/>
                  <a:pt x="-10" y="0"/>
                  <a:pt x="29" y="0"/>
                </a:cubicBezTo>
                <a:lnTo>
                  <a:pt x="396" y="0"/>
                </a:lnTo>
                <a:lnTo>
                  <a:pt x="396" y="1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Freeform: Shape 938"/>
          <p:cNvSpPr/>
          <p:nvPr/>
        </p:nvSpPr>
        <p:spPr>
          <a:xfrm>
            <a:off x="953856" y="965520"/>
            <a:ext cx="177984" cy="30672"/>
          </a:xfrm>
          <a:custGeom>
            <a:avLst/>
            <a:gdLst/>
            <a:ahLst/>
            <a:cxnLst/>
            <a:rect l="0" t="0" r="r" b="b"/>
            <a:pathLst>
              <a:path w="412" h="71">
                <a:moveTo>
                  <a:pt x="29" y="41"/>
                </a:moveTo>
                <a:lnTo>
                  <a:pt x="412" y="41"/>
                </a:lnTo>
                <a:cubicBezTo>
                  <a:pt x="410" y="20"/>
                  <a:pt x="405" y="0"/>
                  <a:pt x="396" y="0"/>
                </a:cubicBezTo>
                <a:lnTo>
                  <a:pt x="29" y="0"/>
                </a:lnTo>
                <a:cubicBezTo>
                  <a:pt x="4" y="0"/>
                  <a:pt x="-4" y="41"/>
                  <a:pt x="2" y="71"/>
                </a:cubicBezTo>
                <a:cubicBezTo>
                  <a:pt x="6" y="54"/>
                  <a:pt x="15" y="41"/>
                  <a:pt x="29" y="41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IN" sz="288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TextBox 939"/>
          <p:cNvSpPr txBox="1"/>
          <p:nvPr/>
        </p:nvSpPr>
        <p:spPr>
          <a:xfrm>
            <a:off x="1146960" y="794449"/>
            <a:ext cx="3057760" cy="3654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2375" b="1">
                <a:solidFill>
                  <a:srgbClr val="E74C3C"/>
                </a:solidFill>
                <a:latin typeface="SegoeUI"/>
                <a:ea typeface="SegoeUI"/>
              </a:rPr>
              <a:t> Command Reference</a:t>
            </a:r>
            <a:endParaRPr lang="en-IN" sz="2375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800064" y="1406161"/>
            <a:ext cx="2818528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Jenkins (Groovy/Declarative):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TextBox 941"/>
          <p:cNvSpPr txBox="1"/>
          <p:nvPr/>
        </p:nvSpPr>
        <p:spPr>
          <a:xfrm>
            <a:off x="870481" y="1940112"/>
            <a:ext cx="57547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pipeline {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TextBox 942"/>
          <p:cNvSpPr txBox="1"/>
          <p:nvPr/>
        </p:nvSpPr>
        <p:spPr>
          <a:xfrm>
            <a:off x="870481" y="2134512"/>
            <a:ext cx="702115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agent any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870480" y="2317248"/>
            <a:ext cx="583493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stages {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TextBox 944"/>
          <p:cNvSpPr txBox="1"/>
          <p:nvPr/>
        </p:nvSpPr>
        <p:spPr>
          <a:xfrm>
            <a:off x="870481" y="2511648"/>
            <a:ext cx="1056379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stage(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'Build'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) {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TextBox 945"/>
          <p:cNvSpPr txBox="1"/>
          <p:nvPr/>
        </p:nvSpPr>
        <p:spPr>
          <a:xfrm>
            <a:off x="870480" y="2706048"/>
            <a:ext cx="266900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steps { sh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'docker build -t image:tag .'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870480" y="2888784"/>
            <a:ext cx="20678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TextBox 947"/>
          <p:cNvSpPr txBox="1"/>
          <p:nvPr/>
        </p:nvSpPr>
        <p:spPr>
          <a:xfrm>
            <a:off x="870480" y="3083184"/>
            <a:ext cx="118141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stage(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'Deploy'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) {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TextBox 948"/>
          <p:cNvSpPr txBox="1"/>
          <p:nvPr/>
        </p:nvSpPr>
        <p:spPr>
          <a:xfrm>
            <a:off x="870480" y="3265920"/>
            <a:ext cx="228908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  steps { sh </a:t>
            </a:r>
            <a:r>
              <a:rPr lang="en-IN" sz="1104">
                <a:solidFill>
                  <a:srgbClr val="65B042"/>
                </a:solidFill>
                <a:latin typeface="RobotoMono"/>
                <a:ea typeface="RobotoMono"/>
              </a:rPr>
              <a:t>'kubectl apply -f k8s/'</a:t>
            </a:r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870480" y="3460320"/>
            <a:ext cx="20678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  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TextBox 950"/>
          <p:cNvSpPr txBox="1"/>
          <p:nvPr/>
        </p:nvSpPr>
        <p:spPr>
          <a:xfrm>
            <a:off x="870480" y="3654720"/>
            <a:ext cx="12663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  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TextBox 951"/>
          <p:cNvSpPr txBox="1"/>
          <p:nvPr/>
        </p:nvSpPr>
        <p:spPr>
          <a:xfrm>
            <a:off x="870480" y="3837456"/>
            <a:ext cx="4648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}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800065" y="4286305"/>
            <a:ext cx="2264851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Kubernetes Commands: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TextBox 953"/>
          <p:cNvSpPr txBox="1"/>
          <p:nvPr/>
        </p:nvSpPr>
        <p:spPr>
          <a:xfrm>
            <a:off x="870480" y="4820256"/>
            <a:ext cx="238687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apply -f deployment.yaml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TextBox 954"/>
          <p:cNvSpPr txBox="1"/>
          <p:nvPr/>
        </p:nvSpPr>
        <p:spPr>
          <a:xfrm>
            <a:off x="4279825" y="4820256"/>
            <a:ext cx="578685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Deploy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870480" y="5014656"/>
            <a:ext cx="199413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get pods     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TextBox 956"/>
          <p:cNvSpPr txBox="1"/>
          <p:nvPr/>
        </p:nvSpPr>
        <p:spPr>
          <a:xfrm>
            <a:off x="4279825" y="5014656"/>
            <a:ext cx="724557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List Pods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TextBox 957"/>
          <p:cNvSpPr txBox="1"/>
          <p:nvPr/>
        </p:nvSpPr>
        <p:spPr>
          <a:xfrm>
            <a:off x="870480" y="5197824"/>
            <a:ext cx="204543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get services 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4279824" y="5197824"/>
            <a:ext cx="952184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List Services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TextBox 959"/>
          <p:cNvSpPr txBox="1"/>
          <p:nvPr/>
        </p:nvSpPr>
        <p:spPr>
          <a:xfrm>
            <a:off x="870480" y="5391792"/>
            <a:ext cx="218008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logs pod/name  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TextBox 960"/>
          <p:cNvSpPr txBox="1"/>
          <p:nvPr/>
        </p:nvSpPr>
        <p:spPr>
          <a:xfrm>
            <a:off x="4279824" y="5391792"/>
            <a:ext cx="748603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View logs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870480" y="5586192"/>
            <a:ext cx="2293898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describe pod/name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TextBox 962"/>
          <p:cNvSpPr txBox="1"/>
          <p:nvPr/>
        </p:nvSpPr>
        <p:spPr>
          <a:xfrm>
            <a:off x="4279825" y="5586192"/>
            <a:ext cx="569067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Details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TextBox 963"/>
          <p:cNvSpPr txBox="1"/>
          <p:nvPr/>
        </p:nvSpPr>
        <p:spPr>
          <a:xfrm>
            <a:off x="870480" y="5769360"/>
            <a:ext cx="235481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exec -it pod/name /bin/sh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4280256" y="5769360"/>
            <a:ext cx="945772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Shell access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TextBox 965"/>
          <p:cNvSpPr txBox="1"/>
          <p:nvPr/>
        </p:nvSpPr>
        <p:spPr>
          <a:xfrm>
            <a:off x="870480" y="5963328"/>
            <a:ext cx="2226572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delete pod/name 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TextBox 966"/>
          <p:cNvSpPr txBox="1"/>
          <p:nvPr/>
        </p:nvSpPr>
        <p:spPr>
          <a:xfrm>
            <a:off x="4279824" y="5963328"/>
            <a:ext cx="846386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Delete Pod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TextBox 967"/>
          <p:cNvSpPr txBox="1"/>
          <p:nvPr/>
        </p:nvSpPr>
        <p:spPr>
          <a:xfrm>
            <a:off x="870480" y="6146496"/>
            <a:ext cx="254076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kubectl rollout status deployment/name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4279825" y="6146496"/>
            <a:ext cx="1008289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Rollout status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TextBox 969"/>
          <p:cNvSpPr txBox="1"/>
          <p:nvPr/>
        </p:nvSpPr>
        <p:spPr>
          <a:xfrm>
            <a:off x="800064" y="6595345"/>
            <a:ext cx="2630592" cy="243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584" b="1">
                <a:solidFill>
                  <a:srgbClr val="455A64"/>
                </a:solidFill>
                <a:latin typeface="SegoeUI"/>
                <a:ea typeface="SegoeUI"/>
              </a:rPr>
              <a:t>Docker Commands (Recap):</a:t>
            </a:r>
            <a:endParaRPr lang="en-IN" sz="158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TextBox 970"/>
          <p:cNvSpPr txBox="1"/>
          <p:nvPr/>
        </p:nvSpPr>
        <p:spPr>
          <a:xfrm>
            <a:off x="870481" y="7129296"/>
            <a:ext cx="2162451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docker build -t name:tag .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4279825" y="7129296"/>
            <a:ext cx="886461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Build image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TextBox 972"/>
          <p:cNvSpPr txBox="1"/>
          <p:nvPr/>
        </p:nvSpPr>
        <p:spPr>
          <a:xfrm>
            <a:off x="870480" y="7323696"/>
            <a:ext cx="2351606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docker run -p host:container img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TextBox 973"/>
          <p:cNvSpPr txBox="1"/>
          <p:nvPr/>
        </p:nvSpPr>
        <p:spPr>
          <a:xfrm>
            <a:off x="4279825" y="7323696"/>
            <a:ext cx="1033937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Run container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870480" y="7506432"/>
            <a:ext cx="2231380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docker push user/img:tag         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TextBox 975"/>
          <p:cNvSpPr txBox="1"/>
          <p:nvPr/>
        </p:nvSpPr>
        <p:spPr>
          <a:xfrm>
            <a:off x="4279825" y="7506432"/>
            <a:ext cx="928139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Push to Hub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TextBox 976"/>
          <p:cNvSpPr txBox="1"/>
          <p:nvPr/>
        </p:nvSpPr>
        <p:spPr>
          <a:xfrm>
            <a:off x="870480" y="7700832"/>
            <a:ext cx="2281074" cy="1699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04">
                <a:solidFill>
                  <a:srgbClr val="FFF8E1"/>
                </a:solidFill>
                <a:latin typeface="RobotoMono"/>
                <a:ea typeface="RobotoMono"/>
              </a:rPr>
              <a:t>docker exec -it container /bin/sh       </a:t>
            </a:r>
            <a:endParaRPr lang="en-IN" sz="1104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4280257" y="7700832"/>
            <a:ext cx="937757" cy="1754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140">
                <a:solidFill>
                  <a:srgbClr val="AEAEAE"/>
                </a:solidFill>
                <a:latin typeface="RobotoMono"/>
                <a:ea typeface="RobotoMono"/>
              </a:rPr>
              <a:t># Access shell</a:t>
            </a:r>
            <a:endParaRPr lang="en-IN" sz="114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TextBox 978"/>
          <p:cNvSpPr txBox="1"/>
          <p:nvPr/>
        </p:nvSpPr>
        <p:spPr>
          <a:xfrm>
            <a:off x="14142384" y="7712929"/>
            <a:ext cx="173124" cy="1938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IN" sz="1260">
                <a:solidFill>
                  <a:srgbClr val="455A64"/>
                </a:solidFill>
                <a:latin typeface="SegoeUI"/>
                <a:ea typeface="SegoeUI"/>
              </a:rPr>
              <a:t>14</a:t>
            </a:r>
            <a:endParaRPr lang="en-IN" sz="126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32945B0-D3CC-A907-7391-61D831DE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56" y="665747"/>
            <a:ext cx="6063917" cy="689810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B19ED7-DDBA-FF1B-40BF-53783F2450DD}"/>
              </a:ext>
            </a:extLst>
          </p:cNvPr>
          <p:cNvSpPr/>
          <p:nvPr/>
        </p:nvSpPr>
        <p:spPr>
          <a:xfrm>
            <a:off x="7046124" y="2729805"/>
            <a:ext cx="600375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Q&amp;A</a:t>
            </a:r>
          </a:p>
          <a:p>
            <a:pPr algn="ctr"/>
            <a:r>
              <a:rPr 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Engage and Explore</a:t>
            </a:r>
            <a:r>
              <a:rPr lang="en-US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2917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6C81E70-D488-4A35-8982-37EC976F878C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2248</Words>
  <Application>Microsoft Office PowerPoint</Application>
  <PresentationFormat>Custom</PresentationFormat>
  <Paragraphs>720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source-code-pro</vt:lpstr>
      <vt:lpstr>Lato</vt:lpstr>
      <vt:lpstr>Consolas</vt:lpstr>
      <vt:lpstr>RobotoMono</vt:lpstr>
      <vt:lpstr>Times New Roman</vt:lpstr>
      <vt:lpstr>Gelasio</vt:lpstr>
      <vt:lpstr>Lato Bold</vt:lpstr>
      <vt:lpstr>Arial</vt:lpstr>
      <vt:lpstr>Ginto</vt:lpstr>
      <vt:lpstr>SegoeUI</vt:lpstr>
      <vt:lpstr>Lato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Jenkins Triggers</vt:lpstr>
      <vt:lpstr> Setting Up Jenkins </vt:lpstr>
      <vt:lpstr>PR from GitBash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Santhosh Kiran Jaligama</cp:lastModifiedBy>
  <cp:revision>114</cp:revision>
  <dcterms:created xsi:type="dcterms:W3CDTF">2025-01-15T15:38:47Z</dcterms:created>
  <dcterms:modified xsi:type="dcterms:W3CDTF">2025-11-14T03:58:49Z</dcterms:modified>
</cp:coreProperties>
</file>